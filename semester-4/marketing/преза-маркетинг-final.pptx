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Shape 28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9" name="Shape 28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7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8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9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0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1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2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3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4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5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6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7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0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Shape 1"/>
          <p:cNvSpPr/>
          <p:nvPr/>
        </p:nvSpPr>
        <p:spPr>
          <a:xfrm>
            <a:off x="0" y="0"/>
            <a:ext cx="24384001" cy="1371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81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398690" y="12915900"/>
            <a:ext cx="2871009" cy="685800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Slide Number"/>
          <p:cNvSpPr txBox="1"/>
          <p:nvPr>
            <p:ph type="sldNum" sz="quarter" idx="2"/>
          </p:nvPr>
        </p:nvSpPr>
        <p:spPr>
          <a:xfrm>
            <a:off x="11785600" y="12344399"/>
            <a:ext cx="5689601" cy="736601"/>
          </a:xfrm>
          <a:prstGeom prst="rect">
            <a:avLst/>
          </a:prstGeom>
        </p:spPr>
        <p:txBody>
          <a:bodyPr lIns="76200" tIns="76200" rIns="76200" bIns="76200" anchor="ctr"/>
          <a:lstStyle>
            <a:lvl1pPr algn="r" defTabSz="1524000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Relationship Id="rId4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Relationship Id="rId4" Type="http://schemas.openxmlformats.org/officeDocument/2006/relationships/image" Target="../media/image2.tif"/><Relationship Id="rId5" Type="http://schemas.openxmlformats.org/officeDocument/2006/relationships/image" Target="../media/image11.png"/><Relationship Id="rId6" Type="http://schemas.openxmlformats.org/officeDocument/2006/relationships/image" Target="../media/image2.jpeg"/><Relationship Id="rId7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tif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3.tif"/><Relationship Id="rId9" Type="http://schemas.openxmlformats.org/officeDocument/2006/relationships/image" Target="../media/image1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.tif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.jpeg"/><Relationship Id="rId4" Type="http://schemas.openxmlformats.org/officeDocument/2006/relationships/image" Target="../media/image27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4.tif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5.jpeg"/><Relationship Id="rId4" Type="http://schemas.openxmlformats.org/officeDocument/2006/relationships/image" Target="../media/image28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.jpeg"/><Relationship Id="rId4" Type="http://schemas.openxmlformats.org/officeDocument/2006/relationships/image" Target="../media/image34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6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8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1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2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3.png"/><Relationship Id="rId4" Type="http://schemas.openxmlformats.org/officeDocument/2006/relationships/image" Target="../media/image15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Новицкий Е. Ю, Климова А.А., Бурш А.П., Ковалевский Я.Н."/>
          <p:cNvSpPr txBox="1"/>
          <p:nvPr>
            <p:ph type="body" idx="21"/>
          </p:nvPr>
        </p:nvSpPr>
        <p:spPr>
          <a:xfrm>
            <a:off x="1203920" y="11181946"/>
            <a:ext cx="21971002" cy="6369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Новицкий Е. Ю, Климова А.А., Бурш А.П., Ковалевский Я.Н.</a:t>
            </a:r>
          </a:p>
        </p:txBody>
      </p:sp>
      <p:sp>
        <p:nvSpPr>
          <p:cNvPr id="292" name="«Белинвестбанк»"/>
          <p:cNvSpPr txBox="1"/>
          <p:nvPr>
            <p:ph type="ctrTitle"/>
          </p:nvPr>
        </p:nvSpPr>
        <p:spPr>
          <a:xfrm>
            <a:off x="1209076" y="1897075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«Белинвестбанк»</a:t>
            </a:r>
          </a:p>
        </p:txBody>
      </p:sp>
      <p:sp>
        <p:nvSpPr>
          <p:cNvPr id="293" name="Белорусский банк развития и реконструкции «Белинвестбанк»"/>
          <p:cNvSpPr txBox="1"/>
          <p:nvPr>
            <p:ph type="subTitle" sz="quarter" idx="1"/>
          </p:nvPr>
        </p:nvSpPr>
        <p:spPr>
          <a:xfrm>
            <a:off x="1209079" y="7535371"/>
            <a:ext cx="21971001" cy="1905001"/>
          </a:xfrm>
          <a:prstGeom prst="rect">
            <a:avLst/>
          </a:prstGeom>
        </p:spPr>
        <p:txBody>
          <a:bodyPr/>
          <a:lstStyle/>
          <a:p>
            <a:pPr/>
            <a:r>
              <a:t>Белорусский банк развития и реконструкции «Белинвестбанк»</a:t>
            </a:r>
          </a:p>
        </p:txBody>
      </p:sp>
      <p:pic>
        <p:nvPicPr>
          <p:cNvPr id="29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О компании"/>
          <p:cNvSpPr txBox="1"/>
          <p:nvPr>
            <p:ph type="ctrTitle"/>
          </p:nvPr>
        </p:nvSpPr>
        <p:spPr>
          <a:xfrm>
            <a:off x="673098" y="884051"/>
            <a:ext cx="21971004" cy="2105225"/>
          </a:xfrm>
          <a:prstGeom prst="rect">
            <a:avLst/>
          </a:prstGeom>
        </p:spPr>
        <p:txBody>
          <a:bodyPr/>
          <a:lstStyle/>
          <a:p>
            <a:pPr/>
            <a:r>
              <a:t>О компании</a:t>
            </a:r>
          </a:p>
        </p:txBody>
      </p:sp>
      <p:pic>
        <p:nvPicPr>
          <p:cNvPr id="29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298" name="ОАО «Белинвестбанк»…"/>
          <p:cNvSpPr txBox="1"/>
          <p:nvPr/>
        </p:nvSpPr>
        <p:spPr>
          <a:xfrm>
            <a:off x="876249" y="3703873"/>
            <a:ext cx="22972919" cy="8890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/>
            </a:pPr>
            <a:r>
              <a:t>ОАО «Белинвестбанк»</a:t>
            </a:r>
          </a:p>
          <a:p>
            <a:pPr marL="1092200" indent="-952500">
              <a:buClr>
                <a:srgbClr val="F9FAFB"/>
              </a:buClr>
              <a:buSzPct val="123000"/>
              <a:buFont typeface="Helvetica Neue"/>
              <a:buChar char="•"/>
            </a:pPr>
            <a:r>
              <a:rPr b="1"/>
              <a:t>Год основания</a:t>
            </a:r>
            <a:r>
              <a:t>: 2001 (слияние Белбизнесбанка и Белорусского банка развития)</a:t>
            </a:r>
          </a:p>
          <a:p>
            <a:pPr marL="1092200" indent="-952500">
              <a:buClr>
                <a:srgbClr val="F9FAFB"/>
              </a:buClr>
              <a:buSzPct val="123000"/>
              <a:buFont typeface="Helvetica Neue"/>
              <a:buChar char="•"/>
            </a:pPr>
            <a:r>
              <a:rPr b="1"/>
              <a:t>Тип</a:t>
            </a:r>
            <a:r>
              <a:t>: открытое акционерное общество, 99,3% акций – у государства</a:t>
            </a:r>
          </a:p>
          <a:p>
            <a:pPr marL="1092200" indent="-952500">
              <a:buClr>
                <a:srgbClr val="F9FAFB"/>
              </a:buClr>
              <a:buSzPct val="123000"/>
              <a:buFont typeface="Helvetica Neue"/>
              <a:buChar char="•"/>
            </a:pPr>
            <a:r>
              <a:rPr b="1"/>
              <a:t>Лицензия</a:t>
            </a:r>
            <a:r>
              <a:t> Нацбанка РБ №3 от 26.02.2024</a:t>
            </a:r>
          </a:p>
          <a:p>
            <a:pPr marL="1092200" indent="-952500">
              <a:buClr>
                <a:srgbClr val="F9FAFB"/>
              </a:buClr>
              <a:buSzPct val="123000"/>
              <a:buFont typeface="Helvetica Neue"/>
              <a:buChar char="•"/>
            </a:pPr>
            <a:r>
              <a:rPr b="1"/>
              <a:t>Активы</a:t>
            </a:r>
            <a:r>
              <a:t>: 4,53 млрд BYN (01.10.2022)</a:t>
            </a:r>
          </a:p>
          <a:p>
            <a:pPr marL="1092200" indent="-952500">
              <a:buClr>
                <a:srgbClr val="F9FAFB"/>
              </a:buClr>
              <a:buSzPct val="123000"/>
              <a:buFont typeface="Helvetica Neue"/>
              <a:buChar char="•"/>
            </a:pPr>
            <a:r>
              <a:rPr b="1"/>
              <a:t>Чистая прибыль</a:t>
            </a:r>
            <a:r>
              <a:t>: 140,4 млн BYN (01.10.2022)</a:t>
            </a:r>
          </a:p>
          <a:p>
            <a:pPr marL="1092200" indent="-952500">
              <a:buClr>
                <a:srgbClr val="F9FAFB"/>
              </a:buClr>
              <a:buSzPct val="123000"/>
              <a:buFont typeface="Helvetica Neue"/>
              <a:buChar char="•"/>
            </a:pPr>
            <a:r>
              <a:rPr b="1"/>
              <a:t>Позиционирование</a:t>
            </a:r>
            <a:r>
              <a:t>: «первый экологичный банк» Беларуси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01" name="Представление команды"/>
          <p:cNvSpPr txBox="1"/>
          <p:nvPr>
            <p:ph type="ctrTitle"/>
          </p:nvPr>
        </p:nvSpPr>
        <p:spPr>
          <a:xfrm>
            <a:off x="858743" y="569161"/>
            <a:ext cx="21971001" cy="1433164"/>
          </a:xfrm>
          <a:prstGeom prst="rect">
            <a:avLst/>
          </a:prstGeom>
        </p:spPr>
        <p:txBody>
          <a:bodyPr anchor="t"/>
          <a:lstStyle>
            <a:lvl1pPr>
              <a:defRPr spc="-170" sz="8500"/>
            </a:lvl1pPr>
          </a:lstStyle>
          <a:p>
            <a:pPr/>
            <a:r>
              <a:t>Представление команды</a:t>
            </a:r>
          </a:p>
        </p:txBody>
      </p:sp>
      <p:sp>
        <p:nvSpPr>
          <p:cNvPr id="302" name="Новицкий Егор Юрьевич"/>
          <p:cNvSpPr txBox="1"/>
          <p:nvPr/>
        </p:nvSpPr>
        <p:spPr>
          <a:xfrm>
            <a:off x="403453" y="12280075"/>
            <a:ext cx="4800601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Новицкий Егор Юрьевич</a:t>
            </a:r>
          </a:p>
        </p:txBody>
      </p:sp>
      <p:sp>
        <p:nvSpPr>
          <p:cNvPr id="303" name="Бурш Антон Павлович"/>
          <p:cNvSpPr txBox="1"/>
          <p:nvPr/>
        </p:nvSpPr>
        <p:spPr>
          <a:xfrm>
            <a:off x="5775515" y="12280075"/>
            <a:ext cx="432168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Бурш Антон Павлович</a:t>
            </a:r>
          </a:p>
        </p:txBody>
      </p:sp>
      <p:sp>
        <p:nvSpPr>
          <p:cNvPr id="304" name="Климова Авелина Алексеевна"/>
          <p:cNvSpPr txBox="1"/>
          <p:nvPr/>
        </p:nvSpPr>
        <p:spPr>
          <a:xfrm>
            <a:off x="10668660" y="12280075"/>
            <a:ext cx="586321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Климова Авелина Алексеевна</a:t>
            </a:r>
          </a:p>
        </p:txBody>
      </p:sp>
      <p:sp>
        <p:nvSpPr>
          <p:cNvPr id="305" name="Ковалевский Ярослав Николаевич"/>
          <p:cNvSpPr txBox="1"/>
          <p:nvPr/>
        </p:nvSpPr>
        <p:spPr>
          <a:xfrm>
            <a:off x="17103331" y="12280075"/>
            <a:ext cx="676237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Ковалевский Ярослав Николаевич</a:t>
            </a:r>
          </a:p>
        </p:txBody>
      </p:sp>
      <p:pic>
        <p:nvPicPr>
          <p:cNvPr id="306" name="Image" descr="Imag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289255" y="6261100"/>
            <a:ext cx="4390522" cy="5760895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pic>
        <p:nvPicPr>
          <p:cNvPr id="307" name="Image" descr="Imag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17597" y="6298260"/>
            <a:ext cx="3320936" cy="5686574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pic>
        <p:nvPicPr>
          <p:cNvPr id="308" name="Image" descr="Imag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614" y="6482106"/>
            <a:ext cx="3983647" cy="5218395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pic>
        <p:nvPicPr>
          <p:cNvPr id="309" name="Image" descr="Imag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60917" y="6398828"/>
            <a:ext cx="4108564" cy="5384951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sp>
        <p:nvSpPr>
          <p:cNvPr id="310" name="БГУИР, ФКСиС, кафедра ЭВМ…"/>
          <p:cNvSpPr txBox="1"/>
          <p:nvPr/>
        </p:nvSpPr>
        <p:spPr>
          <a:xfrm>
            <a:off x="904651" y="2657800"/>
            <a:ext cx="13405096" cy="4482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БГУИР, ФКСиС, кафедра ЭВМ</a:t>
            </a:r>
          </a:p>
          <a:p>
            <a:pPr/>
            <a:r>
              <a:t>Вычислительные машины, системы и сети. </a:t>
            </a:r>
          </a:p>
          <a:p>
            <a:pPr/>
            <a:r>
              <a:t>Группа 450502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13" name="План презентации"/>
          <p:cNvSpPr txBox="1"/>
          <p:nvPr>
            <p:ph type="ctrTitle"/>
          </p:nvPr>
        </p:nvSpPr>
        <p:spPr>
          <a:xfrm>
            <a:off x="858743" y="924761"/>
            <a:ext cx="21971001" cy="1433164"/>
          </a:xfrm>
          <a:prstGeom prst="rect">
            <a:avLst/>
          </a:prstGeom>
        </p:spPr>
        <p:txBody>
          <a:bodyPr anchor="t"/>
          <a:lstStyle>
            <a:lvl1pPr>
              <a:defRPr spc="-170" sz="8500"/>
            </a:lvl1pPr>
          </a:lstStyle>
          <a:p>
            <a:pPr/>
            <a:r>
              <a:t>План презентации</a:t>
            </a:r>
          </a:p>
        </p:txBody>
      </p:sp>
      <p:sp>
        <p:nvSpPr>
          <p:cNvPr id="314" name="1. Чем занимается компания…"/>
          <p:cNvSpPr txBox="1"/>
          <p:nvPr/>
        </p:nvSpPr>
        <p:spPr>
          <a:xfrm>
            <a:off x="1018382" y="2859912"/>
            <a:ext cx="21651723" cy="9918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1. Чем занимается компания</a:t>
            </a:r>
          </a:p>
          <a:p>
            <a:pPr lvl="1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– Обзор Белинвестбанк: банковские услуги, цифровая экосистема, поддержка предпринимателей.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2. Описание проекта (основная идея)</a:t>
            </a:r>
          </a:p>
          <a:p>
            <a:pPr lvl="1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– Как банк объединяет классические и современные цифровые сервисы для удобства клиентов.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3. Проблема</a:t>
            </a:r>
          </a:p>
          <a:p>
            <a:pPr lvl="1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– Основные трудности клиентов и предпринимателей в связи информационной системой банка.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4. Решение</a:t>
            </a:r>
          </a:p>
          <a:p>
            <a:pPr lvl="1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– Как банк решает эти проблемы через мобильный банкинг и поддержку малого бизнеса.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</a:p>
          <a:p>
            <a:pPr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5. Гипотеза ценности</a:t>
            </a:r>
          </a:p>
          <a:p>
            <a:pPr lvl="1" defTabSz="825500">
              <a:lnSpc>
                <a:spcPct val="100000"/>
              </a:lnSpc>
              <a:spcBef>
                <a:spcPts val="0"/>
              </a:spcBef>
              <a:defRPr b="1" sz="3500"/>
            </a:pPr>
            <a:r>
              <a:t>–Почему клиенты и предприниматели оценят такое решение, и почему оно будет востребовано.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17" name="Чем занимается компания?"/>
          <p:cNvSpPr txBox="1"/>
          <p:nvPr>
            <p:ph type="ctrTitle"/>
          </p:nvPr>
        </p:nvSpPr>
        <p:spPr>
          <a:xfrm>
            <a:off x="706343" y="696161"/>
            <a:ext cx="21971001" cy="1433164"/>
          </a:xfrm>
          <a:prstGeom prst="rect">
            <a:avLst/>
          </a:prstGeom>
        </p:spPr>
        <p:txBody>
          <a:bodyPr anchor="t"/>
          <a:lstStyle>
            <a:lvl1pPr>
              <a:defRPr spc="-170" sz="8500"/>
            </a:lvl1pPr>
          </a:lstStyle>
          <a:p>
            <a:pPr/>
            <a:r>
              <a:t>Чем занимается компания?</a:t>
            </a:r>
          </a:p>
        </p:txBody>
      </p:sp>
      <p:sp>
        <p:nvSpPr>
          <p:cNvPr id="318" name="ОАО «Белинвестбанк» сегодня позиционирует себя не просто как финансовая организация, а как «Первый ЭкоЛогичный банк». Это значит, что их деятельность строится на принципах устойчивого развития (ESG) и создании цифровой экосистемы."/>
          <p:cNvSpPr txBox="1"/>
          <p:nvPr/>
        </p:nvSpPr>
        <p:spPr>
          <a:xfrm>
            <a:off x="356679" y="4661661"/>
            <a:ext cx="11428834" cy="439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0"/>
              </a:lnSpc>
              <a:spcBef>
                <a:spcPts val="4400"/>
              </a:spcBef>
              <a:defRPr sz="4000"/>
            </a:pPr>
            <a:r>
              <a:rPr b="1"/>
              <a:t>ОАО «Белинвестбанк»</a:t>
            </a:r>
            <a:r>
              <a:t> сегодня позиционирует себя не просто как финансовая организация, а как </a:t>
            </a:r>
            <a:r>
              <a:rPr b="1"/>
              <a:t>«Первый ЭкоЛогичный банк»</a:t>
            </a:r>
            <a:r>
              <a:t>. Это значит, что их деятельность строится на принципах устойчивого развития (ESG) и создании цифровой экосистемы.</a:t>
            </a:r>
          </a:p>
        </p:txBody>
      </p:sp>
      <p:sp>
        <p:nvSpPr>
          <p:cNvPr id="319" name="Розничный бизнес: Услуги для частных лиц.…"/>
          <p:cNvSpPr txBox="1"/>
          <p:nvPr/>
        </p:nvSpPr>
        <p:spPr>
          <a:xfrm>
            <a:off x="11607800" y="4636517"/>
            <a:ext cx="12220873" cy="4442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740833" indent="-740833" defTabSz="12700">
              <a:lnSpc>
                <a:spcPct val="100000"/>
              </a:lnSpc>
              <a:spcBef>
                <a:spcPts val="0"/>
              </a:spcBef>
              <a:buSzPct val="100000"/>
              <a:buAutoNum type="arabicPeriod" startAt="1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  <a:r>
              <a:t>Розничный бизнес: Услуги для частных лиц.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  <a:r>
              <a:t>﻿﻿﻿2.  Малый и средний бизнес (МСБ):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  <a:r>
              <a:t>3. Крупный корпоративный бизнес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4000"/>
            </a:pPr>
            <a:r>
              <a:t>4.  Финансовый бизнес</a:t>
            </a:r>
          </a:p>
        </p:txBody>
      </p:sp>
      <p:sp>
        <p:nvSpPr>
          <p:cNvPr id="320" name="Line"/>
          <p:cNvSpPr/>
          <p:nvPr/>
        </p:nvSpPr>
        <p:spPr>
          <a:xfrm flipV="1">
            <a:off x="10972800" y="2305182"/>
            <a:ext cx="0" cy="10271289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23" name="Line"/>
          <p:cNvSpPr/>
          <p:nvPr/>
        </p:nvSpPr>
        <p:spPr>
          <a:xfrm flipV="1">
            <a:off x="12649199" y="2687555"/>
            <a:ext cx="1" cy="1027129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4" name="- Мобильный платежный сервис…"/>
          <p:cNvSpPr txBox="1"/>
          <p:nvPr/>
        </p:nvSpPr>
        <p:spPr>
          <a:xfrm>
            <a:off x="442808" y="2774833"/>
            <a:ext cx="11325012" cy="9283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3900"/>
            </a:pPr>
          </a:p>
          <a:p>
            <a:pPr>
              <a:defRPr sz="3900"/>
            </a:pPr>
            <a:r>
              <a:t>﻿﻿- Мобильный платежный сервис</a:t>
            </a:r>
          </a:p>
          <a:p>
            <a:pPr>
              <a:defRPr sz="3900"/>
            </a:pPr>
            <a:r>
              <a:t>«Оплати™»: Совместный проект с компанией LWO, ставший полноценной экосистемой. Он позволяет оплачивать проезд в транспорте по QR-коду, совершать покупки и переводы без физической карты.</a:t>
            </a:r>
          </a:p>
          <a:p>
            <a:pPr>
              <a:defRPr sz="3900"/>
            </a:pPr>
            <a:r>
              <a:t>﻿﻿- Зеленое финансирование: Банк активно инвестирует в экологические проекты, такие как строительство ветропарков, фотоэлектрических станций и внедрение технологий переработки отходов.</a:t>
            </a:r>
          </a:p>
          <a:p>
            <a:pPr>
              <a:defRPr sz="3900"/>
            </a:pPr>
            <a:r>
              <a:t>﻿﻿</a:t>
            </a:r>
          </a:p>
        </p:txBody>
      </p:sp>
      <p:sp>
        <p:nvSpPr>
          <p:cNvPr id="325" name="- Цифровой офис для бизнеса:…"/>
          <p:cNvSpPr txBox="1"/>
          <p:nvPr/>
        </p:nvSpPr>
        <p:spPr>
          <a:xfrm>
            <a:off x="13530578" y="3392263"/>
            <a:ext cx="10631747" cy="804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4100"/>
            </a:pPr>
            <a:r>
              <a:t>- Цифровой офис для бизнеса:</a:t>
            </a:r>
          </a:p>
          <a:p>
            <a:pPr>
              <a:defRPr sz="4100"/>
            </a:pPr>
            <a:r>
              <a:t>Платформа, включающая проверку</a:t>
            </a:r>
          </a:p>
          <a:p>
            <a:pPr>
              <a:defRPr sz="4100"/>
            </a:pPr>
            <a:r>
              <a:t>контрагентов («ВІВ Контрагент»),</a:t>
            </a:r>
          </a:p>
          <a:p>
            <a:pPr>
              <a:defRPr sz="4100"/>
            </a:pPr>
            <a:r>
              <a:t>автоматизацию валютного контроля и онлайн-сервисы.</a:t>
            </a:r>
          </a:p>
          <a:p>
            <a:pPr>
              <a:defRPr sz="4100"/>
            </a:pPr>
            <a:r>
              <a:t>﻿﻿- ESG-стратегия: Белинвестбанк имеет высокий ESG-рейтинг (уровня At.esg), что подтверждает его приверженность ответственным инвестициям и социальной ответственности</a:t>
            </a:r>
          </a:p>
        </p:txBody>
      </p:sp>
      <p:sp>
        <p:nvSpPr>
          <p:cNvPr id="326" name="Знаковые проекты и инициативы"/>
          <p:cNvSpPr txBox="1"/>
          <p:nvPr/>
        </p:nvSpPr>
        <p:spPr>
          <a:xfrm>
            <a:off x="751268" y="952149"/>
            <a:ext cx="17440276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Знаковые проекты и инициативы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29" name="Описание проекта (основная идея)"/>
          <p:cNvSpPr txBox="1"/>
          <p:nvPr/>
        </p:nvSpPr>
        <p:spPr>
          <a:xfrm>
            <a:off x="700468" y="596549"/>
            <a:ext cx="18230470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Описание проекта (основная идея)</a:t>
            </a:r>
          </a:p>
        </p:txBody>
      </p:sp>
      <p:sp>
        <p:nvSpPr>
          <p:cNvPr id="330" name="Создание и внедрение в мобильное приложение банка персонализированного финансового помощника на базе ИИ для молодежи (студентов), который помогает автоматически копить на цели и управлять бюджетом, интегрируясь с программой лояльности банка."/>
          <p:cNvSpPr txBox="1"/>
          <p:nvPr/>
        </p:nvSpPr>
        <p:spPr>
          <a:xfrm>
            <a:off x="1111260" y="4937688"/>
            <a:ext cx="11589360" cy="5415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Создание и внедрение в </a:t>
            </a:r>
            <a:r>
              <a:rPr b="1"/>
              <a:t>мобильное</a:t>
            </a:r>
            <a:r>
              <a:t> </a:t>
            </a:r>
            <a:r>
              <a:rPr b="1"/>
              <a:t>приложение</a:t>
            </a:r>
            <a:r>
              <a:t> банка персонализированного финансового помощника на базе </a:t>
            </a:r>
            <a:r>
              <a:rPr b="1"/>
              <a:t>ИИ</a:t>
            </a:r>
            <a:r>
              <a:t> для молодежи (студентов), который помогает автоматически копить на цели и управлять бюджетом, интегрируясь с программой лояльности банка.</a:t>
            </a:r>
          </a:p>
        </p:txBody>
      </p:sp>
      <p:pic>
        <p:nvPicPr>
          <p:cNvPr id="331" name="telegram-cloud-photo-size-2-5244505993473889117-w.jpg" descr="telegram-cloud-photo-size-2-5244505993473889117-w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460419" y="2398231"/>
            <a:ext cx="4846524" cy="10494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34" name="Проблема"/>
          <p:cNvSpPr txBox="1"/>
          <p:nvPr/>
        </p:nvSpPr>
        <p:spPr>
          <a:xfrm>
            <a:off x="700468" y="596549"/>
            <a:ext cx="5388738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Проблема</a:t>
            </a:r>
          </a:p>
        </p:txBody>
      </p:sp>
      <p:sp>
        <p:nvSpPr>
          <p:cNvPr id="335" name="Мобильное приложение Белинвестбанка на данный момент не отличается удобством и интуитивностью для пользователей. Основные трудности:"/>
          <p:cNvSpPr txBox="1"/>
          <p:nvPr/>
        </p:nvSpPr>
        <p:spPr>
          <a:xfrm>
            <a:off x="628491" y="2648813"/>
            <a:ext cx="14521391" cy="2779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Мобильное приложение </a:t>
            </a:r>
            <a:r>
              <a:rPr b="1"/>
              <a:t>Белинвестбанка</a:t>
            </a:r>
            <a:r>
              <a:t> на данный момент не отличается удобством и интуитивностью для пользователей. Основные трудности:</a:t>
            </a:r>
          </a:p>
        </p:txBody>
      </p:sp>
      <p:sp>
        <p:nvSpPr>
          <p:cNvPr id="336" name="Сложная навигация…"/>
          <p:cNvSpPr txBox="1"/>
          <p:nvPr/>
        </p:nvSpPr>
        <p:spPr>
          <a:xfrm>
            <a:off x="519382" y="6963450"/>
            <a:ext cx="17627629" cy="456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>
              <a:buSzPct val="100000"/>
              <a:buChar char="•"/>
            </a:pPr>
            <a:r>
              <a:t> Сложная навигация</a:t>
            </a:r>
          </a:p>
          <a:p>
            <a:pPr/>
            <a:r>
              <a:t>История платежей спрятана в глубине меню, пользователю приходится переходить через несколько вкладок, чтобы найти нужную информацию.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39" name="Многоступенчатые операции…"/>
          <p:cNvSpPr txBox="1"/>
          <p:nvPr/>
        </p:nvSpPr>
        <p:spPr>
          <a:xfrm>
            <a:off x="550412" y="737463"/>
            <a:ext cx="15905400" cy="3351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  <a:defRPr b="1"/>
            </a:pPr>
            <a:r>
              <a:t>Многоступенчатые операции</a:t>
            </a:r>
          </a:p>
          <a:p>
            <a:pPr/>
            <a:r>
              <a:t>Для перевода средств клиенту приходится пройти 5–7 вкладок, что занимает лишнее время и вызывает раздражение.</a:t>
            </a:r>
          </a:p>
        </p:txBody>
      </p:sp>
      <p:sp>
        <p:nvSpPr>
          <p:cNvPr id="340" name="Отток клиентов…"/>
          <p:cNvSpPr txBox="1"/>
          <p:nvPr/>
        </p:nvSpPr>
        <p:spPr>
          <a:xfrm>
            <a:off x="3375202" y="5284063"/>
            <a:ext cx="15905399" cy="3351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  <a:defRPr b="1"/>
            </a:pPr>
            <a:r>
              <a:t>Отток клиентов</a:t>
            </a:r>
          </a:p>
          <a:p>
            <a:pPr/>
            <a:r>
              <a:t>Из-за неудобства пользователи начинают переходить в более простые и удобные приложения других банков.</a:t>
            </a:r>
          </a:p>
        </p:txBody>
      </p:sp>
      <p:sp>
        <p:nvSpPr>
          <p:cNvPr id="341" name="Низкий пользовательский опыт (UX)…"/>
          <p:cNvSpPr txBox="1"/>
          <p:nvPr/>
        </p:nvSpPr>
        <p:spPr>
          <a:xfrm>
            <a:off x="8894461" y="9830663"/>
            <a:ext cx="15241959" cy="2697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•"/>
              <a:defRPr b="1"/>
            </a:pPr>
            <a:r>
              <a:t>Низкий пользовательский опыт (UX)</a:t>
            </a:r>
          </a:p>
          <a:p>
            <a:pPr/>
            <a:r>
              <a:t>Интерфейс не соответствует современным стандартам мобильных приложений.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44" name="Решение"/>
          <p:cNvSpPr txBox="1"/>
          <p:nvPr/>
        </p:nvSpPr>
        <p:spPr>
          <a:xfrm>
            <a:off x="700468" y="596549"/>
            <a:ext cx="4714050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Решение</a:t>
            </a:r>
          </a:p>
        </p:txBody>
      </p:sp>
      <p:sp>
        <p:nvSpPr>
          <p:cNvPr id="345" name="Решение с использованием ИИ-агента"/>
          <p:cNvSpPr txBox="1"/>
          <p:nvPr/>
        </p:nvSpPr>
        <p:spPr>
          <a:xfrm>
            <a:off x="694211" y="2804130"/>
            <a:ext cx="13598145" cy="944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Решение с использованием ИИ-агента</a:t>
            </a:r>
          </a:p>
        </p:txBody>
      </p:sp>
      <p:sp>
        <p:nvSpPr>
          <p:cNvPr id="346" name="Основная идея:…"/>
          <p:cNvSpPr txBox="1"/>
          <p:nvPr/>
        </p:nvSpPr>
        <p:spPr>
          <a:xfrm>
            <a:off x="602440" y="5088046"/>
            <a:ext cx="15290547" cy="46575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/>
            </a:pPr>
            <a:r>
              <a:t>Основная идея:</a:t>
            </a:r>
          </a:p>
          <a:p>
            <a:pPr/>
            <a:r>
              <a:t>Внедрение интеллектуального ИИ-агента в мобильное приложение БелИнвестБанка, который помогает пользователям быстро ориентироваться в приложении, ускоряет переводы и даёт персонализированные подсказки.</a:t>
            </a:r>
          </a:p>
        </p:txBody>
      </p:sp>
      <p:pic>
        <p:nvPicPr>
          <p:cNvPr id="347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051618" y="13411"/>
            <a:ext cx="3255864" cy="3255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618200" y="5177565"/>
            <a:ext cx="4117100" cy="4117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030392" y="8902157"/>
            <a:ext cx="4657408" cy="465740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52" name="Как ИИ-агент решает проблему:"/>
          <p:cNvSpPr txBox="1"/>
          <p:nvPr/>
        </p:nvSpPr>
        <p:spPr>
          <a:xfrm>
            <a:off x="700468" y="596549"/>
            <a:ext cx="16836835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Как ИИ-агент решает проблему:</a:t>
            </a:r>
          </a:p>
        </p:txBody>
      </p:sp>
      <p:sp>
        <p:nvSpPr>
          <p:cNvPr id="353" name="1. Упрощение навигации…"/>
          <p:cNvSpPr txBox="1"/>
          <p:nvPr/>
        </p:nvSpPr>
        <p:spPr>
          <a:xfrm>
            <a:off x="769773" y="3925683"/>
            <a:ext cx="11737341" cy="8447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lnSpc>
                <a:spcPct val="220000"/>
              </a:lnSpc>
              <a:spcBef>
                <a:spcPts val="0"/>
              </a:spcBef>
              <a:defRPr b="1" sz="5500"/>
            </a:pPr>
            <a:r>
              <a:t>1. Упрощение навигации</a:t>
            </a:r>
          </a:p>
          <a:p>
            <a:pPr defTabSz="825500">
              <a:lnSpc>
                <a:spcPct val="220000"/>
              </a:lnSpc>
              <a:spcBef>
                <a:spcPts val="0"/>
              </a:spcBef>
              <a:defRPr b="1" sz="5500"/>
            </a:pPr>
            <a:r>
              <a:t>2. Быстрые переводы и платежи</a:t>
            </a:r>
            <a:br/>
            <a:r>
              <a:t>3. Персонализированная помощь</a:t>
            </a:r>
            <a:br/>
            <a:r>
              <a:t>4. Обучение пользователей</a:t>
            </a:r>
            <a:br/>
            <a:r>
              <a:t>5. Аналитика и улучшения</a:t>
            </a:r>
          </a:p>
        </p:txBody>
      </p:sp>
      <p:grpSp>
        <p:nvGrpSpPr>
          <p:cNvPr id="356" name="Image"/>
          <p:cNvGrpSpPr/>
          <p:nvPr/>
        </p:nvGrpSpPr>
        <p:grpSpPr>
          <a:xfrm>
            <a:off x="19420312" y="3439786"/>
            <a:ext cx="4806438" cy="10446730"/>
            <a:chOff x="0" y="0"/>
            <a:chExt cx="4806437" cy="10446729"/>
          </a:xfrm>
        </p:grpSpPr>
        <p:pic>
          <p:nvPicPr>
            <p:cNvPr id="355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27000" y="88900"/>
              <a:ext cx="4552438" cy="1011653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54" name="Image" descr="Image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0"/>
              <a:ext cx="4806438" cy="10446730"/>
            </a:xfrm>
            <a:prstGeom prst="rect">
              <a:avLst/>
            </a:prstGeom>
            <a:effectLst/>
          </p:spPr>
        </p:pic>
      </p:grpSp>
      <p:grpSp>
        <p:nvGrpSpPr>
          <p:cNvPr id="359" name="telegram-cloud-photo-size-2-5247081225799799793-x.jpg"/>
          <p:cNvGrpSpPr/>
          <p:nvPr/>
        </p:nvGrpSpPr>
        <p:grpSpPr>
          <a:xfrm>
            <a:off x="12268200" y="8839200"/>
            <a:ext cx="6695740" cy="4618858"/>
            <a:chOff x="0" y="0"/>
            <a:chExt cx="6695739" cy="4618857"/>
          </a:xfrm>
        </p:grpSpPr>
        <p:pic>
          <p:nvPicPr>
            <p:cNvPr id="358" name="telegram-cloud-photo-size-2-5247081225799799793-x.jpg" descr="telegram-cloud-photo-size-2-5247081225799799793-x.jp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7000" y="88900"/>
              <a:ext cx="6441740" cy="4288658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57" name="telegram-cloud-photo-size-2-5247081225799799793-x.jpg" descr="telegram-cloud-photo-size-2-5247081225799799793-x.jp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6695740" cy="4618858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62" name="Гипотеза ценности"/>
          <p:cNvSpPr txBox="1"/>
          <p:nvPr/>
        </p:nvSpPr>
        <p:spPr>
          <a:xfrm>
            <a:off x="700468" y="596549"/>
            <a:ext cx="9989567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Гипотеза ценности</a:t>
            </a:r>
          </a:p>
        </p:txBody>
      </p:sp>
      <p:sp>
        <p:nvSpPr>
          <p:cNvPr id="363" name="Мы считаем, что внедрение ИИ-агента в мобильное приложение Белинвестбанка будет востребовано по следующим причинам:"/>
          <p:cNvSpPr txBox="1"/>
          <p:nvPr/>
        </p:nvSpPr>
        <p:spPr>
          <a:xfrm>
            <a:off x="624079" y="2690759"/>
            <a:ext cx="13096617" cy="2791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Мы считаем, что внедрение </a:t>
            </a:r>
            <a:r>
              <a:rPr b="1"/>
              <a:t>ИИ-агента</a:t>
            </a:r>
            <a:r>
              <a:t> в мобильное приложение </a:t>
            </a:r>
            <a:r>
              <a:rPr b="1"/>
              <a:t>Белинвестбанка</a:t>
            </a:r>
            <a:r>
              <a:t> будет востребовано по следующим причинам:</a:t>
            </a:r>
          </a:p>
        </p:txBody>
      </p:sp>
      <p:sp>
        <p:nvSpPr>
          <p:cNvPr id="364" name="Гипотеза ценности…"/>
          <p:cNvSpPr txBox="1"/>
          <p:nvPr/>
        </p:nvSpPr>
        <p:spPr>
          <a:xfrm>
            <a:off x="2781452" y="6945004"/>
            <a:ext cx="17601896" cy="571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/>
            </a:pPr>
            <a:r>
              <a:t>Гипотеза ценности</a:t>
            </a:r>
          </a:p>
          <a:p>
            <a:pPr/>
            <a:r>
              <a:t>1. Повышение удобства для пользователей</a:t>
            </a:r>
          </a:p>
          <a:p>
            <a:pPr/>
            <a:r>
              <a:t>2. Снижение оттока клиентов</a:t>
            </a:r>
          </a:p>
          <a:p>
            <a:pPr/>
            <a:r>
              <a:t>3. Поддержка предпринимателей и активных пользователей</a:t>
            </a:r>
          </a:p>
          <a:p>
            <a:pPr/>
            <a:r>
              <a:t>4. Долгосрочная экономическая выгода для банка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 0"/>
          <p:cNvSpPr txBox="1"/>
          <p:nvPr/>
        </p:nvSpPr>
        <p:spPr>
          <a:xfrm>
            <a:off x="1320602" y="1038820"/>
            <a:ext cx="12932172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 компании БелинвестБанк</a:t>
            </a:r>
          </a:p>
        </p:txBody>
      </p:sp>
      <p:sp>
        <p:nvSpPr>
          <p:cNvPr id="367" name="Shape 1"/>
          <p:cNvSpPr/>
          <p:nvPr/>
        </p:nvSpPr>
        <p:spPr>
          <a:xfrm>
            <a:off x="1320601" y="3561556"/>
            <a:ext cx="699651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68" name="Text 2"/>
          <p:cNvSpPr txBox="1"/>
          <p:nvPr/>
        </p:nvSpPr>
        <p:spPr>
          <a:xfrm>
            <a:off x="1320601" y="3851671"/>
            <a:ext cx="3433665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Год основания</a:t>
            </a:r>
          </a:p>
        </p:txBody>
      </p:sp>
      <p:sp>
        <p:nvSpPr>
          <p:cNvPr id="369" name="Text 3"/>
          <p:cNvSpPr txBox="1"/>
          <p:nvPr/>
        </p:nvSpPr>
        <p:spPr>
          <a:xfrm>
            <a:off x="1320601" y="4667051"/>
            <a:ext cx="6996511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2001 (слияние Белбизнесбанка и Белорусского банка развития)</a:t>
            </a:r>
          </a:p>
        </p:txBody>
      </p:sp>
      <p:sp>
        <p:nvSpPr>
          <p:cNvPr id="370" name="Shape 4"/>
          <p:cNvSpPr/>
          <p:nvPr/>
        </p:nvSpPr>
        <p:spPr>
          <a:xfrm>
            <a:off x="8693745" y="3561556"/>
            <a:ext cx="699651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1" name="Text 5"/>
          <p:cNvSpPr txBox="1"/>
          <p:nvPr/>
        </p:nvSpPr>
        <p:spPr>
          <a:xfrm>
            <a:off x="8693745" y="3851671"/>
            <a:ext cx="850975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Тип</a:t>
            </a:r>
          </a:p>
        </p:txBody>
      </p:sp>
      <p:sp>
        <p:nvSpPr>
          <p:cNvPr id="372" name="Text 6"/>
          <p:cNvSpPr txBox="1"/>
          <p:nvPr/>
        </p:nvSpPr>
        <p:spPr>
          <a:xfrm>
            <a:off x="8693745" y="4667051"/>
            <a:ext cx="5553497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ОАО, 99,3% акций у государства</a:t>
            </a:r>
          </a:p>
        </p:txBody>
      </p:sp>
      <p:sp>
        <p:nvSpPr>
          <p:cNvPr id="373" name="Shape 7"/>
          <p:cNvSpPr/>
          <p:nvPr/>
        </p:nvSpPr>
        <p:spPr>
          <a:xfrm>
            <a:off x="16066889" y="3561556"/>
            <a:ext cx="699651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4" name="Text 8"/>
          <p:cNvSpPr txBox="1"/>
          <p:nvPr/>
        </p:nvSpPr>
        <p:spPr>
          <a:xfrm>
            <a:off x="16066889" y="3851671"/>
            <a:ext cx="2221459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Лицензия</a:t>
            </a:r>
          </a:p>
        </p:txBody>
      </p:sp>
      <p:sp>
        <p:nvSpPr>
          <p:cNvPr id="375" name="Text 9"/>
          <p:cNvSpPr txBox="1"/>
          <p:nvPr/>
        </p:nvSpPr>
        <p:spPr>
          <a:xfrm>
            <a:off x="16066889" y="4667051"/>
            <a:ext cx="5197376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Нацбанка РБ №3 от 26.02.2024</a:t>
            </a:r>
          </a:p>
        </p:txBody>
      </p:sp>
      <p:sp>
        <p:nvSpPr>
          <p:cNvPr id="376" name="Shape 10"/>
          <p:cNvSpPr/>
          <p:nvPr/>
        </p:nvSpPr>
        <p:spPr>
          <a:xfrm>
            <a:off x="1320601" y="7123510"/>
            <a:ext cx="699651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7" name="Text 11"/>
          <p:cNvSpPr txBox="1"/>
          <p:nvPr/>
        </p:nvSpPr>
        <p:spPr>
          <a:xfrm>
            <a:off x="1320601" y="7413625"/>
            <a:ext cx="1770064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Активы</a:t>
            </a:r>
          </a:p>
        </p:txBody>
      </p:sp>
      <p:sp>
        <p:nvSpPr>
          <p:cNvPr id="378" name="Text 12"/>
          <p:cNvSpPr txBox="1"/>
          <p:nvPr/>
        </p:nvSpPr>
        <p:spPr>
          <a:xfrm>
            <a:off x="1320601" y="8229004"/>
            <a:ext cx="5433865" cy="555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5,072 млрд BYN (сентябрь 2024)</a:t>
            </a:r>
          </a:p>
        </p:txBody>
      </p:sp>
      <p:sp>
        <p:nvSpPr>
          <p:cNvPr id="379" name="Shape 13"/>
          <p:cNvSpPr/>
          <p:nvPr/>
        </p:nvSpPr>
        <p:spPr>
          <a:xfrm>
            <a:off x="8693745" y="7123510"/>
            <a:ext cx="699651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Text 14"/>
          <p:cNvSpPr txBox="1"/>
          <p:nvPr/>
        </p:nvSpPr>
        <p:spPr>
          <a:xfrm>
            <a:off x="8693745" y="7413625"/>
            <a:ext cx="4425976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Позиционирование</a:t>
            </a:r>
          </a:p>
        </p:txBody>
      </p:sp>
      <p:sp>
        <p:nvSpPr>
          <p:cNvPr id="381" name="Text 15"/>
          <p:cNvSpPr txBox="1"/>
          <p:nvPr/>
        </p:nvSpPr>
        <p:spPr>
          <a:xfrm>
            <a:off x="8693745" y="8229004"/>
            <a:ext cx="6996511" cy="555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"Первый экологичный банк" Беларуси</a:t>
            </a:r>
          </a:p>
        </p:txBody>
      </p:sp>
      <p:sp>
        <p:nvSpPr>
          <p:cNvPr id="382" name="Shape 16"/>
          <p:cNvSpPr/>
          <p:nvPr/>
        </p:nvSpPr>
        <p:spPr>
          <a:xfrm>
            <a:off x="16066889" y="7123510"/>
            <a:ext cx="699651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3" name="Text 17"/>
          <p:cNvSpPr txBox="1"/>
          <p:nvPr/>
        </p:nvSpPr>
        <p:spPr>
          <a:xfrm>
            <a:off x="16066889" y="7413625"/>
            <a:ext cx="1841277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Рейтинг</a:t>
            </a:r>
          </a:p>
        </p:txBody>
      </p:sp>
      <p:sp>
        <p:nvSpPr>
          <p:cNvPr id="384" name="Text 18"/>
          <p:cNvSpPr txBox="1"/>
          <p:nvPr/>
        </p:nvSpPr>
        <p:spPr>
          <a:xfrm>
            <a:off x="16066889" y="8229004"/>
            <a:ext cx="6996511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4-е место по активам среди банков Беларуси</a:t>
            </a:r>
          </a:p>
        </p:txBody>
      </p:sp>
      <p:sp>
        <p:nvSpPr>
          <p:cNvPr id="385" name="Shape 19"/>
          <p:cNvSpPr/>
          <p:nvPr/>
        </p:nvSpPr>
        <p:spPr>
          <a:xfrm>
            <a:off x="1320601" y="10685463"/>
            <a:ext cx="21742798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Text 20"/>
          <p:cNvSpPr txBox="1"/>
          <p:nvPr/>
        </p:nvSpPr>
        <p:spPr>
          <a:xfrm>
            <a:off x="1320601" y="10975578"/>
            <a:ext cx="1090068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Сеть</a:t>
            </a:r>
          </a:p>
        </p:txBody>
      </p:sp>
      <p:sp>
        <p:nvSpPr>
          <p:cNvPr id="387" name="Text 21"/>
          <p:cNvSpPr txBox="1"/>
          <p:nvPr/>
        </p:nvSpPr>
        <p:spPr>
          <a:xfrm>
            <a:off x="1320601" y="11790958"/>
            <a:ext cx="8520362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84 офиса в 30 городах, 594 банкомата в 31 городе</a:t>
            </a:r>
          </a:p>
        </p:txBody>
      </p:sp>
      <p:sp>
        <p:nvSpPr>
          <p:cNvPr id="388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91" name="Представление команды"/>
          <p:cNvSpPr txBox="1"/>
          <p:nvPr>
            <p:ph type="ctrTitle"/>
          </p:nvPr>
        </p:nvSpPr>
        <p:spPr>
          <a:xfrm>
            <a:off x="858743" y="569161"/>
            <a:ext cx="21971001" cy="1433164"/>
          </a:xfrm>
          <a:prstGeom prst="rect">
            <a:avLst/>
          </a:prstGeom>
        </p:spPr>
        <p:txBody>
          <a:bodyPr anchor="t"/>
          <a:lstStyle>
            <a:lvl1pPr>
              <a:defRPr spc="-170" sz="8500"/>
            </a:lvl1pPr>
          </a:lstStyle>
          <a:p>
            <a:pPr/>
            <a:r>
              <a:t>Представление команды</a:t>
            </a:r>
          </a:p>
        </p:txBody>
      </p:sp>
      <p:sp>
        <p:nvSpPr>
          <p:cNvPr id="392" name="Новицкий Егор Юрьевич"/>
          <p:cNvSpPr txBox="1"/>
          <p:nvPr/>
        </p:nvSpPr>
        <p:spPr>
          <a:xfrm>
            <a:off x="403453" y="12280075"/>
            <a:ext cx="4800601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Новицкий Егор Юрьевич</a:t>
            </a:r>
          </a:p>
        </p:txBody>
      </p:sp>
      <p:sp>
        <p:nvSpPr>
          <p:cNvPr id="393" name="Бурш Антон Павлович"/>
          <p:cNvSpPr txBox="1"/>
          <p:nvPr/>
        </p:nvSpPr>
        <p:spPr>
          <a:xfrm>
            <a:off x="5775515" y="12280075"/>
            <a:ext cx="4321684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Бурш Антон Павлович</a:t>
            </a:r>
          </a:p>
        </p:txBody>
      </p:sp>
      <p:sp>
        <p:nvSpPr>
          <p:cNvPr id="394" name="Климова Авелина Алексеевна"/>
          <p:cNvSpPr txBox="1"/>
          <p:nvPr/>
        </p:nvSpPr>
        <p:spPr>
          <a:xfrm>
            <a:off x="10668660" y="12280075"/>
            <a:ext cx="586321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Климова Авелина Алексеевна</a:t>
            </a:r>
          </a:p>
        </p:txBody>
      </p:sp>
      <p:sp>
        <p:nvSpPr>
          <p:cNvPr id="395" name="Ковалевский Ярослав Николаевич"/>
          <p:cNvSpPr txBox="1"/>
          <p:nvPr/>
        </p:nvSpPr>
        <p:spPr>
          <a:xfrm>
            <a:off x="17103331" y="12280075"/>
            <a:ext cx="676237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Ковалевский Ярослав Николаевич</a:t>
            </a:r>
          </a:p>
        </p:txBody>
      </p:sp>
      <p:pic>
        <p:nvPicPr>
          <p:cNvPr id="396" name="Image" descr="Imag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289255" y="6261100"/>
            <a:ext cx="4390522" cy="5760895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pic>
        <p:nvPicPr>
          <p:cNvPr id="397" name="Image" descr="Imag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117597" y="6298260"/>
            <a:ext cx="3320936" cy="5686574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pic>
        <p:nvPicPr>
          <p:cNvPr id="398" name="Image" descr="Image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49614" y="6482106"/>
            <a:ext cx="3983647" cy="5218395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pic>
        <p:nvPicPr>
          <p:cNvPr id="399" name="Image" descr="Imag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60917" y="6398828"/>
            <a:ext cx="4108564" cy="5384951"/>
          </a:xfrm>
          <a:prstGeom prst="rect">
            <a:avLst/>
          </a:prstGeom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</p:spPr>
      </p:pic>
      <p:sp>
        <p:nvSpPr>
          <p:cNvPr id="400" name="БГУИР, ФКСиС, кафедра ЭВМ…"/>
          <p:cNvSpPr txBox="1"/>
          <p:nvPr/>
        </p:nvSpPr>
        <p:spPr>
          <a:xfrm>
            <a:off x="904651" y="2657800"/>
            <a:ext cx="13405096" cy="4482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БГУИР, ФКСиС, кафедра ЭВМ</a:t>
            </a:r>
          </a:p>
          <a:p>
            <a:pPr/>
            <a:r>
              <a:t>Вычислительные машины, системы и сети. </a:t>
            </a:r>
          </a:p>
          <a:p>
            <a:pPr/>
            <a:r>
              <a:t>Группа 450502</a:t>
            </a:r>
          </a:p>
        </p:txBody>
      </p:sp>
      <p:grpSp>
        <p:nvGrpSpPr>
          <p:cNvPr id="403" name="Image"/>
          <p:cNvGrpSpPr/>
          <p:nvPr/>
        </p:nvGrpSpPr>
        <p:grpSpPr>
          <a:xfrm>
            <a:off x="15225608" y="181608"/>
            <a:ext cx="4925275" cy="4925275"/>
            <a:chOff x="0" y="0"/>
            <a:chExt cx="4925273" cy="4925273"/>
          </a:xfrm>
        </p:grpSpPr>
        <p:pic>
          <p:nvPicPr>
            <p:cNvPr id="402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39700" y="139700"/>
              <a:ext cx="4645874" cy="464587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401" name="Image" descr="Image"/>
            <p:cNvPicPr>
              <a:picLocks noChangeAspect="0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0" y="0"/>
              <a:ext cx="4925274" cy="4925274"/>
            </a:xfrm>
            <a:prstGeom prst="rect">
              <a:avLst/>
            </a:prstGeom>
            <a:effectLst/>
          </p:spPr>
        </p:pic>
      </p:grpSp>
      <p:sp>
        <p:nvSpPr>
          <p:cNvPr id="404" name="Котов Андрей Алексеевич"/>
          <p:cNvSpPr txBox="1"/>
          <p:nvPr/>
        </p:nvSpPr>
        <p:spPr>
          <a:xfrm>
            <a:off x="15527404" y="5403766"/>
            <a:ext cx="5135500" cy="560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000"/>
            </a:lvl1pPr>
          </a:lstStyle>
          <a:p>
            <a:pPr/>
            <a:r>
              <a:t>Котов Андрей Алексеевич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 txBox="1"/>
          <p:nvPr/>
        </p:nvSpPr>
        <p:spPr>
          <a:xfrm>
            <a:off x="1322983" y="1561108"/>
            <a:ext cx="15892253" cy="103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8300"/>
              </a:lnSpc>
              <a:spcBef>
                <a:spcPts val="0"/>
              </a:spcBef>
              <a:defRPr b="1" sz="6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PEST-анализ: Политические факторы</a:t>
            </a:r>
          </a:p>
        </p:txBody>
      </p:sp>
      <p:sp>
        <p:nvSpPr>
          <p:cNvPr id="407" name="Shape 1"/>
          <p:cNvSpPr/>
          <p:nvPr/>
        </p:nvSpPr>
        <p:spPr>
          <a:xfrm>
            <a:off x="1322983" y="3236713"/>
            <a:ext cx="5204817" cy="5347296"/>
          </a:xfrm>
          <a:prstGeom prst="roundRect">
            <a:avLst>
              <a:gd name="adj" fmla="val 2746"/>
            </a:avLst>
          </a:prstGeom>
          <a:solidFill>
            <a:srgbClr val="FFFFFF">
              <a:alpha val="46799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8" name="Shape 2"/>
          <p:cNvSpPr/>
          <p:nvPr/>
        </p:nvSpPr>
        <p:spPr>
          <a:xfrm>
            <a:off x="1675805" y="3589536"/>
            <a:ext cx="1020564" cy="102056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Text 3"/>
          <p:cNvSpPr txBox="1"/>
          <p:nvPr/>
        </p:nvSpPr>
        <p:spPr>
          <a:xfrm>
            <a:off x="1675805" y="4916288"/>
            <a:ext cx="4499174" cy="1045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Государственная поддержка</a:t>
            </a:r>
          </a:p>
        </p:txBody>
      </p:sp>
      <p:sp>
        <p:nvSpPr>
          <p:cNvPr id="410" name="Text 4"/>
          <p:cNvSpPr txBox="1"/>
          <p:nvPr/>
        </p:nvSpPr>
        <p:spPr>
          <a:xfrm>
            <a:off x="1675805" y="6162675"/>
            <a:ext cx="4499174" cy="200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99,3% акций у государства, статус специализированного инвестиционного банка</a:t>
            </a:r>
          </a:p>
        </p:txBody>
      </p:sp>
      <p:sp>
        <p:nvSpPr>
          <p:cNvPr id="411" name="Shape 5"/>
          <p:cNvSpPr/>
          <p:nvPr/>
        </p:nvSpPr>
        <p:spPr>
          <a:xfrm>
            <a:off x="6833988" y="3236713"/>
            <a:ext cx="5204817" cy="5347296"/>
          </a:xfrm>
          <a:prstGeom prst="roundRect">
            <a:avLst>
              <a:gd name="adj" fmla="val 2746"/>
            </a:avLst>
          </a:prstGeom>
          <a:solidFill>
            <a:srgbClr val="FFFFFF">
              <a:alpha val="46568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Shape 6"/>
          <p:cNvSpPr/>
          <p:nvPr/>
        </p:nvSpPr>
        <p:spPr>
          <a:xfrm>
            <a:off x="7186811" y="3589536"/>
            <a:ext cx="1020564" cy="102056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Text 7"/>
          <p:cNvSpPr txBox="1"/>
          <p:nvPr/>
        </p:nvSpPr>
        <p:spPr>
          <a:xfrm>
            <a:off x="7186811" y="4916288"/>
            <a:ext cx="3117256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Регулирование</a:t>
            </a:r>
          </a:p>
        </p:txBody>
      </p:sp>
      <p:sp>
        <p:nvSpPr>
          <p:cNvPr id="414" name="Text 8"/>
          <p:cNvSpPr txBox="1"/>
          <p:nvPr/>
        </p:nvSpPr>
        <p:spPr>
          <a:xfrm>
            <a:off x="7186811" y="5631260"/>
            <a:ext cx="4499175" cy="200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Лицензия Нацбанка РБ, соответствие международным стандартам (SWIFT, МСФО)</a:t>
            </a:r>
          </a:p>
        </p:txBody>
      </p:sp>
      <p:sp>
        <p:nvSpPr>
          <p:cNvPr id="415" name="Shape 9"/>
          <p:cNvSpPr/>
          <p:nvPr/>
        </p:nvSpPr>
        <p:spPr>
          <a:xfrm>
            <a:off x="12344994" y="3236713"/>
            <a:ext cx="5204817" cy="5347296"/>
          </a:xfrm>
          <a:prstGeom prst="roundRect">
            <a:avLst>
              <a:gd name="adj" fmla="val 2746"/>
            </a:avLst>
          </a:prstGeom>
          <a:solidFill>
            <a:srgbClr val="FFFFFF">
              <a:alpha val="47311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Shape 10"/>
          <p:cNvSpPr/>
          <p:nvPr/>
        </p:nvSpPr>
        <p:spPr>
          <a:xfrm>
            <a:off x="12697816" y="3589536"/>
            <a:ext cx="1020564" cy="102056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Text 11"/>
          <p:cNvSpPr txBox="1"/>
          <p:nvPr/>
        </p:nvSpPr>
        <p:spPr>
          <a:xfrm>
            <a:off x="12697816" y="4916288"/>
            <a:ext cx="4499174" cy="1045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Политическая стабильность</a:t>
            </a:r>
          </a:p>
        </p:txBody>
      </p:sp>
      <p:sp>
        <p:nvSpPr>
          <p:cNvPr id="418" name="Text 12"/>
          <p:cNvSpPr txBox="1"/>
          <p:nvPr/>
        </p:nvSpPr>
        <p:spPr>
          <a:xfrm>
            <a:off x="12697816" y="6162675"/>
            <a:ext cx="4499174" cy="200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Беларусь сохраняет политическую стабильность несмотря на международные санкции</a:t>
            </a:r>
          </a:p>
        </p:txBody>
      </p:sp>
      <p:sp>
        <p:nvSpPr>
          <p:cNvPr id="419" name="Shape 13"/>
          <p:cNvSpPr/>
          <p:nvPr/>
        </p:nvSpPr>
        <p:spPr>
          <a:xfrm>
            <a:off x="17856001" y="3236713"/>
            <a:ext cx="5205016" cy="5347296"/>
          </a:xfrm>
          <a:prstGeom prst="roundRect">
            <a:avLst>
              <a:gd name="adj" fmla="val 2745"/>
            </a:avLst>
          </a:prstGeom>
          <a:solidFill>
            <a:srgbClr val="FFFFFF">
              <a:alpha val="47311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Shape 14"/>
          <p:cNvSpPr/>
          <p:nvPr/>
        </p:nvSpPr>
        <p:spPr>
          <a:xfrm>
            <a:off x="18208823" y="3589536"/>
            <a:ext cx="1020564" cy="102056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Text 15"/>
          <p:cNvSpPr txBox="1"/>
          <p:nvPr/>
        </p:nvSpPr>
        <p:spPr>
          <a:xfrm>
            <a:off x="18208823" y="4916288"/>
            <a:ext cx="3841552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Законодательство</a:t>
            </a:r>
          </a:p>
        </p:txBody>
      </p:sp>
      <p:sp>
        <p:nvSpPr>
          <p:cNvPr id="422" name="Text 16"/>
          <p:cNvSpPr txBox="1"/>
          <p:nvPr/>
        </p:nvSpPr>
        <p:spPr>
          <a:xfrm>
            <a:off x="18208823" y="5631260"/>
            <a:ext cx="4499372" cy="200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Благоприятное для развития зеленого финансирования и ESG-инициатив</a:t>
            </a:r>
          </a:p>
        </p:txBody>
      </p:sp>
      <p:sp>
        <p:nvSpPr>
          <p:cNvPr id="423" name="Shape 17"/>
          <p:cNvSpPr/>
          <p:nvPr/>
        </p:nvSpPr>
        <p:spPr>
          <a:xfrm>
            <a:off x="1322983" y="8890198"/>
            <a:ext cx="21738035" cy="3264496"/>
          </a:xfrm>
          <a:prstGeom prst="roundRect">
            <a:avLst>
              <a:gd name="adj" fmla="val 4377"/>
            </a:avLst>
          </a:prstGeom>
          <a:solidFill>
            <a:srgbClr val="FFFFFF">
              <a:alpha val="47311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Shape 18"/>
          <p:cNvSpPr/>
          <p:nvPr/>
        </p:nvSpPr>
        <p:spPr>
          <a:xfrm>
            <a:off x="1675805" y="9243019"/>
            <a:ext cx="1020564" cy="102056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Text 19"/>
          <p:cNvSpPr txBox="1"/>
          <p:nvPr/>
        </p:nvSpPr>
        <p:spPr>
          <a:xfrm>
            <a:off x="1675805" y="10569773"/>
            <a:ext cx="1254522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Риски</a:t>
            </a:r>
          </a:p>
        </p:txBody>
      </p:sp>
      <p:sp>
        <p:nvSpPr>
          <p:cNvPr id="426" name="Text 20"/>
          <p:cNvSpPr txBox="1"/>
          <p:nvPr/>
        </p:nvSpPr>
        <p:spPr>
          <a:xfrm>
            <a:off x="1675804" y="11284742"/>
            <a:ext cx="10880119" cy="482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Международные санкции, ограничения на международные операции</a:t>
            </a:r>
          </a:p>
        </p:txBody>
      </p:sp>
      <p:sp>
        <p:nvSpPr>
          <p:cNvPr id="427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 txBox="1"/>
          <p:nvPr/>
        </p:nvSpPr>
        <p:spPr>
          <a:xfrm>
            <a:off x="1322983" y="1875235"/>
            <a:ext cx="18060492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PEST-анализ: Экономические факторы</a:t>
            </a:r>
          </a:p>
        </p:txBody>
      </p:sp>
      <p:sp>
        <p:nvSpPr>
          <p:cNvPr id="430" name="Shape 1"/>
          <p:cNvSpPr/>
          <p:nvPr/>
        </p:nvSpPr>
        <p:spPr>
          <a:xfrm>
            <a:off x="1322983" y="3623468"/>
            <a:ext cx="21738035" cy="8217298"/>
          </a:xfrm>
          <a:prstGeom prst="roundRect">
            <a:avLst>
              <a:gd name="adj" fmla="val 1932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Shape 2"/>
          <p:cNvSpPr/>
          <p:nvPr/>
        </p:nvSpPr>
        <p:spPr>
          <a:xfrm>
            <a:off x="1335683" y="3636168"/>
            <a:ext cx="21712637" cy="108386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Text 3"/>
          <p:cNvSpPr txBox="1"/>
          <p:nvPr/>
        </p:nvSpPr>
        <p:spPr>
          <a:xfrm>
            <a:off x="1713905" y="3875683"/>
            <a:ext cx="1282825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Фактор</a:t>
            </a:r>
          </a:p>
        </p:txBody>
      </p:sp>
      <p:sp>
        <p:nvSpPr>
          <p:cNvPr id="433" name="Text 4"/>
          <p:cNvSpPr txBox="1"/>
          <p:nvPr/>
        </p:nvSpPr>
        <p:spPr>
          <a:xfrm>
            <a:off x="8233964" y="3875683"/>
            <a:ext cx="1992810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Показатель</a:t>
            </a:r>
          </a:p>
        </p:txBody>
      </p:sp>
      <p:sp>
        <p:nvSpPr>
          <p:cNvPr id="434" name="Shape 5"/>
          <p:cNvSpPr/>
          <p:nvPr/>
        </p:nvSpPr>
        <p:spPr>
          <a:xfrm>
            <a:off x="1335683" y="4720034"/>
            <a:ext cx="21712637" cy="1688705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Text 6"/>
          <p:cNvSpPr txBox="1"/>
          <p:nvPr/>
        </p:nvSpPr>
        <p:spPr>
          <a:xfrm>
            <a:off x="1713905" y="4959548"/>
            <a:ext cx="3528592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Экономический рост</a:t>
            </a:r>
          </a:p>
        </p:txBody>
      </p:sp>
      <p:sp>
        <p:nvSpPr>
          <p:cNvPr id="436" name="Text 7"/>
          <p:cNvSpPr txBox="1"/>
          <p:nvPr/>
        </p:nvSpPr>
        <p:spPr>
          <a:xfrm>
            <a:off x="8233964" y="4959548"/>
            <a:ext cx="14436329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ВВП Беларуси вырос на 1,3% в 2025 году, достигнув $94,4 млрд (исторический максимум)</a:t>
            </a:r>
          </a:p>
        </p:txBody>
      </p:sp>
      <p:sp>
        <p:nvSpPr>
          <p:cNvPr id="437" name="Shape 8"/>
          <p:cNvSpPr/>
          <p:nvPr/>
        </p:nvSpPr>
        <p:spPr>
          <a:xfrm>
            <a:off x="1335683" y="6408737"/>
            <a:ext cx="21712637" cy="108386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Text 9"/>
          <p:cNvSpPr txBox="1"/>
          <p:nvPr/>
        </p:nvSpPr>
        <p:spPr>
          <a:xfrm>
            <a:off x="1713905" y="6648251"/>
            <a:ext cx="1413223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Экспорт</a:t>
            </a:r>
          </a:p>
        </p:txBody>
      </p:sp>
      <p:sp>
        <p:nvSpPr>
          <p:cNvPr id="439" name="Text 10"/>
          <p:cNvSpPr txBox="1"/>
          <p:nvPr/>
        </p:nvSpPr>
        <p:spPr>
          <a:xfrm>
            <a:off x="8233964" y="6648251"/>
            <a:ext cx="10094343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Увеличение на 2,7% до $50,8 млрд за 11 месяцев 2025 года</a:t>
            </a:r>
          </a:p>
        </p:txBody>
      </p:sp>
      <p:sp>
        <p:nvSpPr>
          <p:cNvPr id="440" name="Shape 11"/>
          <p:cNvSpPr/>
          <p:nvPr/>
        </p:nvSpPr>
        <p:spPr>
          <a:xfrm>
            <a:off x="1335683" y="7492603"/>
            <a:ext cx="21712637" cy="1083865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Text 12"/>
          <p:cNvSpPr txBox="1"/>
          <p:nvPr/>
        </p:nvSpPr>
        <p:spPr>
          <a:xfrm>
            <a:off x="1713905" y="7732116"/>
            <a:ext cx="3183236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Доходы населения</a:t>
            </a:r>
          </a:p>
        </p:txBody>
      </p:sp>
      <p:sp>
        <p:nvSpPr>
          <p:cNvPr id="442" name="Text 13"/>
          <p:cNvSpPr txBox="1"/>
          <p:nvPr/>
        </p:nvSpPr>
        <p:spPr>
          <a:xfrm>
            <a:off x="8233964" y="7732116"/>
            <a:ext cx="7425433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Рост реальных доходов на 9,9% в 2025 году</a:t>
            </a:r>
          </a:p>
        </p:txBody>
      </p:sp>
      <p:sp>
        <p:nvSpPr>
          <p:cNvPr id="443" name="Shape 14"/>
          <p:cNvSpPr/>
          <p:nvPr/>
        </p:nvSpPr>
        <p:spPr>
          <a:xfrm>
            <a:off x="1335683" y="8576467"/>
            <a:ext cx="21712637" cy="108386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Text 15"/>
          <p:cNvSpPr txBox="1"/>
          <p:nvPr/>
        </p:nvSpPr>
        <p:spPr>
          <a:xfrm>
            <a:off x="1713905" y="8815982"/>
            <a:ext cx="1774727" cy="555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Инфляция</a:t>
            </a:r>
          </a:p>
        </p:txBody>
      </p:sp>
      <p:sp>
        <p:nvSpPr>
          <p:cNvPr id="445" name="Text 16"/>
          <p:cNvSpPr txBox="1"/>
          <p:nvPr/>
        </p:nvSpPr>
        <p:spPr>
          <a:xfrm>
            <a:off x="8233964" y="8815982"/>
            <a:ext cx="9640814" cy="555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Движется к верхней границе 7-9% г/г на конец 2025 года</a:t>
            </a:r>
          </a:p>
        </p:txBody>
      </p:sp>
      <p:sp>
        <p:nvSpPr>
          <p:cNvPr id="446" name="Shape 17"/>
          <p:cNvSpPr/>
          <p:nvPr/>
        </p:nvSpPr>
        <p:spPr>
          <a:xfrm>
            <a:off x="1335683" y="9660334"/>
            <a:ext cx="21712637" cy="108386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7" name="Text 18"/>
          <p:cNvSpPr txBox="1"/>
          <p:nvPr/>
        </p:nvSpPr>
        <p:spPr>
          <a:xfrm>
            <a:off x="1713905" y="9899848"/>
            <a:ext cx="2439567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Кредитование</a:t>
            </a:r>
          </a:p>
        </p:txBody>
      </p:sp>
      <p:sp>
        <p:nvSpPr>
          <p:cNvPr id="448" name="Text 19"/>
          <p:cNvSpPr txBox="1"/>
          <p:nvPr/>
        </p:nvSpPr>
        <p:spPr>
          <a:xfrm>
            <a:off x="8233964" y="9899848"/>
            <a:ext cx="12548122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Мягкая денежно-кредитная политика, но с директивными ограничениями</a:t>
            </a:r>
          </a:p>
        </p:txBody>
      </p:sp>
      <p:sp>
        <p:nvSpPr>
          <p:cNvPr id="449" name="Shape 20"/>
          <p:cNvSpPr/>
          <p:nvPr/>
        </p:nvSpPr>
        <p:spPr>
          <a:xfrm>
            <a:off x="1335683" y="10744200"/>
            <a:ext cx="21712637" cy="1083865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Text 21"/>
          <p:cNvSpPr txBox="1"/>
          <p:nvPr/>
        </p:nvSpPr>
        <p:spPr>
          <a:xfrm>
            <a:off x="1713905" y="10983713"/>
            <a:ext cx="2842742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Валютные риски</a:t>
            </a:r>
          </a:p>
        </p:txBody>
      </p:sp>
      <p:sp>
        <p:nvSpPr>
          <p:cNvPr id="451" name="Text 22"/>
          <p:cNvSpPr txBox="1"/>
          <p:nvPr/>
        </p:nvSpPr>
        <p:spPr>
          <a:xfrm>
            <a:off x="8233964" y="10983713"/>
            <a:ext cx="8947499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Ослабление белорусского рубля на 4-6% в 2025 году</a:t>
            </a:r>
          </a:p>
        </p:txBody>
      </p:sp>
      <p:sp>
        <p:nvSpPr>
          <p:cNvPr id="452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 0"/>
          <p:cNvSpPr txBox="1"/>
          <p:nvPr/>
        </p:nvSpPr>
        <p:spPr>
          <a:xfrm>
            <a:off x="1322983" y="1207491"/>
            <a:ext cx="19126027" cy="851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800"/>
              </a:lnSpc>
              <a:spcBef>
                <a:spcPts val="0"/>
              </a:spcBef>
              <a:defRPr b="1" sz="5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PEST-анализ: Социальные и технологические факторы</a:t>
            </a:r>
          </a:p>
        </p:txBody>
      </p:sp>
      <p:sp>
        <p:nvSpPr>
          <p:cNvPr id="455" name="Text 1"/>
          <p:cNvSpPr txBox="1"/>
          <p:nvPr/>
        </p:nvSpPr>
        <p:spPr>
          <a:xfrm>
            <a:off x="1322983" y="2624931"/>
            <a:ext cx="3683274" cy="414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Социальные факторы</a:t>
            </a:r>
          </a:p>
        </p:txBody>
      </p:sp>
      <p:sp>
        <p:nvSpPr>
          <p:cNvPr id="456" name="Shape 2"/>
          <p:cNvSpPr/>
          <p:nvPr/>
        </p:nvSpPr>
        <p:spPr>
          <a:xfrm>
            <a:off x="1322983" y="3306961"/>
            <a:ext cx="5155209" cy="3242668"/>
          </a:xfrm>
          <a:prstGeom prst="roundRect">
            <a:avLst>
              <a:gd name="adj" fmla="val 3672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7" name="Shape 3"/>
          <p:cNvSpPr/>
          <p:nvPr/>
        </p:nvSpPr>
        <p:spPr>
          <a:xfrm>
            <a:off x="1619051" y="3603030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8" name="Text 4"/>
          <p:cNvSpPr txBox="1"/>
          <p:nvPr/>
        </p:nvSpPr>
        <p:spPr>
          <a:xfrm>
            <a:off x="1619051" y="4666060"/>
            <a:ext cx="4563071" cy="112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Молодое население: Растущий спрос на цифровые банковские услуги среди молодежи</a:t>
            </a:r>
          </a:p>
        </p:txBody>
      </p:sp>
      <p:sp>
        <p:nvSpPr>
          <p:cNvPr id="459" name="Shape 5"/>
          <p:cNvSpPr/>
          <p:nvPr/>
        </p:nvSpPr>
        <p:spPr>
          <a:xfrm>
            <a:off x="6690717" y="3306961"/>
            <a:ext cx="5155407" cy="3242668"/>
          </a:xfrm>
          <a:prstGeom prst="roundRect">
            <a:avLst>
              <a:gd name="adj" fmla="val 3672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0" name="Shape 6"/>
          <p:cNvSpPr/>
          <p:nvPr/>
        </p:nvSpPr>
        <p:spPr>
          <a:xfrm>
            <a:off x="6986786" y="3603030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1" name="Text 7"/>
          <p:cNvSpPr txBox="1"/>
          <p:nvPr/>
        </p:nvSpPr>
        <p:spPr>
          <a:xfrm>
            <a:off x="6986786" y="4666060"/>
            <a:ext cx="4563270" cy="112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Финансовая грамотность: Повышение интереса к инвестициям и управлению финансами</a:t>
            </a:r>
          </a:p>
        </p:txBody>
      </p:sp>
      <p:sp>
        <p:nvSpPr>
          <p:cNvPr id="462" name="Shape 8"/>
          <p:cNvSpPr/>
          <p:nvPr/>
        </p:nvSpPr>
        <p:spPr>
          <a:xfrm>
            <a:off x="1322983" y="6762155"/>
            <a:ext cx="5155209" cy="2845793"/>
          </a:xfrm>
          <a:prstGeom prst="roundRect">
            <a:avLst>
              <a:gd name="adj" fmla="val 4185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3" name="Shape 9"/>
          <p:cNvSpPr/>
          <p:nvPr/>
        </p:nvSpPr>
        <p:spPr>
          <a:xfrm>
            <a:off x="1619051" y="7058223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4" name="Text 10"/>
          <p:cNvSpPr txBox="1"/>
          <p:nvPr/>
        </p:nvSpPr>
        <p:spPr>
          <a:xfrm>
            <a:off x="1619051" y="8121253"/>
            <a:ext cx="4563071" cy="112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Экологическое сознание: Растущий спрос на зеленые финансовые продукты</a:t>
            </a:r>
          </a:p>
        </p:txBody>
      </p:sp>
      <p:sp>
        <p:nvSpPr>
          <p:cNvPr id="465" name="Shape 11"/>
          <p:cNvSpPr/>
          <p:nvPr/>
        </p:nvSpPr>
        <p:spPr>
          <a:xfrm>
            <a:off x="6690717" y="6762155"/>
            <a:ext cx="5155407" cy="2845793"/>
          </a:xfrm>
          <a:prstGeom prst="roundRect">
            <a:avLst>
              <a:gd name="adj" fmla="val 4185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6" name="Shape 12"/>
          <p:cNvSpPr/>
          <p:nvPr/>
        </p:nvSpPr>
        <p:spPr>
          <a:xfrm>
            <a:off x="6986786" y="7058223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7" name="Text 13"/>
          <p:cNvSpPr txBox="1"/>
          <p:nvPr/>
        </p:nvSpPr>
        <p:spPr>
          <a:xfrm>
            <a:off x="6986786" y="8121253"/>
            <a:ext cx="4563270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Занятость: Исторический минимум безработицы (2,6% в Q2 2025)</a:t>
            </a:r>
          </a:p>
        </p:txBody>
      </p:sp>
      <p:sp>
        <p:nvSpPr>
          <p:cNvPr id="468" name="Shape 14"/>
          <p:cNvSpPr/>
          <p:nvPr/>
        </p:nvSpPr>
        <p:spPr>
          <a:xfrm>
            <a:off x="1322983" y="9820473"/>
            <a:ext cx="10523141" cy="2448918"/>
          </a:xfrm>
          <a:prstGeom prst="roundRect">
            <a:avLst>
              <a:gd name="adj" fmla="val 4863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Shape 15"/>
          <p:cNvSpPr/>
          <p:nvPr/>
        </p:nvSpPr>
        <p:spPr>
          <a:xfrm>
            <a:off x="1619051" y="10116541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0" name="Text 16"/>
          <p:cNvSpPr txBox="1"/>
          <p:nvPr/>
        </p:nvSpPr>
        <p:spPr>
          <a:xfrm>
            <a:off x="1619051" y="11179571"/>
            <a:ext cx="9931004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Доверие к банкам: Государственная поддержка укрепляет доверие к БелинвестБанку</a:t>
            </a:r>
          </a:p>
        </p:txBody>
      </p:sp>
      <p:sp>
        <p:nvSpPr>
          <p:cNvPr id="471" name="Text 17"/>
          <p:cNvSpPr txBox="1"/>
          <p:nvPr/>
        </p:nvSpPr>
        <p:spPr>
          <a:xfrm>
            <a:off x="12550576" y="2624931"/>
            <a:ext cx="4475399" cy="414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Технологические факторы</a:t>
            </a:r>
          </a:p>
        </p:txBody>
      </p:sp>
      <p:sp>
        <p:nvSpPr>
          <p:cNvPr id="472" name="Shape 18"/>
          <p:cNvSpPr/>
          <p:nvPr/>
        </p:nvSpPr>
        <p:spPr>
          <a:xfrm>
            <a:off x="12550576" y="3306961"/>
            <a:ext cx="5155209" cy="2845793"/>
          </a:xfrm>
          <a:prstGeom prst="roundRect">
            <a:avLst>
              <a:gd name="adj" fmla="val 4185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3" name="Shape 19"/>
          <p:cNvSpPr/>
          <p:nvPr/>
        </p:nvSpPr>
        <p:spPr>
          <a:xfrm>
            <a:off x="12846644" y="3603030"/>
            <a:ext cx="850504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Text 20"/>
          <p:cNvSpPr txBox="1"/>
          <p:nvPr/>
        </p:nvSpPr>
        <p:spPr>
          <a:xfrm>
            <a:off x="12846644" y="4666060"/>
            <a:ext cx="4563071" cy="112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Цифровизация: Активное развитие мобильного банкинга и интернет-сервисов</a:t>
            </a:r>
          </a:p>
        </p:txBody>
      </p:sp>
      <p:sp>
        <p:nvSpPr>
          <p:cNvPr id="475" name="Shape 21"/>
          <p:cNvSpPr/>
          <p:nvPr/>
        </p:nvSpPr>
        <p:spPr>
          <a:xfrm>
            <a:off x="17918312" y="3306961"/>
            <a:ext cx="5155408" cy="2845793"/>
          </a:xfrm>
          <a:prstGeom prst="roundRect">
            <a:avLst>
              <a:gd name="adj" fmla="val 4185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6" name="Shape 22"/>
          <p:cNvSpPr/>
          <p:nvPr/>
        </p:nvSpPr>
        <p:spPr>
          <a:xfrm>
            <a:off x="18214379" y="3603030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7" name="Text 23"/>
          <p:cNvSpPr txBox="1"/>
          <p:nvPr/>
        </p:nvSpPr>
        <p:spPr>
          <a:xfrm>
            <a:off x="18214379" y="4666060"/>
            <a:ext cx="4563270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ИИ и автоматизация: Внедрение AI-агентов для улучшения UX</a:t>
            </a:r>
          </a:p>
        </p:txBody>
      </p:sp>
      <p:sp>
        <p:nvSpPr>
          <p:cNvPr id="478" name="Shape 24"/>
          <p:cNvSpPr/>
          <p:nvPr/>
        </p:nvSpPr>
        <p:spPr>
          <a:xfrm>
            <a:off x="12550576" y="6365280"/>
            <a:ext cx="5155209" cy="2845792"/>
          </a:xfrm>
          <a:prstGeom prst="roundRect">
            <a:avLst>
              <a:gd name="adj" fmla="val 4185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9" name="Shape 25"/>
          <p:cNvSpPr/>
          <p:nvPr/>
        </p:nvSpPr>
        <p:spPr>
          <a:xfrm>
            <a:off x="12846644" y="6661348"/>
            <a:ext cx="850504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Text 26"/>
          <p:cNvSpPr txBox="1"/>
          <p:nvPr/>
        </p:nvSpPr>
        <p:spPr>
          <a:xfrm>
            <a:off x="12846644" y="7724378"/>
            <a:ext cx="4563071" cy="112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Блокчейн: Возможности для развития новых финансовых инструментов</a:t>
            </a:r>
          </a:p>
        </p:txBody>
      </p:sp>
      <p:sp>
        <p:nvSpPr>
          <p:cNvPr id="481" name="Shape 27"/>
          <p:cNvSpPr/>
          <p:nvPr/>
        </p:nvSpPr>
        <p:spPr>
          <a:xfrm>
            <a:off x="17918312" y="6365280"/>
            <a:ext cx="5155408" cy="2845792"/>
          </a:xfrm>
          <a:prstGeom prst="roundRect">
            <a:avLst>
              <a:gd name="adj" fmla="val 4185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2" name="Shape 28"/>
          <p:cNvSpPr/>
          <p:nvPr/>
        </p:nvSpPr>
        <p:spPr>
          <a:xfrm>
            <a:off x="18214379" y="6661348"/>
            <a:ext cx="850505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3" name="Text 29"/>
          <p:cNvSpPr txBox="1"/>
          <p:nvPr/>
        </p:nvSpPr>
        <p:spPr>
          <a:xfrm>
            <a:off x="18214379" y="7724378"/>
            <a:ext cx="4563270" cy="112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Кибербезопасность: Растущие требования к защите данных клиентов</a:t>
            </a:r>
          </a:p>
        </p:txBody>
      </p:sp>
      <p:sp>
        <p:nvSpPr>
          <p:cNvPr id="484" name="Shape 30"/>
          <p:cNvSpPr/>
          <p:nvPr/>
        </p:nvSpPr>
        <p:spPr>
          <a:xfrm>
            <a:off x="12550576" y="9423598"/>
            <a:ext cx="10523141" cy="2448918"/>
          </a:xfrm>
          <a:prstGeom prst="roundRect">
            <a:avLst>
              <a:gd name="adj" fmla="val 4863"/>
            </a:avLst>
          </a:prstGeom>
          <a:solidFill>
            <a:srgbClr val="FFFFFF">
              <a:alpha val="46272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5" name="Shape 31"/>
          <p:cNvSpPr/>
          <p:nvPr/>
        </p:nvSpPr>
        <p:spPr>
          <a:xfrm>
            <a:off x="12846644" y="9719666"/>
            <a:ext cx="850504" cy="850504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Text 32"/>
          <p:cNvSpPr txBox="1"/>
          <p:nvPr/>
        </p:nvSpPr>
        <p:spPr>
          <a:xfrm>
            <a:off x="12846644" y="10782696"/>
            <a:ext cx="9931004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Платежные системы: Развитие QR-платежей и бесконтактных операций (Оплати™)</a:t>
            </a:r>
          </a:p>
        </p:txBody>
      </p:sp>
      <p:sp>
        <p:nvSpPr>
          <p:cNvPr id="487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 txBox="1"/>
          <p:nvPr/>
        </p:nvSpPr>
        <p:spPr>
          <a:xfrm>
            <a:off x="1310878" y="1029890"/>
            <a:ext cx="20133073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Анализ 5 сил Портера: Конкурентная среда</a:t>
            </a:r>
          </a:p>
        </p:txBody>
      </p:sp>
      <p:pic>
        <p:nvPicPr>
          <p:cNvPr id="49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0878" y="2942431"/>
            <a:ext cx="17475200" cy="975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1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10878" y="2942431"/>
            <a:ext cx="174752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492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0"/>
          <p:cNvSpPr txBox="1"/>
          <p:nvPr/>
        </p:nvSpPr>
        <p:spPr>
          <a:xfrm>
            <a:off x="1322983" y="1529953"/>
            <a:ext cx="20652967" cy="103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8300"/>
              </a:lnSpc>
              <a:spcBef>
                <a:spcPts val="0"/>
              </a:spcBef>
              <a:defRPr b="1" sz="6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SNW-анализ: Внутренняя среда БелинвестБанка</a:t>
            </a:r>
          </a:p>
        </p:txBody>
      </p:sp>
      <p:sp>
        <p:nvSpPr>
          <p:cNvPr id="495" name="Text 1"/>
          <p:cNvSpPr txBox="1"/>
          <p:nvPr/>
        </p:nvSpPr>
        <p:spPr>
          <a:xfrm>
            <a:off x="1322983" y="3358555"/>
            <a:ext cx="5001817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СИЛЬНЫЕ СТОРОНЫ (S)</a:t>
            </a:r>
          </a:p>
        </p:txBody>
      </p:sp>
      <p:sp>
        <p:nvSpPr>
          <p:cNvPr id="496" name="Text 2"/>
          <p:cNvSpPr txBox="1"/>
          <p:nvPr/>
        </p:nvSpPr>
        <p:spPr>
          <a:xfrm>
            <a:off x="1322983" y="4196160"/>
            <a:ext cx="6691907" cy="708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Государственная поддержка (99,3% акций у государства)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Высокий рейтинг (4-е место по активам, 5,072 млрд BYN)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Развитая сеть (84 офиса, 594 банкомата)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Инновационные продукты (Оплати™, цифровой офис для бизнеса)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ESG-лидер (высокий ESG-рейтинг At.esg)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Международное признание (рейтинги Fitch, Moody's)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Специализированный инвестиционный банк</a:t>
            </a:r>
          </a:p>
        </p:txBody>
      </p:sp>
      <p:sp>
        <p:nvSpPr>
          <p:cNvPr id="497" name="Text 3"/>
          <p:cNvSpPr txBox="1"/>
          <p:nvPr/>
        </p:nvSpPr>
        <p:spPr>
          <a:xfrm>
            <a:off x="8857457" y="3358555"/>
            <a:ext cx="6108502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НЕЙТРАЛЬНЫЕ СТОРОНЫ (N)</a:t>
            </a:r>
          </a:p>
        </p:txBody>
      </p:sp>
      <p:sp>
        <p:nvSpPr>
          <p:cNvPr id="498" name="Text 4"/>
          <p:cNvSpPr txBox="1"/>
          <p:nvPr/>
        </p:nvSpPr>
        <p:spPr>
          <a:xfrm>
            <a:off x="8857457" y="4196159"/>
            <a:ext cx="6691907" cy="403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Конкурентная позиция (4-е место, но близко к 3-му)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Средний размер активов (в 7,5 раз меньше Беларусбанка)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Зависимость от государственной политики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Ограничения из-за санкций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Традиционная структура управления</a:t>
            </a:r>
          </a:p>
        </p:txBody>
      </p:sp>
      <p:sp>
        <p:nvSpPr>
          <p:cNvPr id="499" name="Text 5"/>
          <p:cNvSpPr txBox="1"/>
          <p:nvPr/>
        </p:nvSpPr>
        <p:spPr>
          <a:xfrm>
            <a:off x="16391929" y="3358555"/>
            <a:ext cx="4841281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СЛАБЫЕ СТОРОНЫ (W)</a:t>
            </a:r>
          </a:p>
        </p:txBody>
      </p:sp>
      <p:sp>
        <p:nvSpPr>
          <p:cNvPr id="500" name="Text 6"/>
          <p:cNvSpPr txBox="1"/>
          <p:nvPr/>
        </p:nvSpPr>
        <p:spPr>
          <a:xfrm>
            <a:off x="16391929" y="4196159"/>
            <a:ext cx="6691907" cy="454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Сложный UX мобильного приложения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Отток клиентов к конкурентам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Ограниченные международные операции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Высокие операционные расходы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Недостаточное развитие цифровых сервисов для молодежи</a:t>
            </a:r>
          </a:p>
          <a:p>
            <a:pPr marL="557212" indent="-557212" defTabSz="1524000">
              <a:lnSpc>
                <a:spcPts val="40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Низкая узнаваемость бренда среди молодого поколения</a:t>
            </a:r>
          </a:p>
        </p:txBody>
      </p:sp>
      <p:sp>
        <p:nvSpPr>
          <p:cNvPr id="50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 0"/>
          <p:cNvSpPr txBox="1"/>
          <p:nvPr/>
        </p:nvSpPr>
        <p:spPr>
          <a:xfrm>
            <a:off x="1322983" y="1935758"/>
            <a:ext cx="17773105" cy="9711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800"/>
              </a:lnSpc>
              <a:spcBef>
                <a:spcPts val="0"/>
              </a:spcBef>
              <a:defRPr b="1" sz="6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VRIO-анализ: Оценка ресурсов и компетенций</a:t>
            </a:r>
          </a:p>
        </p:txBody>
      </p:sp>
      <p:sp>
        <p:nvSpPr>
          <p:cNvPr id="504" name="Shape 1"/>
          <p:cNvSpPr/>
          <p:nvPr/>
        </p:nvSpPr>
        <p:spPr>
          <a:xfrm>
            <a:off x="1322983" y="3349426"/>
            <a:ext cx="21738035" cy="8430816"/>
          </a:xfrm>
          <a:prstGeom prst="roundRect">
            <a:avLst>
              <a:gd name="adj" fmla="val 1601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5" name="Shape 2"/>
          <p:cNvSpPr/>
          <p:nvPr/>
        </p:nvSpPr>
        <p:spPr>
          <a:xfrm>
            <a:off x="1335683" y="3362126"/>
            <a:ext cx="21712637" cy="130373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6" name="Text 3"/>
          <p:cNvSpPr txBox="1"/>
          <p:nvPr/>
        </p:nvSpPr>
        <p:spPr>
          <a:xfrm>
            <a:off x="1657746" y="3538536"/>
            <a:ext cx="3025131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Ресурс/Компетенция</a:t>
            </a:r>
          </a:p>
        </p:txBody>
      </p:sp>
      <p:sp>
        <p:nvSpPr>
          <p:cNvPr id="507" name="Text 4"/>
          <p:cNvSpPr txBox="1"/>
          <p:nvPr/>
        </p:nvSpPr>
        <p:spPr>
          <a:xfrm>
            <a:off x="8177808" y="3538536"/>
            <a:ext cx="1861891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Ценность (V)</a:t>
            </a:r>
          </a:p>
        </p:txBody>
      </p:sp>
      <p:sp>
        <p:nvSpPr>
          <p:cNvPr id="508" name="Text 5"/>
          <p:cNvSpPr txBox="1"/>
          <p:nvPr/>
        </p:nvSpPr>
        <p:spPr>
          <a:xfrm>
            <a:off x="11434563" y="3538536"/>
            <a:ext cx="1871564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Редкость (R)</a:t>
            </a:r>
          </a:p>
        </p:txBody>
      </p:sp>
      <p:sp>
        <p:nvSpPr>
          <p:cNvPr id="509" name="Text 6"/>
          <p:cNvSpPr txBox="1"/>
          <p:nvPr/>
        </p:nvSpPr>
        <p:spPr>
          <a:xfrm>
            <a:off x="14691320" y="3538536"/>
            <a:ext cx="2601516" cy="908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Имитируемость (I)</a:t>
            </a:r>
          </a:p>
        </p:txBody>
      </p:sp>
      <p:sp>
        <p:nvSpPr>
          <p:cNvPr id="510" name="Text 7"/>
          <p:cNvSpPr txBox="1"/>
          <p:nvPr/>
        </p:nvSpPr>
        <p:spPr>
          <a:xfrm>
            <a:off x="17948076" y="3538536"/>
            <a:ext cx="1515864" cy="908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Организация (O)</a:t>
            </a:r>
          </a:p>
        </p:txBody>
      </p:sp>
      <p:sp>
        <p:nvSpPr>
          <p:cNvPr id="511" name="Text 8"/>
          <p:cNvSpPr txBox="1"/>
          <p:nvPr/>
        </p:nvSpPr>
        <p:spPr>
          <a:xfrm>
            <a:off x="20119181" y="3538536"/>
            <a:ext cx="2607866" cy="908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Конкурентное преимущество</a:t>
            </a:r>
          </a:p>
        </p:txBody>
      </p:sp>
      <p:sp>
        <p:nvSpPr>
          <p:cNvPr id="512" name="Shape 9"/>
          <p:cNvSpPr/>
          <p:nvPr/>
        </p:nvSpPr>
        <p:spPr>
          <a:xfrm>
            <a:off x="1335683" y="4665861"/>
            <a:ext cx="21712637" cy="82828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3" name="Text 10"/>
          <p:cNvSpPr txBox="1"/>
          <p:nvPr/>
        </p:nvSpPr>
        <p:spPr>
          <a:xfrm>
            <a:off x="1657746" y="4842271"/>
            <a:ext cx="4195218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Государственная поддержка</a:t>
            </a:r>
          </a:p>
        </p:txBody>
      </p:sp>
      <p:sp>
        <p:nvSpPr>
          <p:cNvPr id="514" name="Text 11"/>
          <p:cNvSpPr txBox="1"/>
          <p:nvPr/>
        </p:nvSpPr>
        <p:spPr>
          <a:xfrm>
            <a:off x="8177808" y="4842271"/>
            <a:ext cx="126464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Высокая</a:t>
            </a:r>
          </a:p>
        </p:txBody>
      </p:sp>
      <p:sp>
        <p:nvSpPr>
          <p:cNvPr id="515" name="Text 12"/>
          <p:cNvSpPr txBox="1"/>
          <p:nvPr/>
        </p:nvSpPr>
        <p:spPr>
          <a:xfrm>
            <a:off x="11434563" y="4842271"/>
            <a:ext cx="126464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Высокая</a:t>
            </a:r>
          </a:p>
        </p:txBody>
      </p:sp>
      <p:sp>
        <p:nvSpPr>
          <p:cNvPr id="516" name="Text 13"/>
          <p:cNvSpPr txBox="1"/>
          <p:nvPr/>
        </p:nvSpPr>
        <p:spPr>
          <a:xfrm>
            <a:off x="14691320" y="4842271"/>
            <a:ext cx="1840459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Невозможно</a:t>
            </a:r>
          </a:p>
        </p:txBody>
      </p:sp>
      <p:sp>
        <p:nvSpPr>
          <p:cNvPr id="517" name="Text 14"/>
          <p:cNvSpPr txBox="1"/>
          <p:nvPr/>
        </p:nvSpPr>
        <p:spPr>
          <a:xfrm>
            <a:off x="17948076" y="4842271"/>
            <a:ext cx="39593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18" name="Text 15"/>
          <p:cNvSpPr txBox="1"/>
          <p:nvPr/>
        </p:nvSpPr>
        <p:spPr>
          <a:xfrm>
            <a:off x="20119181" y="4842271"/>
            <a:ext cx="1716039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4CAF5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Устойчивое</a:t>
            </a:r>
          </a:p>
        </p:txBody>
      </p:sp>
      <p:sp>
        <p:nvSpPr>
          <p:cNvPr id="519" name="Shape 16"/>
          <p:cNvSpPr/>
          <p:nvPr/>
        </p:nvSpPr>
        <p:spPr>
          <a:xfrm>
            <a:off x="1335683" y="5494138"/>
            <a:ext cx="21712637" cy="82827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Text 17"/>
          <p:cNvSpPr txBox="1"/>
          <p:nvPr/>
        </p:nvSpPr>
        <p:spPr>
          <a:xfrm>
            <a:off x="1657746" y="5670550"/>
            <a:ext cx="4391225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Сеть отделений и банкоматов</a:t>
            </a:r>
          </a:p>
        </p:txBody>
      </p:sp>
      <p:sp>
        <p:nvSpPr>
          <p:cNvPr id="521" name="Text 18"/>
          <p:cNvSpPr txBox="1"/>
          <p:nvPr/>
        </p:nvSpPr>
        <p:spPr>
          <a:xfrm>
            <a:off x="8177808" y="5670550"/>
            <a:ext cx="126464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Высокая</a:t>
            </a:r>
          </a:p>
        </p:txBody>
      </p:sp>
      <p:sp>
        <p:nvSpPr>
          <p:cNvPr id="522" name="Text 19"/>
          <p:cNvSpPr txBox="1"/>
          <p:nvPr/>
        </p:nvSpPr>
        <p:spPr>
          <a:xfrm>
            <a:off x="11434563" y="5670550"/>
            <a:ext cx="1266280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23" name="Text 20"/>
          <p:cNvSpPr txBox="1"/>
          <p:nvPr/>
        </p:nvSpPr>
        <p:spPr>
          <a:xfrm>
            <a:off x="14691320" y="5670550"/>
            <a:ext cx="1154064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Сложно</a:t>
            </a:r>
          </a:p>
        </p:txBody>
      </p:sp>
      <p:sp>
        <p:nvSpPr>
          <p:cNvPr id="524" name="Text 21"/>
          <p:cNvSpPr txBox="1"/>
          <p:nvPr/>
        </p:nvSpPr>
        <p:spPr>
          <a:xfrm>
            <a:off x="17948076" y="5670550"/>
            <a:ext cx="39593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25" name="Text 22"/>
          <p:cNvSpPr txBox="1"/>
          <p:nvPr/>
        </p:nvSpPr>
        <p:spPr>
          <a:xfrm>
            <a:off x="20119181" y="5670550"/>
            <a:ext cx="1605608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FFC10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Временное</a:t>
            </a:r>
          </a:p>
        </p:txBody>
      </p:sp>
      <p:sp>
        <p:nvSpPr>
          <p:cNvPr id="526" name="Shape 23"/>
          <p:cNvSpPr/>
          <p:nvPr/>
        </p:nvSpPr>
        <p:spPr>
          <a:xfrm>
            <a:off x="1335683" y="6322416"/>
            <a:ext cx="21712637" cy="828279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Text 24"/>
          <p:cNvSpPr txBox="1"/>
          <p:nvPr/>
        </p:nvSpPr>
        <p:spPr>
          <a:xfrm>
            <a:off x="1657746" y="6498828"/>
            <a:ext cx="5471568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Инновационные продукты (Оплати™)</a:t>
            </a:r>
          </a:p>
        </p:txBody>
      </p:sp>
      <p:sp>
        <p:nvSpPr>
          <p:cNvPr id="528" name="Text 25"/>
          <p:cNvSpPr txBox="1"/>
          <p:nvPr/>
        </p:nvSpPr>
        <p:spPr>
          <a:xfrm>
            <a:off x="8177808" y="6498828"/>
            <a:ext cx="126464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Высокая</a:t>
            </a:r>
          </a:p>
        </p:txBody>
      </p:sp>
      <p:sp>
        <p:nvSpPr>
          <p:cNvPr id="529" name="Text 26"/>
          <p:cNvSpPr txBox="1"/>
          <p:nvPr/>
        </p:nvSpPr>
        <p:spPr>
          <a:xfrm>
            <a:off x="11434563" y="6498828"/>
            <a:ext cx="1266280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30" name="Text 27"/>
          <p:cNvSpPr txBox="1"/>
          <p:nvPr/>
        </p:nvSpPr>
        <p:spPr>
          <a:xfrm>
            <a:off x="14691320" y="6498828"/>
            <a:ext cx="1487141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Возможно</a:t>
            </a:r>
          </a:p>
        </p:txBody>
      </p:sp>
      <p:sp>
        <p:nvSpPr>
          <p:cNvPr id="531" name="Text 28"/>
          <p:cNvSpPr txBox="1"/>
          <p:nvPr/>
        </p:nvSpPr>
        <p:spPr>
          <a:xfrm>
            <a:off x="17948076" y="6498828"/>
            <a:ext cx="39593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32" name="Text 29"/>
          <p:cNvSpPr txBox="1"/>
          <p:nvPr/>
        </p:nvSpPr>
        <p:spPr>
          <a:xfrm>
            <a:off x="20119181" y="6498828"/>
            <a:ext cx="1605608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FFC10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Временное</a:t>
            </a:r>
          </a:p>
        </p:txBody>
      </p:sp>
      <p:sp>
        <p:nvSpPr>
          <p:cNvPr id="533" name="Shape 30"/>
          <p:cNvSpPr/>
          <p:nvPr/>
        </p:nvSpPr>
        <p:spPr>
          <a:xfrm>
            <a:off x="1335683" y="7150695"/>
            <a:ext cx="21712637" cy="130373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Text 31"/>
          <p:cNvSpPr txBox="1"/>
          <p:nvPr/>
        </p:nvSpPr>
        <p:spPr>
          <a:xfrm>
            <a:off x="1657746" y="7327106"/>
            <a:ext cx="5864821" cy="908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ESG-рейтинг и зеленое финансирование</a:t>
            </a:r>
          </a:p>
        </p:txBody>
      </p:sp>
      <p:sp>
        <p:nvSpPr>
          <p:cNvPr id="535" name="Text 32"/>
          <p:cNvSpPr txBox="1"/>
          <p:nvPr/>
        </p:nvSpPr>
        <p:spPr>
          <a:xfrm>
            <a:off x="8177808" y="7327106"/>
            <a:ext cx="126464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Высокая</a:t>
            </a:r>
          </a:p>
        </p:txBody>
      </p:sp>
      <p:sp>
        <p:nvSpPr>
          <p:cNvPr id="536" name="Text 33"/>
          <p:cNvSpPr txBox="1"/>
          <p:nvPr/>
        </p:nvSpPr>
        <p:spPr>
          <a:xfrm>
            <a:off x="11434563" y="7327106"/>
            <a:ext cx="1266280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37" name="Text 34"/>
          <p:cNvSpPr txBox="1"/>
          <p:nvPr/>
        </p:nvSpPr>
        <p:spPr>
          <a:xfrm>
            <a:off x="14691320" y="7327106"/>
            <a:ext cx="1487141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Возможно</a:t>
            </a:r>
          </a:p>
        </p:txBody>
      </p:sp>
      <p:sp>
        <p:nvSpPr>
          <p:cNvPr id="538" name="Text 35"/>
          <p:cNvSpPr txBox="1"/>
          <p:nvPr/>
        </p:nvSpPr>
        <p:spPr>
          <a:xfrm>
            <a:off x="17948076" y="7327106"/>
            <a:ext cx="395933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39" name="Text 36"/>
          <p:cNvSpPr txBox="1"/>
          <p:nvPr/>
        </p:nvSpPr>
        <p:spPr>
          <a:xfrm>
            <a:off x="20119181" y="7327106"/>
            <a:ext cx="1605608" cy="442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FFC10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Временное</a:t>
            </a:r>
          </a:p>
        </p:txBody>
      </p:sp>
      <p:sp>
        <p:nvSpPr>
          <p:cNvPr id="540" name="Shape 37"/>
          <p:cNvSpPr/>
          <p:nvPr/>
        </p:nvSpPr>
        <p:spPr>
          <a:xfrm>
            <a:off x="1335683" y="8454429"/>
            <a:ext cx="21712637" cy="82828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Text 38"/>
          <p:cNvSpPr txBox="1"/>
          <p:nvPr/>
        </p:nvSpPr>
        <p:spPr>
          <a:xfrm>
            <a:off x="1657746" y="8630839"/>
            <a:ext cx="3547220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Цифровые компетенции</a:t>
            </a:r>
          </a:p>
        </p:txBody>
      </p:sp>
      <p:sp>
        <p:nvSpPr>
          <p:cNvPr id="542" name="Text 39"/>
          <p:cNvSpPr txBox="1"/>
          <p:nvPr/>
        </p:nvSpPr>
        <p:spPr>
          <a:xfrm>
            <a:off x="8177808" y="8630839"/>
            <a:ext cx="1266280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43" name="Text 40"/>
          <p:cNvSpPr txBox="1"/>
          <p:nvPr/>
        </p:nvSpPr>
        <p:spPr>
          <a:xfrm>
            <a:off x="11434563" y="8630839"/>
            <a:ext cx="1069678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Низкая</a:t>
            </a:r>
          </a:p>
        </p:txBody>
      </p:sp>
      <p:sp>
        <p:nvSpPr>
          <p:cNvPr id="544" name="Text 41"/>
          <p:cNvSpPr txBox="1"/>
          <p:nvPr/>
        </p:nvSpPr>
        <p:spPr>
          <a:xfrm>
            <a:off x="14691320" y="8630839"/>
            <a:ext cx="850752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Легко</a:t>
            </a:r>
          </a:p>
        </p:txBody>
      </p:sp>
      <p:sp>
        <p:nvSpPr>
          <p:cNvPr id="545" name="Text 42"/>
          <p:cNvSpPr txBox="1"/>
          <p:nvPr/>
        </p:nvSpPr>
        <p:spPr>
          <a:xfrm>
            <a:off x="17948076" y="8630839"/>
            <a:ext cx="1366442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Частично</a:t>
            </a:r>
          </a:p>
        </p:txBody>
      </p:sp>
      <p:sp>
        <p:nvSpPr>
          <p:cNvPr id="546" name="Text 43"/>
          <p:cNvSpPr txBox="1"/>
          <p:nvPr/>
        </p:nvSpPr>
        <p:spPr>
          <a:xfrm>
            <a:off x="20119181" y="8630839"/>
            <a:ext cx="122401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Паритет</a:t>
            </a:r>
          </a:p>
        </p:txBody>
      </p:sp>
      <p:sp>
        <p:nvSpPr>
          <p:cNvPr id="547" name="Shape 44"/>
          <p:cNvSpPr/>
          <p:nvPr/>
        </p:nvSpPr>
        <p:spPr>
          <a:xfrm>
            <a:off x="1335683" y="9282708"/>
            <a:ext cx="21712637" cy="82827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Text 45"/>
          <p:cNvSpPr txBox="1"/>
          <p:nvPr/>
        </p:nvSpPr>
        <p:spPr>
          <a:xfrm>
            <a:off x="1657746" y="9459117"/>
            <a:ext cx="439018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Управленческие компетенции</a:t>
            </a:r>
          </a:p>
        </p:txBody>
      </p:sp>
      <p:sp>
        <p:nvSpPr>
          <p:cNvPr id="549" name="Text 46"/>
          <p:cNvSpPr txBox="1"/>
          <p:nvPr/>
        </p:nvSpPr>
        <p:spPr>
          <a:xfrm>
            <a:off x="8177808" y="9459117"/>
            <a:ext cx="1266280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50" name="Text 47"/>
          <p:cNvSpPr txBox="1"/>
          <p:nvPr/>
        </p:nvSpPr>
        <p:spPr>
          <a:xfrm>
            <a:off x="11434563" y="9459117"/>
            <a:ext cx="1069678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Низкая</a:t>
            </a:r>
          </a:p>
        </p:txBody>
      </p:sp>
      <p:sp>
        <p:nvSpPr>
          <p:cNvPr id="551" name="Text 48"/>
          <p:cNvSpPr txBox="1"/>
          <p:nvPr/>
        </p:nvSpPr>
        <p:spPr>
          <a:xfrm>
            <a:off x="14691320" y="9459117"/>
            <a:ext cx="850752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Легко</a:t>
            </a:r>
          </a:p>
        </p:txBody>
      </p:sp>
      <p:sp>
        <p:nvSpPr>
          <p:cNvPr id="552" name="Text 49"/>
          <p:cNvSpPr txBox="1"/>
          <p:nvPr/>
        </p:nvSpPr>
        <p:spPr>
          <a:xfrm>
            <a:off x="17948076" y="9459117"/>
            <a:ext cx="39593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53" name="Text 50"/>
          <p:cNvSpPr txBox="1"/>
          <p:nvPr/>
        </p:nvSpPr>
        <p:spPr>
          <a:xfrm>
            <a:off x="20119181" y="9459117"/>
            <a:ext cx="122401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Паритет</a:t>
            </a:r>
          </a:p>
        </p:txBody>
      </p:sp>
      <p:sp>
        <p:nvSpPr>
          <p:cNvPr id="554" name="Shape 51"/>
          <p:cNvSpPr/>
          <p:nvPr/>
        </p:nvSpPr>
        <p:spPr>
          <a:xfrm>
            <a:off x="1335683" y="10110986"/>
            <a:ext cx="21712637" cy="828280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Text 52"/>
          <p:cNvSpPr txBox="1"/>
          <p:nvPr/>
        </p:nvSpPr>
        <p:spPr>
          <a:xfrm>
            <a:off x="1657746" y="10287396"/>
            <a:ext cx="4959748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Технологическая инфраструктура</a:t>
            </a:r>
          </a:p>
        </p:txBody>
      </p:sp>
      <p:sp>
        <p:nvSpPr>
          <p:cNvPr id="556" name="Text 53"/>
          <p:cNvSpPr txBox="1"/>
          <p:nvPr/>
        </p:nvSpPr>
        <p:spPr>
          <a:xfrm>
            <a:off x="8177808" y="10287396"/>
            <a:ext cx="1266280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57" name="Text 54"/>
          <p:cNvSpPr txBox="1"/>
          <p:nvPr/>
        </p:nvSpPr>
        <p:spPr>
          <a:xfrm>
            <a:off x="11434563" y="10287396"/>
            <a:ext cx="1069678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Низкая</a:t>
            </a:r>
          </a:p>
        </p:txBody>
      </p:sp>
      <p:sp>
        <p:nvSpPr>
          <p:cNvPr id="558" name="Text 55"/>
          <p:cNvSpPr txBox="1"/>
          <p:nvPr/>
        </p:nvSpPr>
        <p:spPr>
          <a:xfrm>
            <a:off x="14691320" y="10287396"/>
            <a:ext cx="850752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Легко</a:t>
            </a:r>
          </a:p>
        </p:txBody>
      </p:sp>
      <p:sp>
        <p:nvSpPr>
          <p:cNvPr id="559" name="Text 56"/>
          <p:cNvSpPr txBox="1"/>
          <p:nvPr/>
        </p:nvSpPr>
        <p:spPr>
          <a:xfrm>
            <a:off x="17948076" y="10287396"/>
            <a:ext cx="39593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60" name="Text 57"/>
          <p:cNvSpPr txBox="1"/>
          <p:nvPr/>
        </p:nvSpPr>
        <p:spPr>
          <a:xfrm>
            <a:off x="20119181" y="10287396"/>
            <a:ext cx="122401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9E9E9E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Паритет</a:t>
            </a:r>
          </a:p>
        </p:txBody>
      </p:sp>
      <p:sp>
        <p:nvSpPr>
          <p:cNvPr id="561" name="Shape 58"/>
          <p:cNvSpPr/>
          <p:nvPr/>
        </p:nvSpPr>
        <p:spPr>
          <a:xfrm>
            <a:off x="1335683" y="10939264"/>
            <a:ext cx="21712637" cy="828279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Text 59"/>
          <p:cNvSpPr txBox="1"/>
          <p:nvPr/>
        </p:nvSpPr>
        <p:spPr>
          <a:xfrm>
            <a:off x="1657746" y="11115675"/>
            <a:ext cx="2759771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Бренд и репутация</a:t>
            </a:r>
          </a:p>
        </p:txBody>
      </p:sp>
      <p:sp>
        <p:nvSpPr>
          <p:cNvPr id="563" name="Text 60"/>
          <p:cNvSpPr txBox="1"/>
          <p:nvPr/>
        </p:nvSpPr>
        <p:spPr>
          <a:xfrm>
            <a:off x="8177808" y="11115675"/>
            <a:ext cx="1266280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64" name="Text 61"/>
          <p:cNvSpPr txBox="1"/>
          <p:nvPr/>
        </p:nvSpPr>
        <p:spPr>
          <a:xfrm>
            <a:off x="11434563" y="11115675"/>
            <a:ext cx="1266280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Средняя</a:t>
            </a:r>
          </a:p>
        </p:txBody>
      </p:sp>
      <p:sp>
        <p:nvSpPr>
          <p:cNvPr id="565" name="Text 62"/>
          <p:cNvSpPr txBox="1"/>
          <p:nvPr/>
        </p:nvSpPr>
        <p:spPr>
          <a:xfrm>
            <a:off x="14691320" y="11115675"/>
            <a:ext cx="1154064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Сложно</a:t>
            </a:r>
          </a:p>
        </p:txBody>
      </p:sp>
      <p:sp>
        <p:nvSpPr>
          <p:cNvPr id="566" name="Text 63"/>
          <p:cNvSpPr txBox="1"/>
          <p:nvPr/>
        </p:nvSpPr>
        <p:spPr>
          <a:xfrm>
            <a:off x="17948076" y="11115675"/>
            <a:ext cx="395933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Да</a:t>
            </a:r>
          </a:p>
        </p:txBody>
      </p:sp>
      <p:sp>
        <p:nvSpPr>
          <p:cNvPr id="567" name="Text 64"/>
          <p:cNvSpPr txBox="1"/>
          <p:nvPr/>
        </p:nvSpPr>
        <p:spPr>
          <a:xfrm>
            <a:off x="20119181" y="11115675"/>
            <a:ext cx="1605608" cy="44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sz="2400">
                <a:solidFill>
                  <a:srgbClr val="FFC10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Временное</a:t>
            </a:r>
          </a:p>
        </p:txBody>
      </p:sp>
      <p:sp>
        <p:nvSpPr>
          <p:cNvPr id="568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 0"/>
          <p:cNvSpPr txBox="1"/>
          <p:nvPr/>
        </p:nvSpPr>
        <p:spPr>
          <a:xfrm>
            <a:off x="1322983" y="1368425"/>
            <a:ext cx="15677481" cy="806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500"/>
              </a:lnSpc>
              <a:spcBef>
                <a:spcPts val="0"/>
              </a:spcBef>
              <a:defRPr b="1" sz="5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Анализ ключевых компетенций БелинвестБанка</a:t>
            </a:r>
          </a:p>
        </p:txBody>
      </p:sp>
      <p:sp>
        <p:nvSpPr>
          <p:cNvPr id="571" name="Shape 1"/>
          <p:cNvSpPr/>
          <p:nvPr/>
        </p:nvSpPr>
        <p:spPr>
          <a:xfrm>
            <a:off x="1322983" y="2565796"/>
            <a:ext cx="5295504" cy="5904906"/>
          </a:xfrm>
          <a:prstGeom prst="roundRect">
            <a:avLst>
              <a:gd name="adj" fmla="val 209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Shape 2"/>
          <p:cNvSpPr/>
          <p:nvPr/>
        </p:nvSpPr>
        <p:spPr>
          <a:xfrm>
            <a:off x="1600200" y="2843013"/>
            <a:ext cx="793751" cy="79375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3" name="Text 3"/>
          <p:cNvSpPr txBox="1"/>
          <p:nvPr/>
        </p:nvSpPr>
        <p:spPr>
          <a:xfrm>
            <a:off x="1600200" y="3821906"/>
            <a:ext cx="4741069" cy="79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ЗЕЛЕНОЕ ФИНАНСИРОВАНИЕ И ESG</a:t>
            </a:r>
          </a:p>
        </p:txBody>
      </p:sp>
      <p:sp>
        <p:nvSpPr>
          <p:cNvPr id="574" name="Text 4"/>
          <p:cNvSpPr txBox="1"/>
          <p:nvPr/>
        </p:nvSpPr>
        <p:spPr>
          <a:xfrm>
            <a:off x="1600200" y="4759721"/>
            <a:ext cx="4741069" cy="2505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Первый экологичный банк Беларуси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Высокий ESG-рейтинг (At.esg)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Инвестиции в ветропарки, солнечные станции, переработку отходов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Лидер в устойчивом развитии</a:t>
            </a:r>
          </a:p>
        </p:txBody>
      </p:sp>
      <p:sp>
        <p:nvSpPr>
          <p:cNvPr id="575" name="Shape 5"/>
          <p:cNvSpPr/>
          <p:nvPr/>
        </p:nvSpPr>
        <p:spPr>
          <a:xfrm>
            <a:off x="6803628" y="2565796"/>
            <a:ext cx="5295703" cy="5904906"/>
          </a:xfrm>
          <a:prstGeom prst="roundRect">
            <a:avLst>
              <a:gd name="adj" fmla="val 209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6" name="Shape 6"/>
          <p:cNvSpPr/>
          <p:nvPr/>
        </p:nvSpPr>
        <p:spPr>
          <a:xfrm>
            <a:off x="7080845" y="2843013"/>
            <a:ext cx="793751" cy="79375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Text 7"/>
          <p:cNvSpPr txBox="1"/>
          <p:nvPr/>
        </p:nvSpPr>
        <p:spPr>
          <a:xfrm>
            <a:off x="7080845" y="3821906"/>
            <a:ext cx="4741268" cy="79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ГОСУДАРСТВЕННОЕ ФИНАНСИРОВАНИЕ</a:t>
            </a:r>
          </a:p>
        </p:txBody>
      </p:sp>
      <p:sp>
        <p:nvSpPr>
          <p:cNvPr id="578" name="Text 8"/>
          <p:cNvSpPr txBox="1"/>
          <p:nvPr/>
        </p:nvSpPr>
        <p:spPr>
          <a:xfrm>
            <a:off x="7080845" y="4759721"/>
            <a:ext cx="4741268" cy="3224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Специализированный инвестиционный банк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Финансирование государственных программ развития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Поддержка инновационных и инвестиционных проектов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Доступ к государственным ресурсам</a:t>
            </a:r>
          </a:p>
        </p:txBody>
      </p:sp>
      <p:sp>
        <p:nvSpPr>
          <p:cNvPr id="579" name="Shape 9"/>
          <p:cNvSpPr/>
          <p:nvPr/>
        </p:nvSpPr>
        <p:spPr>
          <a:xfrm>
            <a:off x="12284471" y="2565796"/>
            <a:ext cx="5295702" cy="5904906"/>
          </a:xfrm>
          <a:prstGeom prst="roundRect">
            <a:avLst>
              <a:gd name="adj" fmla="val 209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Shape 10"/>
          <p:cNvSpPr/>
          <p:nvPr/>
        </p:nvSpPr>
        <p:spPr>
          <a:xfrm>
            <a:off x="12561688" y="2843013"/>
            <a:ext cx="793751" cy="79375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1" name="Text 11"/>
          <p:cNvSpPr txBox="1"/>
          <p:nvPr/>
        </p:nvSpPr>
        <p:spPr>
          <a:xfrm>
            <a:off x="12561688" y="3821906"/>
            <a:ext cx="3950246" cy="39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ЦИФРОВЫЕ ИННОВАЦИИ</a:t>
            </a:r>
          </a:p>
        </p:txBody>
      </p:sp>
      <p:sp>
        <p:nvSpPr>
          <p:cNvPr id="582" name="Text 12"/>
          <p:cNvSpPr txBox="1"/>
          <p:nvPr/>
        </p:nvSpPr>
        <p:spPr>
          <a:xfrm>
            <a:off x="12561688" y="4346376"/>
            <a:ext cx="4741268" cy="286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Платежный сервис Оплати™ (QR-платежи)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Цифровой офис для бизнеса (ВІВ Контрагент)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Интернет-банкинг и мобильные сервисы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Автоматизация валютного контроля</a:t>
            </a:r>
          </a:p>
        </p:txBody>
      </p:sp>
      <p:sp>
        <p:nvSpPr>
          <p:cNvPr id="583" name="Shape 13"/>
          <p:cNvSpPr/>
          <p:nvPr/>
        </p:nvSpPr>
        <p:spPr>
          <a:xfrm>
            <a:off x="17765314" y="2565796"/>
            <a:ext cx="5295702" cy="5904906"/>
          </a:xfrm>
          <a:prstGeom prst="roundRect">
            <a:avLst>
              <a:gd name="adj" fmla="val 2099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4" name="Shape 14"/>
          <p:cNvSpPr/>
          <p:nvPr/>
        </p:nvSpPr>
        <p:spPr>
          <a:xfrm>
            <a:off x="18042532" y="2843013"/>
            <a:ext cx="793751" cy="79375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5" name="Text 15"/>
          <p:cNvSpPr txBox="1"/>
          <p:nvPr/>
        </p:nvSpPr>
        <p:spPr>
          <a:xfrm>
            <a:off x="18042532" y="3821906"/>
            <a:ext cx="4741268" cy="79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КОРПОРАТИВНОЕ И ИНВЕСТИЦИОННОЕ БАНКИНГ</a:t>
            </a:r>
          </a:p>
        </p:txBody>
      </p:sp>
      <p:sp>
        <p:nvSpPr>
          <p:cNvPr id="586" name="Text 16"/>
          <p:cNvSpPr txBox="1"/>
          <p:nvPr/>
        </p:nvSpPr>
        <p:spPr>
          <a:xfrm>
            <a:off x="18042532" y="5173066"/>
            <a:ext cx="4741268" cy="1785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Обслуживание крупных корпораций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Факторинг и аккредитивы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Международные расчеты (SWIFT)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Выпуск еврооблигаций</a:t>
            </a:r>
          </a:p>
        </p:txBody>
      </p:sp>
      <p:sp>
        <p:nvSpPr>
          <p:cNvPr id="587" name="Shape 17"/>
          <p:cNvSpPr/>
          <p:nvPr/>
        </p:nvSpPr>
        <p:spPr>
          <a:xfrm>
            <a:off x="1322983" y="8655842"/>
            <a:ext cx="21738035" cy="3691733"/>
          </a:xfrm>
          <a:prstGeom prst="roundRect">
            <a:avLst>
              <a:gd name="adj" fmla="val 3011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Shape 18"/>
          <p:cNvSpPr/>
          <p:nvPr/>
        </p:nvSpPr>
        <p:spPr>
          <a:xfrm>
            <a:off x="1600200" y="8933061"/>
            <a:ext cx="793751" cy="79375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Text 19"/>
          <p:cNvSpPr txBox="1"/>
          <p:nvPr/>
        </p:nvSpPr>
        <p:spPr>
          <a:xfrm>
            <a:off x="1600200" y="9911953"/>
            <a:ext cx="3874642" cy="391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СЕТЕВОЕ ПРИСУТСТВИЕ</a:t>
            </a:r>
          </a:p>
        </p:txBody>
      </p:sp>
      <p:sp>
        <p:nvSpPr>
          <p:cNvPr id="590" name="Text 20"/>
          <p:cNvSpPr txBox="1"/>
          <p:nvPr/>
        </p:nvSpPr>
        <p:spPr>
          <a:xfrm>
            <a:off x="1600200" y="10436422"/>
            <a:ext cx="21183601" cy="1425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84 офиса в 30 городах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594 банкомата в 31 городе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Партнерства с другими банками</a:t>
            </a:r>
          </a:p>
          <a:p>
            <a:pPr marL="571500" indent="-571500" defTabSz="1524000">
              <a:lnSpc>
                <a:spcPts val="28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Широкое географическое покрытие</a:t>
            </a:r>
          </a:p>
        </p:txBody>
      </p:sp>
      <p:sp>
        <p:nvSpPr>
          <p:cNvPr id="59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xt 0"/>
          <p:cNvSpPr txBox="1"/>
          <p:nvPr/>
        </p:nvSpPr>
        <p:spPr>
          <a:xfrm>
            <a:off x="1322983" y="1290438"/>
            <a:ext cx="19875724" cy="91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McKinsey 7S: Анализ бизнес-модели БелинвестБанка</a:t>
            </a:r>
          </a:p>
        </p:txBody>
      </p:sp>
      <p:pic>
        <p:nvPicPr>
          <p:cNvPr id="594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22983" y="2719188"/>
            <a:ext cx="17390268" cy="9706174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22983" y="2719188"/>
            <a:ext cx="17390268" cy="9706174"/>
          </a:xfrm>
          <a:prstGeom prst="rect">
            <a:avLst/>
          </a:prstGeom>
          <a:ln w="12700">
            <a:miter lim="400000"/>
          </a:ln>
        </p:spPr>
      </p:pic>
      <p:sp>
        <p:nvSpPr>
          <p:cNvPr id="596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Text 0"/>
          <p:cNvSpPr txBox="1"/>
          <p:nvPr/>
        </p:nvSpPr>
        <p:spPr>
          <a:xfrm>
            <a:off x="1322983" y="1426170"/>
            <a:ext cx="18501073" cy="91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SWOT-матрица: Сводный анализ БелинвестБанка</a:t>
            </a:r>
          </a:p>
        </p:txBody>
      </p:sp>
      <p:sp>
        <p:nvSpPr>
          <p:cNvPr id="599" name="Shape 1"/>
          <p:cNvSpPr/>
          <p:nvPr/>
        </p:nvSpPr>
        <p:spPr>
          <a:xfrm>
            <a:off x="1322983" y="2733873"/>
            <a:ext cx="680443" cy="680442"/>
          </a:xfrm>
          <a:prstGeom prst="roundRect">
            <a:avLst>
              <a:gd name="adj" fmla="val 18668"/>
            </a:avLst>
          </a:prstGeom>
          <a:solidFill>
            <a:srgbClr val="FFFFFF">
              <a:alpha val="58425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Text 2"/>
          <p:cNvSpPr txBox="1"/>
          <p:nvPr/>
        </p:nvSpPr>
        <p:spPr>
          <a:xfrm>
            <a:off x="1536681" y="2790526"/>
            <a:ext cx="252847" cy="45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01" name="Text 3"/>
          <p:cNvSpPr txBox="1"/>
          <p:nvPr/>
        </p:nvSpPr>
        <p:spPr>
          <a:xfrm>
            <a:off x="2245320" y="2837656"/>
            <a:ext cx="4378177" cy="45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28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СИЛЬНЫЕ СТОРОНЫ (S)</a:t>
            </a:r>
          </a:p>
        </p:txBody>
      </p:sp>
      <p:sp>
        <p:nvSpPr>
          <p:cNvPr id="602" name="Text 4"/>
          <p:cNvSpPr txBox="1"/>
          <p:nvPr/>
        </p:nvSpPr>
        <p:spPr>
          <a:xfrm>
            <a:off x="2245320" y="3455193"/>
            <a:ext cx="9795470" cy="2942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Государственная поддержка (99,3% акций)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4-е место по активам (5,072 млрд BYN)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Развитая сеть (84 офиса, 594 банкомата)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ESG-лидер (высокий рейтинг At.esg)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Инновационные продукты (Оплати™)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Международное признание (Fitch, Moody's)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Специализированный инвестиционный банк</a:t>
            </a:r>
          </a:p>
        </p:txBody>
      </p:sp>
      <p:sp>
        <p:nvSpPr>
          <p:cNvPr id="603" name="Shape 5"/>
          <p:cNvSpPr/>
          <p:nvPr/>
        </p:nvSpPr>
        <p:spPr>
          <a:xfrm>
            <a:off x="12343210" y="2733873"/>
            <a:ext cx="680442" cy="680442"/>
          </a:xfrm>
          <a:prstGeom prst="roundRect">
            <a:avLst>
              <a:gd name="adj" fmla="val 18668"/>
            </a:avLst>
          </a:prstGeom>
          <a:solidFill>
            <a:srgbClr val="FFFFFF">
              <a:alpha val="58425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4" name="Text 6"/>
          <p:cNvSpPr txBox="1"/>
          <p:nvPr/>
        </p:nvSpPr>
        <p:spPr>
          <a:xfrm>
            <a:off x="12556907" y="2790526"/>
            <a:ext cx="252847" cy="45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05" name="Text 7"/>
          <p:cNvSpPr txBox="1"/>
          <p:nvPr/>
        </p:nvSpPr>
        <p:spPr>
          <a:xfrm>
            <a:off x="13265546" y="2837656"/>
            <a:ext cx="4237709" cy="454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28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СЛАБЫЕ СТОРОНЫ (W)</a:t>
            </a:r>
          </a:p>
        </p:txBody>
      </p:sp>
      <p:sp>
        <p:nvSpPr>
          <p:cNvPr id="606" name="Text 8"/>
          <p:cNvSpPr txBox="1"/>
          <p:nvPr/>
        </p:nvSpPr>
        <p:spPr>
          <a:xfrm>
            <a:off x="13265546" y="3455193"/>
            <a:ext cx="9795471" cy="2942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Сложный UX мобильного приложения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Отток клиентов к конкурентам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Ограниченные международные операции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Высокие операционные расходы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Недостаточные цифровые сервисы для молодежи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Низкая узнаваемость бренда среди молодого поколения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Зависимость от государственной политики</a:t>
            </a:r>
          </a:p>
        </p:txBody>
      </p:sp>
      <p:sp>
        <p:nvSpPr>
          <p:cNvPr id="607" name="Shape 9"/>
          <p:cNvSpPr/>
          <p:nvPr/>
        </p:nvSpPr>
        <p:spPr>
          <a:xfrm>
            <a:off x="1322983" y="7493792"/>
            <a:ext cx="680443" cy="680443"/>
          </a:xfrm>
          <a:prstGeom prst="roundRect">
            <a:avLst>
              <a:gd name="adj" fmla="val 18668"/>
            </a:avLst>
          </a:prstGeom>
          <a:solidFill>
            <a:srgbClr val="FFFFFF">
              <a:alpha val="58425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8" name="Text 10"/>
          <p:cNvSpPr txBox="1"/>
          <p:nvPr/>
        </p:nvSpPr>
        <p:spPr>
          <a:xfrm>
            <a:off x="1536681" y="7550447"/>
            <a:ext cx="252847" cy="45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09" name="Text 11"/>
          <p:cNvSpPr txBox="1"/>
          <p:nvPr/>
        </p:nvSpPr>
        <p:spPr>
          <a:xfrm>
            <a:off x="2245320" y="7597576"/>
            <a:ext cx="3590926" cy="45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28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ВОЗМОЖНОСТИ (O)</a:t>
            </a:r>
          </a:p>
        </p:txBody>
      </p:sp>
      <p:sp>
        <p:nvSpPr>
          <p:cNvPr id="610" name="Text 12"/>
          <p:cNvSpPr txBox="1"/>
          <p:nvPr/>
        </p:nvSpPr>
        <p:spPr>
          <a:xfrm>
            <a:off x="2245320" y="8215113"/>
            <a:ext cx="9795470" cy="3366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Растущий спрос на цифровые банковские услуги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Развитие зеленого финансирования (ESG-тренд)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Рост доходов населения (+9,9% в 2025)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Исторический минимум безработицы (2,6%)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Развитие МСБ и поддержка предпринимателей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Внедрение AI и автоматизации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Расширение платежных систем (QR-платежи)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Развитие финтех-экосистемы</a:t>
            </a:r>
          </a:p>
        </p:txBody>
      </p:sp>
      <p:sp>
        <p:nvSpPr>
          <p:cNvPr id="611" name="Shape 13"/>
          <p:cNvSpPr/>
          <p:nvPr/>
        </p:nvSpPr>
        <p:spPr>
          <a:xfrm>
            <a:off x="12343210" y="7493792"/>
            <a:ext cx="680442" cy="680443"/>
          </a:xfrm>
          <a:prstGeom prst="roundRect">
            <a:avLst>
              <a:gd name="adj" fmla="val 18668"/>
            </a:avLst>
          </a:prstGeom>
          <a:solidFill>
            <a:srgbClr val="FFFFFF">
              <a:alpha val="58425"/>
            </a:srgbClr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2" name="Text 14"/>
          <p:cNvSpPr txBox="1"/>
          <p:nvPr/>
        </p:nvSpPr>
        <p:spPr>
          <a:xfrm>
            <a:off x="12556907" y="7550447"/>
            <a:ext cx="252847" cy="454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613" name="Text 15"/>
          <p:cNvSpPr txBox="1"/>
          <p:nvPr/>
        </p:nvSpPr>
        <p:spPr>
          <a:xfrm>
            <a:off x="13265546" y="7597576"/>
            <a:ext cx="2097337" cy="45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28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УГРОЗЫ (T)</a:t>
            </a:r>
          </a:p>
        </p:txBody>
      </p:sp>
      <p:sp>
        <p:nvSpPr>
          <p:cNvPr id="614" name="Text 16"/>
          <p:cNvSpPr txBox="1"/>
          <p:nvPr/>
        </p:nvSpPr>
        <p:spPr>
          <a:xfrm>
            <a:off x="13265546" y="8215113"/>
            <a:ext cx="9795471" cy="3366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Высокая конкуренция (Беларусбанк в 7,5 раз больше)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Международные санкции и ограничения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Появление финтех-компаний и цифровых кошельков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Инфляция (7-9% г/г)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Ослабление белорусского рубля (4-6%)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Замедление экономического роста (прогноз 0-1,5% в 2026)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Директивные ограничения на кредитование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Цифровизация конкурентов</a:t>
            </a:r>
          </a:p>
        </p:txBody>
      </p:sp>
      <p:sp>
        <p:nvSpPr>
          <p:cNvPr id="615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Text 0"/>
          <p:cNvSpPr txBox="1"/>
          <p:nvPr/>
        </p:nvSpPr>
        <p:spPr>
          <a:xfrm>
            <a:off x="836613" y="3054746"/>
            <a:ext cx="15281202" cy="72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800"/>
              </a:lnSpc>
              <a:spcBef>
                <a:spcPts val="0"/>
              </a:spcBef>
              <a:defRPr b="1" sz="4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Ключевые выводы и стратегические рекомендации</a:t>
            </a:r>
          </a:p>
        </p:txBody>
      </p:sp>
      <p:sp>
        <p:nvSpPr>
          <p:cNvPr id="618" name="Shape 1"/>
          <p:cNvSpPr/>
          <p:nvPr/>
        </p:nvSpPr>
        <p:spPr>
          <a:xfrm>
            <a:off x="664566" y="4028480"/>
            <a:ext cx="11407974" cy="3810001"/>
          </a:xfrm>
          <a:prstGeom prst="roundRect">
            <a:avLst>
              <a:gd name="adj" fmla="val 4517"/>
            </a:avLst>
          </a:prstGeom>
          <a:solidFill>
            <a:srgbClr val="E8F5E9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9" name="Text 2"/>
          <p:cNvSpPr txBox="1"/>
          <p:nvPr/>
        </p:nvSpPr>
        <p:spPr>
          <a:xfrm>
            <a:off x="903487" y="4179490"/>
            <a:ext cx="10930136" cy="7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b="1" sz="2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ГЛАВНАЯ ВОЗМОЖНОСТЬ: Цифровая трансформация и развитие сервисов для молодежи</a:t>
            </a:r>
          </a:p>
        </p:txBody>
      </p:sp>
      <p:sp>
        <p:nvSpPr>
          <p:cNvPr id="620" name="Text 3"/>
          <p:cNvSpPr txBox="1"/>
          <p:nvPr/>
        </p:nvSpPr>
        <p:spPr>
          <a:xfrm>
            <a:off x="903487" y="5077419"/>
            <a:ext cx="10930136" cy="236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Молодое население Беларуси активно переходит на цифровые банковские услуги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Рост доходов населения (+9,9%) и исторический минимум безработицы (2,6%) создают спрос на финансовые инструменты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БелинвестБанк может стать лидером в цифровом банкинге, внедрив AI-агентов и улучшив UX мобильного приложения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Развитие платежной экосистемы (Оплати™) и финтех-сервисов откроет новые сегменты клиентов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Потенциал: увеличение доли молодых клиентов на 30-40% в течение 2-3 лет</a:t>
            </a:r>
          </a:p>
        </p:txBody>
      </p:sp>
      <p:sp>
        <p:nvSpPr>
          <p:cNvPr id="621" name="Shape 4"/>
          <p:cNvSpPr/>
          <p:nvPr/>
        </p:nvSpPr>
        <p:spPr>
          <a:xfrm>
            <a:off x="12324160" y="4028480"/>
            <a:ext cx="11407973" cy="3810001"/>
          </a:xfrm>
          <a:prstGeom prst="roundRect">
            <a:avLst>
              <a:gd name="adj" fmla="val 4517"/>
            </a:avLst>
          </a:prstGeom>
          <a:solidFill>
            <a:srgbClr val="FFEBEE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Text 5"/>
          <p:cNvSpPr txBox="1"/>
          <p:nvPr/>
        </p:nvSpPr>
        <p:spPr>
          <a:xfrm>
            <a:off x="12563078" y="4179490"/>
            <a:ext cx="9324033" cy="352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b="1" sz="2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ГЛАВНЫЙ РИСК: Усиление конкуренции и потеря рыночной доли</a:t>
            </a:r>
          </a:p>
        </p:txBody>
      </p:sp>
      <p:sp>
        <p:nvSpPr>
          <p:cNvPr id="623" name="Text 6"/>
          <p:cNvSpPr txBox="1"/>
          <p:nvPr/>
        </p:nvSpPr>
        <p:spPr>
          <a:xfrm>
            <a:off x="12563078" y="4703961"/>
            <a:ext cx="10930137" cy="206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Беларусбанк в 7,5 раз больше по активам и активно развивает цифровые сервисы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Появление финтех-компаний и цифровых кошельков создает альтернативы традиционному банкингу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Международные санкции ограничивают возможности расширения и привлечения иностранного капитала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Замедление экономического роста (прогноз 0-1,5% в 2026) снизит спрос на кредиты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Риск: потеря 10-15% клиентской базы в течение 2 лет без активных мер</a:t>
            </a:r>
          </a:p>
        </p:txBody>
      </p:sp>
      <p:sp>
        <p:nvSpPr>
          <p:cNvPr id="624" name="Text 7"/>
          <p:cNvSpPr txBox="1"/>
          <p:nvPr/>
        </p:nvSpPr>
        <p:spPr>
          <a:xfrm>
            <a:off x="836613" y="8065094"/>
            <a:ext cx="7113365" cy="579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Стратегические рекомендации</a:t>
            </a:r>
          </a:p>
        </p:txBody>
      </p:sp>
      <p:sp>
        <p:nvSpPr>
          <p:cNvPr id="625" name="Text 8"/>
          <p:cNvSpPr txBox="1"/>
          <p:nvPr/>
        </p:nvSpPr>
        <p:spPr>
          <a:xfrm>
            <a:off x="836613" y="8889207"/>
            <a:ext cx="22710774" cy="147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AutoNum type="arabicPeriod" startAt="1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Срочно улучшить UX мобильного приложения (внедрить AI-ассистента)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AutoNum type="arabicPeriod" startAt="2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Запустить целевую программу привлечения молодежи (студенты, молодые специалисты)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AutoNum type="arabicPeriod" startAt="3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Развивать ESG-позиционирование как конкурентное преимущество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AutoNum type="arabicPeriod" startAt="4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Расширить партнерства с финтех-компаниями вместо прямой конкуренции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AutoNum type="arabicPeriod" startAt="5"/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Укрепить позицию в сегменте МСБ и государственного финансирования</a:t>
            </a:r>
          </a:p>
        </p:txBody>
      </p:sp>
      <p:sp>
        <p:nvSpPr>
          <p:cNvPr id="626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1" cy="4725392"/>
          </a:xfrm>
          <a:prstGeom prst="rect">
            <a:avLst/>
          </a:prstGeom>
          <a:ln w="12700">
            <a:miter lim="400000"/>
          </a:ln>
        </p:spPr>
      </p:pic>
      <p:sp>
        <p:nvSpPr>
          <p:cNvPr id="629" name="Text 0"/>
          <p:cNvSpPr txBox="1"/>
          <p:nvPr/>
        </p:nvSpPr>
        <p:spPr>
          <a:xfrm>
            <a:off x="1322983" y="6635948"/>
            <a:ext cx="21738036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Сбор полевой информации</a:t>
            </a:r>
          </a:p>
        </p:txBody>
      </p:sp>
      <p:sp>
        <p:nvSpPr>
          <p:cNvPr id="630" name="Text 1"/>
          <p:cNvSpPr txBox="1"/>
          <p:nvPr/>
        </p:nvSpPr>
        <p:spPr>
          <a:xfrm>
            <a:off x="1322983" y="9565481"/>
            <a:ext cx="21738036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Цель работы: Собрать первичные данные от реальных или потенциальных пользователей для проверки гипотез и корректировки идеи продукта</a:t>
            </a:r>
          </a:p>
        </p:txBody>
      </p:sp>
      <p:sp>
        <p:nvSpPr>
          <p:cNvPr id="63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Text 0"/>
          <p:cNvSpPr txBox="1"/>
          <p:nvPr/>
        </p:nvSpPr>
        <p:spPr>
          <a:xfrm>
            <a:off x="1322983" y="3836590"/>
            <a:ext cx="13178186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Задание и структура работы</a:t>
            </a:r>
          </a:p>
        </p:txBody>
      </p:sp>
      <p:sp>
        <p:nvSpPr>
          <p:cNvPr id="634" name="Shape 1"/>
          <p:cNvSpPr/>
          <p:nvPr/>
        </p:nvSpPr>
        <p:spPr>
          <a:xfrm>
            <a:off x="1050726" y="5584825"/>
            <a:ext cx="10952362" cy="429458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5" name="Text 2"/>
          <p:cNvSpPr txBox="1"/>
          <p:nvPr/>
        </p:nvSpPr>
        <p:spPr>
          <a:xfrm>
            <a:off x="1428750" y="5962848"/>
            <a:ext cx="1934370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Задание</a:t>
            </a:r>
          </a:p>
        </p:txBody>
      </p:sp>
      <p:sp>
        <p:nvSpPr>
          <p:cNvPr id="636" name="Text 3"/>
          <p:cNvSpPr txBox="1"/>
          <p:nvPr/>
        </p:nvSpPr>
        <p:spPr>
          <a:xfrm>
            <a:off x="1428750" y="6931421"/>
            <a:ext cx="10196314" cy="1741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Проведите исследование среди представителей вашей целевой аудитории. Оформите результаты в соответствии со следующей структурой.</a:t>
            </a:r>
          </a:p>
        </p:txBody>
      </p:sp>
      <p:sp>
        <p:nvSpPr>
          <p:cNvPr id="637" name="Shape 4"/>
          <p:cNvSpPr/>
          <p:nvPr/>
        </p:nvSpPr>
        <p:spPr>
          <a:xfrm>
            <a:off x="12393613" y="5584825"/>
            <a:ext cx="10952362" cy="429458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8" name="Text 5"/>
          <p:cNvSpPr txBox="1"/>
          <p:nvPr/>
        </p:nvSpPr>
        <p:spPr>
          <a:xfrm>
            <a:off x="12771636" y="5962848"/>
            <a:ext cx="4375970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Структура анализа</a:t>
            </a:r>
          </a:p>
        </p:txBody>
      </p:sp>
      <p:sp>
        <p:nvSpPr>
          <p:cNvPr id="639" name="Text 6"/>
          <p:cNvSpPr txBox="1"/>
          <p:nvPr/>
        </p:nvSpPr>
        <p:spPr>
          <a:xfrm>
            <a:off x="12771636" y="6931421"/>
            <a:ext cx="10196314" cy="233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AutoNum type="arabicPeriod" startAt="1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Гипотезы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AutoNum type="arabicPeriod" startAt="2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Методология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AutoNum type="arabicPeriod" startAt="3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Результаты исследования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AutoNum type="arabicPeriod" startAt="4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Инсайты и выводы</a:t>
            </a:r>
          </a:p>
        </p:txBody>
      </p:sp>
      <p:sp>
        <p:nvSpPr>
          <p:cNvPr id="640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 0"/>
          <p:cNvSpPr txBox="1"/>
          <p:nvPr/>
        </p:nvSpPr>
        <p:spPr>
          <a:xfrm>
            <a:off x="1668365" y="750260"/>
            <a:ext cx="6795314" cy="1747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Гипотезы</a:t>
            </a:r>
          </a:p>
        </p:txBody>
      </p:sp>
      <p:sp>
        <p:nvSpPr>
          <p:cNvPr id="643" name="Shape 2"/>
          <p:cNvSpPr/>
          <p:nvPr/>
        </p:nvSpPr>
        <p:spPr>
          <a:xfrm>
            <a:off x="1251670" y="6342600"/>
            <a:ext cx="10679908" cy="1991123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4" name="Text 3"/>
          <p:cNvSpPr txBox="1"/>
          <p:nvPr/>
        </p:nvSpPr>
        <p:spPr>
          <a:xfrm>
            <a:off x="1642392" y="6733323"/>
            <a:ext cx="9898462" cy="1183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4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Что пользователям не хватает удобного приложения </a:t>
            </a:r>
          </a:p>
        </p:txBody>
      </p:sp>
      <p:sp>
        <p:nvSpPr>
          <p:cNvPr id="645" name="Shape 6"/>
          <p:cNvSpPr/>
          <p:nvPr/>
        </p:nvSpPr>
        <p:spPr>
          <a:xfrm>
            <a:off x="1251670" y="9379486"/>
            <a:ext cx="10679908" cy="2595961"/>
          </a:xfrm>
          <a:prstGeom prst="roundRect">
            <a:avLst>
              <a:gd name="adj" fmla="val 6116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6" name="Text 7"/>
          <p:cNvSpPr txBox="1"/>
          <p:nvPr/>
        </p:nvSpPr>
        <p:spPr>
          <a:xfrm>
            <a:off x="1642392" y="9770209"/>
            <a:ext cx="9898462" cy="1183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4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Что целевая аудитория предпочитает внедрения помощника (AI agent)</a:t>
            </a:r>
          </a:p>
        </p:txBody>
      </p:sp>
      <p:sp>
        <p:nvSpPr>
          <p:cNvPr id="647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8" name="Мы предполагаем:"/>
          <p:cNvSpPr txBox="1"/>
          <p:nvPr/>
        </p:nvSpPr>
        <p:spPr>
          <a:xfrm>
            <a:off x="1444933" y="3405746"/>
            <a:ext cx="9850312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Мы предполагаем:</a:t>
            </a:r>
          </a:p>
        </p:txBody>
      </p:sp>
      <p:sp>
        <p:nvSpPr>
          <p:cNvPr id="649" name="Shape 2"/>
          <p:cNvSpPr/>
          <p:nvPr/>
        </p:nvSpPr>
        <p:spPr>
          <a:xfrm>
            <a:off x="12845367" y="6329577"/>
            <a:ext cx="10679908" cy="1991123"/>
          </a:xfrm>
          <a:prstGeom prst="roundRect">
            <a:avLst>
              <a:gd name="adj" fmla="val 7974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0" name="Text 3"/>
          <p:cNvSpPr txBox="1"/>
          <p:nvPr/>
        </p:nvSpPr>
        <p:spPr>
          <a:xfrm>
            <a:off x="13236089" y="6720301"/>
            <a:ext cx="9898461" cy="1183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4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Пользователи желают гибкого интерфейса</a:t>
            </a:r>
          </a:p>
        </p:txBody>
      </p:sp>
      <p:sp>
        <p:nvSpPr>
          <p:cNvPr id="651" name="Shape 6"/>
          <p:cNvSpPr/>
          <p:nvPr/>
        </p:nvSpPr>
        <p:spPr>
          <a:xfrm>
            <a:off x="12845367" y="9379486"/>
            <a:ext cx="10679908" cy="2595961"/>
          </a:xfrm>
          <a:prstGeom prst="roundRect">
            <a:avLst>
              <a:gd name="adj" fmla="val 6116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Text 7"/>
          <p:cNvSpPr txBox="1"/>
          <p:nvPr/>
        </p:nvSpPr>
        <p:spPr>
          <a:xfrm>
            <a:off x="13236089" y="9770209"/>
            <a:ext cx="9898461" cy="1183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4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Понизить порог вхождения в приложение</a:t>
            </a:r>
          </a:p>
        </p:txBody>
      </p:sp>
      <p:sp>
        <p:nvSpPr>
          <p:cNvPr id="653" name="Line"/>
          <p:cNvSpPr/>
          <p:nvPr/>
        </p:nvSpPr>
        <p:spPr>
          <a:xfrm>
            <a:off x="11945746" y="10677466"/>
            <a:ext cx="8854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54" name="Line"/>
          <p:cNvSpPr/>
          <p:nvPr/>
        </p:nvSpPr>
        <p:spPr>
          <a:xfrm>
            <a:off x="11945746" y="7261166"/>
            <a:ext cx="88545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 0"/>
          <p:cNvSpPr txBox="1"/>
          <p:nvPr/>
        </p:nvSpPr>
        <p:spPr>
          <a:xfrm>
            <a:off x="1322983" y="3279378"/>
            <a:ext cx="19507548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Методология: Инструменты сбора данных</a:t>
            </a:r>
          </a:p>
        </p:txBody>
      </p:sp>
      <p:sp>
        <p:nvSpPr>
          <p:cNvPr id="657" name="Shape 1"/>
          <p:cNvSpPr/>
          <p:nvPr/>
        </p:nvSpPr>
        <p:spPr>
          <a:xfrm>
            <a:off x="1322983" y="5808463"/>
            <a:ext cx="699393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Text 2"/>
          <p:cNvSpPr txBox="1"/>
          <p:nvPr/>
        </p:nvSpPr>
        <p:spPr>
          <a:xfrm>
            <a:off x="1322983" y="6098976"/>
            <a:ext cx="6394426" cy="568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8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Инструмент сбора данных</a:t>
            </a:r>
          </a:p>
        </p:txBody>
      </p:sp>
      <p:sp>
        <p:nvSpPr>
          <p:cNvPr id="659" name="Text 3"/>
          <p:cNvSpPr txBox="1"/>
          <p:nvPr/>
        </p:nvSpPr>
        <p:spPr>
          <a:xfrm>
            <a:off x="1392060" y="7645042"/>
            <a:ext cx="5755750" cy="23631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3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Опрос составлен посредством инструмента Google Forms</a:t>
            </a:r>
          </a:p>
        </p:txBody>
      </p:sp>
      <p:sp>
        <p:nvSpPr>
          <p:cNvPr id="660" name="Shape 5"/>
          <p:cNvSpPr/>
          <p:nvPr/>
        </p:nvSpPr>
        <p:spPr>
          <a:xfrm>
            <a:off x="8694936" y="5808463"/>
            <a:ext cx="6993931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1" name="Text 6"/>
          <p:cNvSpPr txBox="1"/>
          <p:nvPr/>
        </p:nvSpPr>
        <p:spPr>
          <a:xfrm>
            <a:off x="8695035" y="6113232"/>
            <a:ext cx="6993930" cy="1139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8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Качественные глубинные интервью</a:t>
            </a:r>
          </a:p>
        </p:txBody>
      </p:sp>
      <p:sp>
        <p:nvSpPr>
          <p:cNvPr id="662" name="Text 7"/>
          <p:cNvSpPr txBox="1"/>
          <p:nvPr/>
        </p:nvSpPr>
        <p:spPr>
          <a:xfrm>
            <a:off x="8695035" y="7760170"/>
            <a:ext cx="6993930" cy="1177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3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Количество человек для анализа – </a:t>
            </a:r>
            <a:r>
              <a:rPr b="1"/>
              <a:t>40</a:t>
            </a:r>
          </a:p>
        </p:txBody>
      </p:sp>
      <p:sp>
        <p:nvSpPr>
          <p:cNvPr id="663" name="Shape 9"/>
          <p:cNvSpPr/>
          <p:nvPr/>
        </p:nvSpPr>
        <p:spPr>
          <a:xfrm>
            <a:off x="16066889" y="5808463"/>
            <a:ext cx="6993930" cy="508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4" name="Text 10"/>
          <p:cNvSpPr txBox="1"/>
          <p:nvPr/>
        </p:nvSpPr>
        <p:spPr>
          <a:xfrm>
            <a:off x="17310265" y="6101897"/>
            <a:ext cx="3738837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Анализ отзывов</a:t>
            </a:r>
          </a:p>
        </p:txBody>
      </p:sp>
      <p:sp>
        <p:nvSpPr>
          <p:cNvPr id="665" name="Text 11"/>
          <p:cNvSpPr txBox="1"/>
          <p:nvPr/>
        </p:nvSpPr>
        <p:spPr>
          <a:xfrm>
            <a:off x="17013135" y="7463836"/>
            <a:ext cx="6005713" cy="1770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3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Поиск упоминаний о интерфейсе и AI-функциях</a:t>
            </a:r>
          </a:p>
        </p:txBody>
      </p:sp>
      <p:sp>
        <p:nvSpPr>
          <p:cNvPr id="666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 0"/>
          <p:cNvSpPr txBox="1"/>
          <p:nvPr/>
        </p:nvSpPr>
        <p:spPr>
          <a:xfrm>
            <a:off x="1313260" y="1035446"/>
            <a:ext cx="15750271" cy="851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800"/>
              </a:lnSpc>
              <a:spcBef>
                <a:spcPts val="0"/>
              </a:spcBef>
              <a:defRPr b="1" sz="5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Результаты исследования: Ключевые цифры</a:t>
            </a:r>
          </a:p>
        </p:txBody>
      </p:sp>
      <p:sp>
        <p:nvSpPr>
          <p:cNvPr id="669" name="Text 1"/>
          <p:cNvSpPr txBox="1"/>
          <p:nvPr/>
        </p:nvSpPr>
        <p:spPr>
          <a:xfrm>
            <a:off x="5994294" y="4163020"/>
            <a:ext cx="1385306" cy="71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5500"/>
              </a:lnSpc>
              <a:spcBef>
                <a:spcPts val="0"/>
              </a:spcBef>
              <a:defRPr b="1" sz="5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87%</a:t>
            </a:r>
          </a:p>
        </p:txBody>
      </p:sp>
      <p:pic>
        <p:nvPicPr>
          <p:cNvPr id="67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6365" y="2404070"/>
            <a:ext cx="4221561" cy="4221561"/>
          </a:xfrm>
          <a:prstGeom prst="rect">
            <a:avLst/>
          </a:prstGeom>
          <a:ln w="12700">
            <a:miter lim="400000"/>
          </a:ln>
        </p:spPr>
      </p:pic>
      <p:sp>
        <p:nvSpPr>
          <p:cNvPr id="671" name="Text 2"/>
          <p:cNvSpPr txBox="1"/>
          <p:nvPr/>
        </p:nvSpPr>
        <p:spPr>
          <a:xfrm>
            <a:off x="1655968" y="6905228"/>
            <a:ext cx="10062357" cy="38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пользователей недовольны текущим интерфейсом приложений</a:t>
            </a:r>
          </a:p>
        </p:txBody>
      </p:sp>
      <p:sp>
        <p:nvSpPr>
          <p:cNvPr id="672" name="Text 3"/>
          <p:cNvSpPr txBox="1"/>
          <p:nvPr/>
        </p:nvSpPr>
        <p:spPr>
          <a:xfrm>
            <a:off x="17003805" y="4163020"/>
            <a:ext cx="1385306" cy="716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5500"/>
              </a:lnSpc>
              <a:spcBef>
                <a:spcPts val="0"/>
              </a:spcBef>
              <a:defRPr b="1" sz="5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92%</a:t>
            </a:r>
          </a:p>
        </p:txBody>
      </p:sp>
      <p:pic>
        <p:nvPicPr>
          <p:cNvPr id="673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585876" y="2404070"/>
            <a:ext cx="4221561" cy="4221561"/>
          </a:xfrm>
          <a:prstGeom prst="rect">
            <a:avLst/>
          </a:prstGeom>
          <a:ln w="12700">
            <a:miter lim="400000"/>
          </a:ln>
        </p:spPr>
      </p:pic>
      <p:sp>
        <p:nvSpPr>
          <p:cNvPr id="674" name="Text 4"/>
          <p:cNvSpPr txBox="1"/>
          <p:nvPr/>
        </p:nvSpPr>
        <p:spPr>
          <a:xfrm>
            <a:off x="13051561" y="6905228"/>
            <a:ext cx="9290386" cy="380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готовы использовать AI-помощника для упрощения работы</a:t>
            </a:r>
          </a:p>
        </p:txBody>
      </p:sp>
      <p:sp>
        <p:nvSpPr>
          <p:cNvPr id="675" name="Text 5"/>
          <p:cNvSpPr txBox="1"/>
          <p:nvPr/>
        </p:nvSpPr>
        <p:spPr>
          <a:xfrm>
            <a:off x="5994294" y="9545836"/>
            <a:ext cx="1385306" cy="716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5500"/>
              </a:lnSpc>
              <a:spcBef>
                <a:spcPts val="0"/>
              </a:spcBef>
              <a:defRPr b="1" sz="5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78%</a:t>
            </a:r>
          </a:p>
        </p:txBody>
      </p:sp>
      <p:pic>
        <p:nvPicPr>
          <p:cNvPr id="676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576365" y="7786886"/>
            <a:ext cx="4221561" cy="4221561"/>
          </a:xfrm>
          <a:prstGeom prst="rect">
            <a:avLst/>
          </a:prstGeom>
          <a:ln w="12700">
            <a:miter lim="400000"/>
          </a:ln>
        </p:spPr>
      </p:pic>
      <p:sp>
        <p:nvSpPr>
          <p:cNvPr id="677" name="Text 6"/>
          <p:cNvSpPr txBox="1"/>
          <p:nvPr/>
        </p:nvSpPr>
        <p:spPr>
          <a:xfrm>
            <a:off x="3303098" y="12288042"/>
            <a:ext cx="6768096" cy="38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хотят гибкого интерфейса под свои нужды</a:t>
            </a:r>
          </a:p>
        </p:txBody>
      </p:sp>
      <p:sp>
        <p:nvSpPr>
          <p:cNvPr id="678" name="Text 7"/>
          <p:cNvSpPr txBox="1"/>
          <p:nvPr/>
        </p:nvSpPr>
        <p:spPr>
          <a:xfrm>
            <a:off x="17003805" y="9545836"/>
            <a:ext cx="1385306" cy="716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5500"/>
              </a:lnSpc>
              <a:spcBef>
                <a:spcPts val="0"/>
              </a:spcBef>
              <a:defRPr b="1" sz="5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98%</a:t>
            </a:r>
          </a:p>
        </p:txBody>
      </p:sp>
      <p:pic>
        <p:nvPicPr>
          <p:cNvPr id="679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585876" y="7786886"/>
            <a:ext cx="4221561" cy="4221561"/>
          </a:xfrm>
          <a:prstGeom prst="rect">
            <a:avLst/>
          </a:prstGeom>
          <a:ln w="12700">
            <a:miter lim="400000"/>
          </a:ln>
        </p:spPr>
      </p:pic>
      <p:sp>
        <p:nvSpPr>
          <p:cNvPr id="680" name="Text 8"/>
          <p:cNvSpPr txBox="1"/>
          <p:nvPr/>
        </p:nvSpPr>
        <p:spPr>
          <a:xfrm>
            <a:off x="15547731" y="12288042"/>
            <a:ext cx="4298046" cy="38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1524000">
              <a:lnSpc>
                <a:spcPts val="3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предпочитают приложение</a:t>
            </a:r>
          </a:p>
        </p:txBody>
      </p:sp>
      <p:sp>
        <p:nvSpPr>
          <p:cNvPr id="68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Text 0"/>
          <p:cNvSpPr txBox="1"/>
          <p:nvPr/>
        </p:nvSpPr>
        <p:spPr>
          <a:xfrm>
            <a:off x="1322983" y="2423516"/>
            <a:ext cx="19725879" cy="1141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Цитаты и скриншоты: Голос пользователя</a:t>
            </a:r>
          </a:p>
        </p:txBody>
      </p:sp>
      <p:sp>
        <p:nvSpPr>
          <p:cNvPr id="684" name="Shape 1"/>
          <p:cNvSpPr/>
          <p:nvPr/>
        </p:nvSpPr>
        <p:spPr>
          <a:xfrm>
            <a:off x="1322983" y="4360863"/>
            <a:ext cx="10679908" cy="3881637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508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8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6968" y="4184848"/>
            <a:ext cx="453629" cy="453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725275" y="7964885"/>
            <a:ext cx="453629" cy="453629"/>
          </a:xfrm>
          <a:prstGeom prst="rect">
            <a:avLst/>
          </a:prstGeom>
          <a:ln w="12700">
            <a:miter lim="400000"/>
          </a:ln>
        </p:spPr>
      </p:pic>
      <p:sp>
        <p:nvSpPr>
          <p:cNvPr id="687" name="Text 2"/>
          <p:cNvSpPr txBox="1"/>
          <p:nvPr/>
        </p:nvSpPr>
        <p:spPr>
          <a:xfrm>
            <a:off x="1940718" y="4978598"/>
            <a:ext cx="9444436" cy="1741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"Я трачу 2 часа в день на ручную обработку данных. Если бы была автоматизация, это бы сэкономило мне кучу времени"</a:t>
            </a:r>
          </a:p>
        </p:txBody>
      </p:sp>
      <p:sp>
        <p:nvSpPr>
          <p:cNvPr id="688" name="Text 3"/>
          <p:cNvSpPr txBox="1"/>
          <p:nvPr/>
        </p:nvSpPr>
        <p:spPr>
          <a:xfrm>
            <a:off x="1940718" y="7019925"/>
            <a:ext cx="6830220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– Иван, 32 года, менеджер по продажам</a:t>
            </a:r>
          </a:p>
        </p:txBody>
      </p:sp>
      <p:sp>
        <p:nvSpPr>
          <p:cNvPr id="689" name="Shape 4"/>
          <p:cNvSpPr/>
          <p:nvPr/>
        </p:nvSpPr>
        <p:spPr>
          <a:xfrm>
            <a:off x="12380913" y="4360863"/>
            <a:ext cx="10680105" cy="3881637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508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90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04898" y="4184848"/>
            <a:ext cx="453629" cy="453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783403" y="7964885"/>
            <a:ext cx="453629" cy="453629"/>
          </a:xfrm>
          <a:prstGeom prst="rect">
            <a:avLst/>
          </a:prstGeom>
          <a:ln w="12700">
            <a:miter lim="400000"/>
          </a:ln>
        </p:spPr>
      </p:pic>
      <p:sp>
        <p:nvSpPr>
          <p:cNvPr id="692" name="Text 5"/>
          <p:cNvSpPr txBox="1"/>
          <p:nvPr/>
        </p:nvSpPr>
        <p:spPr>
          <a:xfrm>
            <a:off x="12998648" y="4978598"/>
            <a:ext cx="9444635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"Цена кажется высокой, но если бы было пробное предложение на месяц, я бы точно попробовал"</a:t>
            </a:r>
          </a:p>
        </p:txBody>
      </p:sp>
      <p:sp>
        <p:nvSpPr>
          <p:cNvPr id="693" name="Text 6"/>
          <p:cNvSpPr txBox="1"/>
          <p:nvPr/>
        </p:nvSpPr>
        <p:spPr>
          <a:xfrm>
            <a:off x="12998648" y="6415088"/>
            <a:ext cx="4750446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– Мария, 28 лет, фрилансер</a:t>
            </a:r>
          </a:p>
        </p:txBody>
      </p:sp>
      <p:sp>
        <p:nvSpPr>
          <p:cNvPr id="694" name="Shape 7"/>
          <p:cNvSpPr/>
          <p:nvPr/>
        </p:nvSpPr>
        <p:spPr>
          <a:xfrm>
            <a:off x="1322983" y="8620521"/>
            <a:ext cx="21738035" cy="2671963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 w="508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695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6968" y="8444508"/>
            <a:ext cx="453629" cy="453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" name="Image 5" descr="Imag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783403" y="11014867"/>
            <a:ext cx="453629" cy="453630"/>
          </a:xfrm>
          <a:prstGeom prst="rect">
            <a:avLst/>
          </a:prstGeom>
          <a:ln w="12700">
            <a:miter lim="400000"/>
          </a:ln>
        </p:spPr>
      </p:pic>
      <p:sp>
        <p:nvSpPr>
          <p:cNvPr id="697" name="Text 8"/>
          <p:cNvSpPr txBox="1"/>
          <p:nvPr/>
        </p:nvSpPr>
        <p:spPr>
          <a:xfrm>
            <a:off x="1940718" y="9238258"/>
            <a:ext cx="17617332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"Главное — чтобы это работало с нашей текущей системой. Интеграция — это наша главная проблема"</a:t>
            </a:r>
          </a:p>
        </p:txBody>
      </p:sp>
      <p:sp>
        <p:nvSpPr>
          <p:cNvPr id="698" name="Text 9"/>
          <p:cNvSpPr txBox="1"/>
          <p:nvPr/>
        </p:nvSpPr>
        <p:spPr>
          <a:xfrm>
            <a:off x="1940718" y="10069910"/>
            <a:ext cx="3780186" cy="55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– , 45 лет, IT-директор</a:t>
            </a:r>
          </a:p>
        </p:txBody>
      </p:sp>
      <p:sp>
        <p:nvSpPr>
          <p:cNvPr id="699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 0"/>
          <p:cNvSpPr txBox="1"/>
          <p:nvPr/>
        </p:nvSpPr>
        <p:spPr>
          <a:xfrm>
            <a:off x="1322983" y="1440260"/>
            <a:ext cx="15060589" cy="1101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8800"/>
              </a:lnSpc>
              <a:spcBef>
                <a:spcPts val="0"/>
              </a:spcBef>
              <a:defRPr b="1" sz="7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Инсайты: Неочевидные открытия</a:t>
            </a:r>
          </a:p>
        </p:txBody>
      </p:sp>
      <p:sp>
        <p:nvSpPr>
          <p:cNvPr id="702" name="Shape 1"/>
          <p:cNvSpPr/>
          <p:nvPr/>
        </p:nvSpPr>
        <p:spPr>
          <a:xfrm>
            <a:off x="1322983" y="3244850"/>
            <a:ext cx="7018538" cy="9030692"/>
          </a:xfrm>
          <a:prstGeom prst="roundRect">
            <a:avLst>
              <a:gd name="adj" fmla="val 2149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3" name="Text 2"/>
          <p:cNvSpPr txBox="1"/>
          <p:nvPr/>
        </p:nvSpPr>
        <p:spPr>
          <a:xfrm>
            <a:off x="1694657" y="3616523"/>
            <a:ext cx="6275187" cy="1089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3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Скрытые проблемы пользователей</a:t>
            </a:r>
          </a:p>
        </p:txBody>
      </p:sp>
      <p:sp>
        <p:nvSpPr>
          <p:cNvPr id="704" name="Text 3"/>
          <p:cNvSpPr txBox="1"/>
          <p:nvPr/>
        </p:nvSpPr>
        <p:spPr>
          <a:xfrm>
            <a:off x="1694657" y="4943078"/>
            <a:ext cx="6275187" cy="5469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Пользователи не просто хотят красивый интерфейс, они хотят интерфейс, который работает как они думают</a:t>
            </a:r>
          </a:p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Главная боль — не функциональность, а сложность навигации и обучения</a:t>
            </a:r>
          </a:p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AI-помощник воспринимается не как "фишка", а как необходимость для быстрого старта</a:t>
            </a:r>
          </a:p>
        </p:txBody>
      </p:sp>
      <p:sp>
        <p:nvSpPr>
          <p:cNvPr id="705" name="Shape 4"/>
          <p:cNvSpPr/>
          <p:nvPr/>
        </p:nvSpPr>
        <p:spPr>
          <a:xfrm>
            <a:off x="8682633" y="3244850"/>
            <a:ext cx="7018538" cy="9030692"/>
          </a:xfrm>
          <a:prstGeom prst="roundRect">
            <a:avLst>
              <a:gd name="adj" fmla="val 2149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Text 5"/>
          <p:cNvSpPr txBox="1"/>
          <p:nvPr/>
        </p:nvSpPr>
        <p:spPr>
          <a:xfrm>
            <a:off x="9054306" y="3616523"/>
            <a:ext cx="6275187" cy="164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3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Противоречия с первоначальными предположениями</a:t>
            </a:r>
          </a:p>
        </p:txBody>
      </p:sp>
      <p:sp>
        <p:nvSpPr>
          <p:cNvPr id="707" name="Text 6"/>
          <p:cNvSpPr txBox="1"/>
          <p:nvPr/>
        </p:nvSpPr>
        <p:spPr>
          <a:xfrm>
            <a:off x="9054306" y="5504062"/>
            <a:ext cx="6275187" cy="3818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Гипотеза: "Нужен красивый дизайн" → Реальность: "Нужен интуитивный и гибкий интерфейс"</a:t>
            </a:r>
          </a:p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Гипотеза: "AI — это дополнение" → Реальность: "AI — это основной инструмент для снижения порога входа"</a:t>
            </a:r>
          </a:p>
        </p:txBody>
      </p:sp>
      <p:sp>
        <p:nvSpPr>
          <p:cNvPr id="708" name="Shape 7"/>
          <p:cNvSpPr/>
          <p:nvPr/>
        </p:nvSpPr>
        <p:spPr>
          <a:xfrm>
            <a:off x="16042282" y="3244850"/>
            <a:ext cx="7018538" cy="9030692"/>
          </a:xfrm>
          <a:prstGeom prst="roundRect">
            <a:avLst>
              <a:gd name="adj" fmla="val 2149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9" name="Text 8"/>
          <p:cNvSpPr txBox="1"/>
          <p:nvPr/>
        </p:nvSpPr>
        <p:spPr>
          <a:xfrm>
            <a:off x="16413956" y="3616523"/>
            <a:ext cx="6275187" cy="1089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300"/>
              </a:lnSpc>
              <a:spcBef>
                <a:spcPts val="0"/>
              </a:spcBef>
              <a:defRPr b="1" sz="3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Рекомендации по корректировке продукта</a:t>
            </a:r>
          </a:p>
        </p:txBody>
      </p:sp>
      <p:sp>
        <p:nvSpPr>
          <p:cNvPr id="710" name="Text 9"/>
          <p:cNvSpPr txBox="1"/>
          <p:nvPr/>
        </p:nvSpPr>
        <p:spPr>
          <a:xfrm>
            <a:off x="16413956" y="4943078"/>
            <a:ext cx="6275187" cy="3818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Приоритизировать гибкость интерфейса (кастомизация, персонализация)</a:t>
            </a:r>
          </a:p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Разработать AI-помощника как основной инструмент онбординга</a:t>
            </a:r>
          </a:p>
          <a:p>
            <a:pPr marL="557212" indent="-557212" defTabSz="1524000">
              <a:lnSpc>
                <a:spcPts val="4300"/>
              </a:lnSpc>
              <a:spcBef>
                <a:spcPts val="0"/>
              </a:spcBef>
              <a:buSzPct val="100000"/>
              <a:buChar char="•"/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Упростить навигацию и сделать её интуитивной</a:t>
            </a:r>
          </a:p>
        </p:txBody>
      </p:sp>
      <p:sp>
        <p:nvSpPr>
          <p:cNvPr id="71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1" cy="3780434"/>
          </a:xfrm>
          <a:prstGeom prst="rect">
            <a:avLst/>
          </a:prstGeom>
          <a:ln w="12700">
            <a:miter lim="400000"/>
          </a:ln>
        </p:spPr>
      </p:pic>
      <p:sp>
        <p:nvSpPr>
          <p:cNvPr id="714" name="Text 0"/>
          <p:cNvSpPr txBox="1"/>
          <p:nvPr/>
        </p:nvSpPr>
        <p:spPr>
          <a:xfrm>
            <a:off x="1092728" y="3913301"/>
            <a:ext cx="10221157" cy="91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Выводы и следующие шаги</a:t>
            </a:r>
          </a:p>
        </p:txBody>
      </p:sp>
      <p:sp>
        <p:nvSpPr>
          <p:cNvPr id="715" name="Text 1"/>
          <p:cNvSpPr txBox="1"/>
          <p:nvPr/>
        </p:nvSpPr>
        <p:spPr>
          <a:xfrm>
            <a:off x="1322983" y="5903379"/>
            <a:ext cx="5006381" cy="489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Что подтвердилось</a:t>
            </a:r>
          </a:p>
        </p:txBody>
      </p:sp>
      <p:sp>
        <p:nvSpPr>
          <p:cNvPr id="716" name="Text 2"/>
          <p:cNvSpPr txBox="1"/>
          <p:nvPr/>
        </p:nvSpPr>
        <p:spPr>
          <a:xfrm>
            <a:off x="1322983" y="6709328"/>
            <a:ext cx="10500123" cy="2542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Пользователи действительно испытывают боль с текущими интерфейсами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Готовность к внедрению AI-помощника выше ожиданий (92%)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Гибкость интерфейса — критический фактор успеха</a:t>
            </a:r>
          </a:p>
        </p:txBody>
      </p:sp>
      <p:sp>
        <p:nvSpPr>
          <p:cNvPr id="717" name="Text 3"/>
          <p:cNvSpPr txBox="1"/>
          <p:nvPr/>
        </p:nvSpPr>
        <p:spPr>
          <a:xfrm>
            <a:off x="13011080" y="5903379"/>
            <a:ext cx="4110187" cy="4893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Что изменилось</a:t>
            </a:r>
          </a:p>
        </p:txBody>
      </p:sp>
      <p:sp>
        <p:nvSpPr>
          <p:cNvPr id="718" name="Text 4"/>
          <p:cNvSpPr txBox="1"/>
          <p:nvPr/>
        </p:nvSpPr>
        <p:spPr>
          <a:xfrm>
            <a:off x="12895952" y="7132662"/>
            <a:ext cx="10500123" cy="1696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→ Приоритизация: AI-помощник &gt; красивый дизайн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→ Фокус на интуитивность и гибкость, а не на функциональность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→ Онбординг должен быть основан на AI-ассистенте</a:t>
            </a:r>
          </a:p>
        </p:txBody>
      </p:sp>
      <p:sp>
        <p:nvSpPr>
          <p:cNvPr id="719" name="Text 5"/>
          <p:cNvSpPr txBox="1"/>
          <p:nvPr/>
        </p:nvSpPr>
        <p:spPr>
          <a:xfrm>
            <a:off x="1322983" y="9568870"/>
            <a:ext cx="4422975" cy="709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8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Следующие шаги</a:t>
            </a:r>
          </a:p>
        </p:txBody>
      </p:sp>
      <p:sp>
        <p:nvSpPr>
          <p:cNvPr id="720" name="Text 6"/>
          <p:cNvSpPr txBox="1"/>
          <p:nvPr/>
        </p:nvSpPr>
        <p:spPr>
          <a:xfrm>
            <a:off x="1322983" y="10687660"/>
            <a:ext cx="18685718" cy="1696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AutoNum type="arabicPeriod" startAt="1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Разработать MVP с гибким интерфейсом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AutoNum type="arabicPeriod" startAt="2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Создать AI-помощника для онбординга и поддержки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AutoNum type="arabicPeriod" startAt="3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Провести A/B тестирование интерфейсов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AutoNum type="arabicPeriod" startAt="4"/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Второй раунд тестирования с прототипом</a:t>
            </a:r>
          </a:p>
        </p:txBody>
      </p:sp>
      <p:sp>
        <p:nvSpPr>
          <p:cNvPr id="72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 0"/>
          <p:cNvSpPr txBox="1"/>
          <p:nvPr/>
        </p:nvSpPr>
        <p:spPr>
          <a:xfrm>
            <a:off x="1322982" y="4951707"/>
            <a:ext cx="21738036" cy="3189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Целевая аудитория и портрет клиента</a:t>
            </a:r>
          </a:p>
        </p:txBody>
      </p:sp>
      <p:sp>
        <p:nvSpPr>
          <p:cNvPr id="724" name="Text 1"/>
          <p:cNvSpPr txBox="1"/>
          <p:nvPr/>
        </p:nvSpPr>
        <p:spPr>
          <a:xfrm>
            <a:off x="1507187" y="8859621"/>
            <a:ext cx="13594979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БелинвестБанк - Сегментация рынка и портреты клиентов</a:t>
            </a:r>
          </a:p>
        </p:txBody>
      </p:sp>
      <p:pic>
        <p:nvPicPr>
          <p:cNvPr id="72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136593" y="212593"/>
            <a:ext cx="2857501" cy="2857501"/>
          </a:xfrm>
          <a:prstGeom prst="rect">
            <a:avLst/>
          </a:prstGeom>
          <a:ln w="139700">
            <a:solidFill>
              <a:srgbClr val="3F8E7D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ext 0"/>
          <p:cNvSpPr txBox="1"/>
          <p:nvPr/>
        </p:nvSpPr>
        <p:spPr>
          <a:xfrm>
            <a:off x="992982" y="2703313"/>
            <a:ext cx="12806487" cy="851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800"/>
              </a:lnSpc>
              <a:spcBef>
                <a:spcPts val="0"/>
              </a:spcBef>
              <a:defRPr b="1" sz="5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Сегментация рынка БелинвестБанка</a:t>
            </a:r>
          </a:p>
        </p:txBody>
      </p:sp>
      <p:sp>
        <p:nvSpPr>
          <p:cNvPr id="728" name="Shape 1"/>
          <p:cNvSpPr/>
          <p:nvPr/>
        </p:nvSpPr>
        <p:spPr>
          <a:xfrm>
            <a:off x="992981" y="4015780"/>
            <a:ext cx="7323933" cy="5742981"/>
          </a:xfrm>
          <a:prstGeom prst="roundRect">
            <a:avLst>
              <a:gd name="adj" fmla="val 2075"/>
            </a:avLst>
          </a:prstGeom>
          <a:solidFill>
            <a:srgbClr val="E1FFD3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9" name="Text 2"/>
          <p:cNvSpPr txBox="1"/>
          <p:nvPr/>
        </p:nvSpPr>
        <p:spPr>
          <a:xfrm>
            <a:off x="1314648" y="4337446"/>
            <a:ext cx="6680598" cy="83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СЕГМЕНТ 1: Молодые специалисты и студенты (18-30 лет)</a:t>
            </a:r>
          </a:p>
        </p:txBody>
      </p:sp>
      <p:sp>
        <p:nvSpPr>
          <p:cNvPr id="730" name="Text 3"/>
          <p:cNvSpPr txBox="1"/>
          <p:nvPr/>
        </p:nvSpPr>
        <p:spPr>
          <a:xfrm>
            <a:off x="1314648" y="5351263"/>
            <a:ext cx="5567587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География:</a:t>
            </a:r>
            <a:r>
              <a:rPr b="0"/>
              <a:t> Минск, крупные города Беларуси</a:t>
            </a:r>
          </a:p>
        </p:txBody>
      </p:sp>
      <p:sp>
        <p:nvSpPr>
          <p:cNvPr id="731" name="Text 4"/>
          <p:cNvSpPr txBox="1"/>
          <p:nvPr/>
        </p:nvSpPr>
        <p:spPr>
          <a:xfrm>
            <a:off x="1314648" y="5876131"/>
            <a:ext cx="6680598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Демография:</a:t>
            </a:r>
            <a:r>
              <a:rPr b="0"/>
              <a:t> 18-30 лет, средний доход 1500-3000 BYN</a:t>
            </a:r>
          </a:p>
        </p:txBody>
      </p:sp>
      <p:sp>
        <p:nvSpPr>
          <p:cNvPr id="732" name="Text 5"/>
          <p:cNvSpPr txBox="1"/>
          <p:nvPr/>
        </p:nvSpPr>
        <p:spPr>
          <a:xfrm>
            <a:off x="1314648" y="6798269"/>
            <a:ext cx="6680598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Поведение:</a:t>
            </a:r>
            <a:r>
              <a:rPr b="0"/>
              <a:t> Активные пользователи цифровых сервисов, предпочитают мобильный банкинг</a:t>
            </a:r>
          </a:p>
        </p:txBody>
      </p:sp>
      <p:sp>
        <p:nvSpPr>
          <p:cNvPr id="733" name="Text 6"/>
          <p:cNvSpPr txBox="1"/>
          <p:nvPr/>
        </p:nvSpPr>
        <p:spPr>
          <a:xfrm>
            <a:off x="1314648" y="7720410"/>
            <a:ext cx="6680598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Профессия:</a:t>
            </a:r>
            <a:r>
              <a:rPr b="0"/>
              <a:t> Студенты, молодые специалисты, фрилансеры, IT-специалисты</a:t>
            </a:r>
          </a:p>
        </p:txBody>
      </p:sp>
      <p:sp>
        <p:nvSpPr>
          <p:cNvPr id="734" name="Text 7"/>
          <p:cNvSpPr txBox="1"/>
          <p:nvPr/>
        </p:nvSpPr>
        <p:spPr>
          <a:xfrm>
            <a:off x="1314648" y="8642547"/>
            <a:ext cx="5249095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Поколение:</a:t>
            </a:r>
            <a:r>
              <a:rPr b="0"/>
              <a:t> Gen Z и младшие миллениалы</a:t>
            </a:r>
          </a:p>
        </p:txBody>
      </p:sp>
      <p:sp>
        <p:nvSpPr>
          <p:cNvPr id="735" name="Shape 8"/>
          <p:cNvSpPr/>
          <p:nvPr/>
        </p:nvSpPr>
        <p:spPr>
          <a:xfrm>
            <a:off x="8529836" y="4015780"/>
            <a:ext cx="7324131" cy="5742981"/>
          </a:xfrm>
          <a:prstGeom prst="roundRect">
            <a:avLst>
              <a:gd name="adj" fmla="val 2075"/>
            </a:avLst>
          </a:prstGeom>
          <a:solidFill>
            <a:srgbClr val="E1FFD3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6" name="Text 9"/>
          <p:cNvSpPr txBox="1"/>
          <p:nvPr/>
        </p:nvSpPr>
        <p:spPr>
          <a:xfrm>
            <a:off x="8851503" y="4337446"/>
            <a:ext cx="6680796" cy="83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СЕГМЕНТ 2: Малый и средний бизнес (30-50 лет)</a:t>
            </a:r>
          </a:p>
        </p:txBody>
      </p:sp>
      <p:sp>
        <p:nvSpPr>
          <p:cNvPr id="737" name="Text 10"/>
          <p:cNvSpPr txBox="1"/>
          <p:nvPr/>
        </p:nvSpPr>
        <p:spPr>
          <a:xfrm>
            <a:off x="8851503" y="5351263"/>
            <a:ext cx="6680796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География:</a:t>
            </a:r>
            <a:r>
              <a:rPr b="0"/>
              <a:t> Вся Беларусь, фокус на региональные центры</a:t>
            </a:r>
          </a:p>
        </p:txBody>
      </p:sp>
      <p:sp>
        <p:nvSpPr>
          <p:cNvPr id="738" name="Text 11"/>
          <p:cNvSpPr txBox="1"/>
          <p:nvPr/>
        </p:nvSpPr>
        <p:spPr>
          <a:xfrm>
            <a:off x="8851503" y="6273403"/>
            <a:ext cx="6680796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Демография:</a:t>
            </a:r>
            <a:r>
              <a:rPr b="0"/>
              <a:t> 30-50 лет, доход 3000-10000+ BYN</a:t>
            </a:r>
          </a:p>
        </p:txBody>
      </p:sp>
      <p:sp>
        <p:nvSpPr>
          <p:cNvPr id="739" name="Text 12"/>
          <p:cNvSpPr txBox="1"/>
          <p:nvPr/>
        </p:nvSpPr>
        <p:spPr>
          <a:xfrm>
            <a:off x="8851503" y="7195541"/>
            <a:ext cx="6680796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Поведение:</a:t>
            </a:r>
            <a:r>
              <a:rPr b="0"/>
              <a:t> Нуждаются в кредитовании, инвестициях, бизнес-счетах</a:t>
            </a:r>
          </a:p>
        </p:txBody>
      </p:sp>
      <p:sp>
        <p:nvSpPr>
          <p:cNvPr id="740" name="Text 13"/>
          <p:cNvSpPr txBox="1"/>
          <p:nvPr/>
        </p:nvSpPr>
        <p:spPr>
          <a:xfrm>
            <a:off x="8851503" y="8117681"/>
            <a:ext cx="6680796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Профессия:</a:t>
            </a:r>
            <a:r>
              <a:rPr b="0"/>
              <a:t> Предприниматели, владельцы МСБ, самозанятые</a:t>
            </a:r>
          </a:p>
        </p:txBody>
      </p:sp>
      <p:sp>
        <p:nvSpPr>
          <p:cNvPr id="741" name="Text 14"/>
          <p:cNvSpPr txBox="1"/>
          <p:nvPr/>
        </p:nvSpPr>
        <p:spPr>
          <a:xfrm>
            <a:off x="8851503" y="9039820"/>
            <a:ext cx="4137969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Поколение:</a:t>
            </a:r>
            <a:r>
              <a:rPr b="0"/>
              <a:t> Миллениалы и Gen X</a:t>
            </a:r>
          </a:p>
        </p:txBody>
      </p:sp>
      <p:sp>
        <p:nvSpPr>
          <p:cNvPr id="742" name="Shape 15"/>
          <p:cNvSpPr/>
          <p:nvPr/>
        </p:nvSpPr>
        <p:spPr>
          <a:xfrm>
            <a:off x="16066889" y="4015780"/>
            <a:ext cx="7324130" cy="5742981"/>
          </a:xfrm>
          <a:prstGeom prst="roundRect">
            <a:avLst>
              <a:gd name="adj" fmla="val 2075"/>
            </a:avLst>
          </a:prstGeom>
          <a:solidFill>
            <a:srgbClr val="E1FFD3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3" name="Text 16"/>
          <p:cNvSpPr txBox="1"/>
          <p:nvPr/>
        </p:nvSpPr>
        <p:spPr>
          <a:xfrm>
            <a:off x="16388556" y="4337446"/>
            <a:ext cx="6680795" cy="83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СЕГМЕНТ 3: Корпоративные клиенты и инвесторы (35-60 лет)</a:t>
            </a:r>
          </a:p>
        </p:txBody>
      </p:sp>
      <p:sp>
        <p:nvSpPr>
          <p:cNvPr id="744" name="Text 17"/>
          <p:cNvSpPr txBox="1"/>
          <p:nvPr/>
        </p:nvSpPr>
        <p:spPr>
          <a:xfrm>
            <a:off x="16388556" y="5351263"/>
            <a:ext cx="5643117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География:</a:t>
            </a:r>
            <a:r>
              <a:rPr b="0"/>
              <a:t> Минск, международные операции</a:t>
            </a:r>
          </a:p>
        </p:txBody>
      </p:sp>
      <p:sp>
        <p:nvSpPr>
          <p:cNvPr id="745" name="Text 18"/>
          <p:cNvSpPr txBox="1"/>
          <p:nvPr/>
        </p:nvSpPr>
        <p:spPr>
          <a:xfrm>
            <a:off x="16388556" y="5876131"/>
            <a:ext cx="6680795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Демография:</a:t>
            </a:r>
            <a:r>
              <a:rPr b="0"/>
              <a:t> 35-60 лет, высокий доход 10000+ BYN</a:t>
            </a:r>
          </a:p>
        </p:txBody>
      </p:sp>
      <p:sp>
        <p:nvSpPr>
          <p:cNvPr id="746" name="Text 19"/>
          <p:cNvSpPr txBox="1"/>
          <p:nvPr/>
        </p:nvSpPr>
        <p:spPr>
          <a:xfrm>
            <a:off x="16388556" y="6798269"/>
            <a:ext cx="6680795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Поведение:</a:t>
            </a:r>
            <a:r>
              <a:rPr b="0"/>
              <a:t> Инвестиции, ESG-проекты, крупные кредиты</a:t>
            </a:r>
          </a:p>
        </p:txBody>
      </p:sp>
      <p:sp>
        <p:nvSpPr>
          <p:cNvPr id="747" name="Text 20"/>
          <p:cNvSpPr txBox="1"/>
          <p:nvPr/>
        </p:nvSpPr>
        <p:spPr>
          <a:xfrm>
            <a:off x="16388556" y="7720410"/>
            <a:ext cx="6680795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Профессия:</a:t>
            </a:r>
            <a:r>
              <a:rPr b="0"/>
              <a:t> Топ-менеджеры, инвесторы, владельцы крупного бизнеса</a:t>
            </a:r>
          </a:p>
        </p:txBody>
      </p:sp>
      <p:sp>
        <p:nvSpPr>
          <p:cNvPr id="748" name="Text 21"/>
          <p:cNvSpPr txBox="1"/>
          <p:nvPr/>
        </p:nvSpPr>
        <p:spPr>
          <a:xfrm>
            <a:off x="16388556" y="8642547"/>
            <a:ext cx="5189687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Поколение:</a:t>
            </a:r>
            <a:r>
              <a:rPr b="0"/>
              <a:t> Gen X и старшие миллениалы</a:t>
            </a:r>
          </a:p>
        </p:txBody>
      </p:sp>
      <p:sp>
        <p:nvSpPr>
          <p:cNvPr id="749" name="Shape 22"/>
          <p:cNvSpPr/>
          <p:nvPr/>
        </p:nvSpPr>
        <p:spPr>
          <a:xfrm>
            <a:off x="992981" y="9998273"/>
            <a:ext cx="22398039" cy="1014214"/>
          </a:xfrm>
          <a:prstGeom prst="roundRect">
            <a:avLst>
              <a:gd name="adj" fmla="val 11750"/>
            </a:avLst>
          </a:prstGeom>
          <a:solidFill>
            <a:srgbClr val="C7C9EA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75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6548" y="10409238"/>
            <a:ext cx="354609" cy="283567"/>
          </a:xfrm>
          <a:prstGeom prst="rect">
            <a:avLst/>
          </a:prstGeom>
          <a:ln w="12700">
            <a:miter lim="400000"/>
          </a:ln>
        </p:spPr>
      </p:pic>
      <p:sp>
        <p:nvSpPr>
          <p:cNvPr id="751" name="Text 23"/>
          <p:cNvSpPr txBox="1"/>
          <p:nvPr/>
        </p:nvSpPr>
        <p:spPr>
          <a:xfrm>
            <a:off x="1914723" y="10282038"/>
            <a:ext cx="15011600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ПРИОРИТЕТНЫЙ СЕГМЕНТ: Молодые специалисты и студенты (18-30 лет) - наибольший потенциал роста и цифровизации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Text 0"/>
          <p:cNvSpPr txBox="1"/>
          <p:nvPr/>
        </p:nvSpPr>
        <p:spPr>
          <a:xfrm>
            <a:off x="1101725" y="1168003"/>
            <a:ext cx="13036550" cy="125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Портрет клиента №1: Молодые специалисты и студенты</a:t>
            </a:r>
          </a:p>
        </p:txBody>
      </p:sp>
      <p:sp>
        <p:nvSpPr>
          <p:cNvPr id="754" name="Text 1"/>
          <p:cNvSpPr txBox="1"/>
          <p:nvPr/>
        </p:nvSpPr>
        <p:spPr>
          <a:xfrm>
            <a:off x="1101725" y="2490986"/>
            <a:ext cx="8830209" cy="49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ПОРТРЕТ 1: Станислав (Молодой специалист)</a:t>
            </a:r>
          </a:p>
        </p:txBody>
      </p:sp>
      <p:sp>
        <p:nvSpPr>
          <p:cNvPr id="755" name="Shape 2"/>
          <p:cNvSpPr/>
          <p:nvPr/>
        </p:nvSpPr>
        <p:spPr>
          <a:xfrm>
            <a:off x="1101725" y="3168451"/>
            <a:ext cx="13036551" cy="2552701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6" name="Shape 3"/>
          <p:cNvSpPr/>
          <p:nvPr/>
        </p:nvSpPr>
        <p:spPr>
          <a:xfrm>
            <a:off x="1076325" y="3168451"/>
            <a:ext cx="101601" cy="255270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7" name="Text 4"/>
          <p:cNvSpPr txBox="1"/>
          <p:nvPr/>
        </p:nvSpPr>
        <p:spPr>
          <a:xfrm>
            <a:off x="1407913" y="3398439"/>
            <a:ext cx="276788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ОСНОВНЫЕ ДАННЫЕ</a:t>
            </a:r>
          </a:p>
        </p:txBody>
      </p:sp>
      <p:sp>
        <p:nvSpPr>
          <p:cNvPr id="758" name="Text 5"/>
          <p:cNvSpPr txBox="1"/>
          <p:nvPr/>
        </p:nvSpPr>
        <p:spPr>
          <a:xfrm>
            <a:off x="1407913" y="3898701"/>
            <a:ext cx="12500372" cy="1400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Имя:</a:t>
            </a:r>
            <a:r>
              <a:rPr b="0"/>
              <a:t> Станислав Кулешов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Возраст:</a:t>
            </a:r>
            <a:r>
              <a:rPr b="0"/>
              <a:t> 26 лет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Профессия:</a:t>
            </a:r>
            <a:r>
              <a:rPr b="0"/>
              <a:t> Junior разработчик в IT-компании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Доход:</a:t>
            </a:r>
            <a:r>
              <a:rPr b="0"/>
              <a:t> 2500 BYN в месяц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Город:</a:t>
            </a:r>
            <a:r>
              <a:rPr b="0"/>
              <a:t> Минск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Семейный статус:</a:t>
            </a:r>
            <a:r>
              <a:rPr b="0"/>
              <a:t> Холост, живет с родителями</a:t>
            </a:r>
          </a:p>
        </p:txBody>
      </p:sp>
      <p:sp>
        <p:nvSpPr>
          <p:cNvPr id="759" name="Shape 6"/>
          <p:cNvSpPr/>
          <p:nvPr/>
        </p:nvSpPr>
        <p:spPr>
          <a:xfrm>
            <a:off x="1101725" y="5831879"/>
            <a:ext cx="13036551" cy="226179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Shape 7"/>
          <p:cNvSpPr/>
          <p:nvPr/>
        </p:nvSpPr>
        <p:spPr>
          <a:xfrm>
            <a:off x="1076325" y="5831879"/>
            <a:ext cx="101601" cy="226179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1" name="Text 8"/>
          <p:cNvSpPr txBox="1"/>
          <p:nvPr/>
        </p:nvSpPr>
        <p:spPr>
          <a:xfrm>
            <a:off x="1407913" y="6061868"/>
            <a:ext cx="272968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ЦЕЛИ И МОТИВАЦИЯ</a:t>
            </a:r>
          </a:p>
        </p:txBody>
      </p:sp>
      <p:sp>
        <p:nvSpPr>
          <p:cNvPr id="762" name="Text 9"/>
          <p:cNvSpPr txBox="1"/>
          <p:nvPr/>
        </p:nvSpPr>
        <p:spPr>
          <a:xfrm>
            <a:off x="1407913" y="6562129"/>
            <a:ext cx="12500372" cy="116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Накопить на собственную квартиру (цель: 50,000 BYN за 3 года)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Инвестировать в криптовалюту и акции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Управлять финансами через мобильное приложение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Получать кешбэк и бонусы за покупки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Быстро совершать переводы друзьям</a:t>
            </a:r>
          </a:p>
        </p:txBody>
      </p:sp>
      <p:sp>
        <p:nvSpPr>
          <p:cNvPr id="763" name="Shape 10"/>
          <p:cNvSpPr/>
          <p:nvPr/>
        </p:nvSpPr>
        <p:spPr>
          <a:xfrm>
            <a:off x="1101725" y="8204398"/>
            <a:ext cx="13036551" cy="226179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4" name="Shape 11"/>
          <p:cNvSpPr/>
          <p:nvPr/>
        </p:nvSpPr>
        <p:spPr>
          <a:xfrm>
            <a:off x="1076325" y="8204398"/>
            <a:ext cx="101601" cy="226179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5" name="Text 12"/>
          <p:cNvSpPr txBox="1"/>
          <p:nvPr/>
        </p:nvSpPr>
        <p:spPr>
          <a:xfrm>
            <a:off x="1407913" y="8434388"/>
            <a:ext cx="3260999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СТРАХИ И ВОЗРАЖЕНИЯ</a:t>
            </a:r>
          </a:p>
        </p:txBody>
      </p:sp>
      <p:sp>
        <p:nvSpPr>
          <p:cNvPr id="766" name="Text 13"/>
          <p:cNvSpPr txBox="1"/>
          <p:nvPr/>
        </p:nvSpPr>
        <p:spPr>
          <a:xfrm>
            <a:off x="1407913" y="8934648"/>
            <a:ext cx="12500372" cy="1167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Боится сложного интерфейса приложения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 доверяет старым банкам, предпочитает финтех-компании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Опасается высоких комиссий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 хочет идти в офис банка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Беспокоится о безопасности данных</a:t>
            </a:r>
          </a:p>
        </p:txBody>
      </p:sp>
      <p:sp>
        <p:nvSpPr>
          <p:cNvPr id="767" name="Shape 14"/>
          <p:cNvSpPr/>
          <p:nvPr/>
        </p:nvSpPr>
        <p:spPr>
          <a:xfrm>
            <a:off x="1101725" y="10576916"/>
            <a:ext cx="13036551" cy="1970883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8" name="Shape 15"/>
          <p:cNvSpPr/>
          <p:nvPr/>
        </p:nvSpPr>
        <p:spPr>
          <a:xfrm>
            <a:off x="1076325" y="10576916"/>
            <a:ext cx="101601" cy="1970883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9" name="Text 16"/>
          <p:cNvSpPr txBox="1"/>
          <p:nvPr/>
        </p:nvSpPr>
        <p:spPr>
          <a:xfrm>
            <a:off x="1407913" y="10806907"/>
            <a:ext cx="1718767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ТОЧКИ БОЛИ</a:t>
            </a:r>
          </a:p>
        </p:txBody>
      </p:sp>
      <p:sp>
        <p:nvSpPr>
          <p:cNvPr id="770" name="Text 17"/>
          <p:cNvSpPr txBox="1"/>
          <p:nvPr/>
        </p:nvSpPr>
        <p:spPr>
          <a:xfrm>
            <a:off x="1407913" y="11307167"/>
            <a:ext cx="12500372" cy="934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Текущее приложение БелинвестБанка слишком сложное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Долгие процедуры открытия счета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Отсутствие интеграции с популярными платежными системами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Нет AI-помощника для быстрого старта</a:t>
            </a:r>
          </a:p>
        </p:txBody>
      </p:sp>
      <p:grpSp>
        <p:nvGrpSpPr>
          <p:cNvPr id="773" name="telegram-cloud-photo-size-2-5316812163039039623-y.jpg"/>
          <p:cNvGrpSpPr/>
          <p:nvPr/>
        </p:nvGrpSpPr>
        <p:grpSpPr>
          <a:xfrm>
            <a:off x="15552452" y="2546753"/>
            <a:ext cx="7733550" cy="10294466"/>
            <a:chOff x="0" y="0"/>
            <a:chExt cx="7733549" cy="10294465"/>
          </a:xfrm>
        </p:grpSpPr>
        <p:pic>
          <p:nvPicPr>
            <p:cNvPr id="772" name="telegram-cloud-photo-size-2-5316812163039039623-y.jpg" descr="telegram-cloud-photo-size-2-5316812163039039623-y.jp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5900" y="139700"/>
              <a:ext cx="7301750" cy="973566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771" name="telegram-cloud-photo-size-2-5316812163039039623-y.jpg" descr="telegram-cloud-photo-size-2-5316812163039039623-y.jpg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7733550" cy="10294466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Text 0"/>
          <p:cNvSpPr txBox="1"/>
          <p:nvPr/>
        </p:nvSpPr>
        <p:spPr>
          <a:xfrm>
            <a:off x="1101725" y="1487686"/>
            <a:ext cx="11936314" cy="624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Портрет клиента №2: Малый и средний бизнес</a:t>
            </a:r>
          </a:p>
        </p:txBody>
      </p:sp>
      <p:sp>
        <p:nvSpPr>
          <p:cNvPr id="776" name="Text 1"/>
          <p:cNvSpPr txBox="1"/>
          <p:nvPr/>
        </p:nvSpPr>
        <p:spPr>
          <a:xfrm>
            <a:off x="1101725" y="2171303"/>
            <a:ext cx="8534413" cy="49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ПОРТРЕТ 2: ИРИНА (Предприниматель МСБ)</a:t>
            </a:r>
          </a:p>
        </p:txBody>
      </p:sp>
      <p:sp>
        <p:nvSpPr>
          <p:cNvPr id="777" name="Shape 2"/>
          <p:cNvSpPr/>
          <p:nvPr/>
        </p:nvSpPr>
        <p:spPr>
          <a:xfrm>
            <a:off x="1101725" y="2848768"/>
            <a:ext cx="13036551" cy="2552701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8" name="Shape 3"/>
          <p:cNvSpPr/>
          <p:nvPr/>
        </p:nvSpPr>
        <p:spPr>
          <a:xfrm>
            <a:off x="1076325" y="2848768"/>
            <a:ext cx="101601" cy="255270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9" name="Text 4"/>
          <p:cNvSpPr txBox="1"/>
          <p:nvPr/>
        </p:nvSpPr>
        <p:spPr>
          <a:xfrm>
            <a:off x="1407913" y="3078758"/>
            <a:ext cx="276788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ОСНОВНЫЕ ДАННЫЕ</a:t>
            </a:r>
          </a:p>
        </p:txBody>
      </p:sp>
      <p:sp>
        <p:nvSpPr>
          <p:cNvPr id="780" name="Text 5"/>
          <p:cNvSpPr txBox="1"/>
          <p:nvPr/>
        </p:nvSpPr>
        <p:spPr>
          <a:xfrm>
            <a:off x="1407913" y="3464718"/>
            <a:ext cx="12500372" cy="139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Имя:</a:t>
            </a:r>
            <a:r>
              <a:rPr b="0"/>
              <a:t> Ирина Ковалева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Возраст:</a:t>
            </a:r>
            <a:r>
              <a:rPr b="0"/>
              <a:t> 38 лет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Профессия:</a:t>
            </a:r>
            <a:r>
              <a:rPr b="0"/>
              <a:t> Владелица интернет-магазина одежды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Доход:</a:t>
            </a:r>
            <a:r>
              <a:rPr b="0"/>
              <a:t> 6000 BYN в месяц (личный + бизнес)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Город:</a:t>
            </a:r>
            <a:r>
              <a:rPr b="0"/>
              <a:t> Гомель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Семейный статус:</a:t>
            </a:r>
            <a:r>
              <a:rPr b="0"/>
              <a:t> Замужем, двое детей</a:t>
            </a:r>
          </a:p>
        </p:txBody>
      </p:sp>
      <p:sp>
        <p:nvSpPr>
          <p:cNvPr id="781" name="Shape 6"/>
          <p:cNvSpPr/>
          <p:nvPr/>
        </p:nvSpPr>
        <p:spPr>
          <a:xfrm>
            <a:off x="1101725" y="5512196"/>
            <a:ext cx="13036551" cy="226179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2" name="Shape 7"/>
          <p:cNvSpPr/>
          <p:nvPr/>
        </p:nvSpPr>
        <p:spPr>
          <a:xfrm>
            <a:off x="1076325" y="5512196"/>
            <a:ext cx="101601" cy="226179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Text 8"/>
          <p:cNvSpPr txBox="1"/>
          <p:nvPr/>
        </p:nvSpPr>
        <p:spPr>
          <a:xfrm>
            <a:off x="1407913" y="5742187"/>
            <a:ext cx="272968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ЦЕЛИ И МОТИВАЦИЯ</a:t>
            </a:r>
          </a:p>
        </p:txBody>
      </p:sp>
      <p:sp>
        <p:nvSpPr>
          <p:cNvPr id="784" name="Text 9"/>
          <p:cNvSpPr txBox="1"/>
          <p:nvPr/>
        </p:nvSpPr>
        <p:spPr>
          <a:xfrm>
            <a:off x="1407913" y="6128146"/>
            <a:ext cx="12500372" cy="115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Расширить бизнес и открыть второй магазин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Получить кредит на развитие (30,000 BYN)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Автоматизировать бухгалтерию и платежи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Управлять бизнес-счетом онлайн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Получать аналитику по финансам бизнеса</a:t>
            </a:r>
          </a:p>
        </p:txBody>
      </p:sp>
      <p:sp>
        <p:nvSpPr>
          <p:cNvPr id="785" name="Shape 10"/>
          <p:cNvSpPr/>
          <p:nvPr/>
        </p:nvSpPr>
        <p:spPr>
          <a:xfrm>
            <a:off x="1101725" y="7884714"/>
            <a:ext cx="13036551" cy="226179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6" name="Shape 11"/>
          <p:cNvSpPr/>
          <p:nvPr/>
        </p:nvSpPr>
        <p:spPr>
          <a:xfrm>
            <a:off x="1076325" y="7884714"/>
            <a:ext cx="101601" cy="226179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7" name="Text 12"/>
          <p:cNvSpPr txBox="1"/>
          <p:nvPr/>
        </p:nvSpPr>
        <p:spPr>
          <a:xfrm>
            <a:off x="1407913" y="8114704"/>
            <a:ext cx="3260999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СТРАХИ И ВОЗРАЖЕНИЯ</a:t>
            </a:r>
          </a:p>
        </p:txBody>
      </p:sp>
      <p:sp>
        <p:nvSpPr>
          <p:cNvPr id="788" name="Text 13"/>
          <p:cNvSpPr txBox="1"/>
          <p:nvPr/>
        </p:nvSpPr>
        <p:spPr>
          <a:xfrm>
            <a:off x="1407913" y="8500664"/>
            <a:ext cx="12500372" cy="115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Боится отказа в кредите из-за небольшого оборота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Опасается сложной процедуры оформления документов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 хочет тратить время на походы в банк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Беспокоится о высоких процентах по кредиту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 уверена в надежности цифровых сервисов для бизнеса</a:t>
            </a:r>
          </a:p>
        </p:txBody>
      </p:sp>
      <p:sp>
        <p:nvSpPr>
          <p:cNvPr id="789" name="Shape 14"/>
          <p:cNvSpPr/>
          <p:nvPr/>
        </p:nvSpPr>
        <p:spPr>
          <a:xfrm>
            <a:off x="1101725" y="10257235"/>
            <a:ext cx="13036551" cy="1970882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0" name="Shape 15"/>
          <p:cNvSpPr/>
          <p:nvPr/>
        </p:nvSpPr>
        <p:spPr>
          <a:xfrm>
            <a:off x="1076325" y="10257235"/>
            <a:ext cx="101601" cy="1970882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1" name="Text 16"/>
          <p:cNvSpPr txBox="1"/>
          <p:nvPr/>
        </p:nvSpPr>
        <p:spPr>
          <a:xfrm>
            <a:off x="1407913" y="10487223"/>
            <a:ext cx="1718767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ТОЧКИ БОЛИ</a:t>
            </a:r>
          </a:p>
        </p:txBody>
      </p:sp>
      <p:sp>
        <p:nvSpPr>
          <p:cNvPr id="792" name="Text 17"/>
          <p:cNvSpPr txBox="1"/>
          <p:nvPr/>
        </p:nvSpPr>
        <p:spPr>
          <a:xfrm>
            <a:off x="1407913" y="10873185"/>
            <a:ext cx="12500372" cy="925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Долгое рассмотрение заявок на кредит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Отсутствие персонального менеджера для МСБ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Сложная интеграция с бухгалтерскими системами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Нет удобного мобильного приложения для бизнеса</a:t>
            </a:r>
          </a:p>
        </p:txBody>
      </p:sp>
      <p:pic>
        <p:nvPicPr>
          <p:cNvPr id="793" name="telegram-cloud-photo-size-2-5368673309022688274-y.jpg" descr="telegram-cloud-photo-size-2-5368673309022688274-y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910249" y="293891"/>
            <a:ext cx="8470901" cy="12700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4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037249" y="420891"/>
            <a:ext cx="8470901" cy="12700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Text 0"/>
          <p:cNvSpPr txBox="1"/>
          <p:nvPr/>
        </p:nvSpPr>
        <p:spPr>
          <a:xfrm>
            <a:off x="1101725" y="1168003"/>
            <a:ext cx="13036550" cy="125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Портрет клиента №3: Корпоративные клиенты и инвесторы</a:t>
            </a:r>
          </a:p>
        </p:txBody>
      </p:sp>
      <p:sp>
        <p:nvSpPr>
          <p:cNvPr id="797" name="Text 1"/>
          <p:cNvSpPr txBox="1"/>
          <p:nvPr/>
        </p:nvSpPr>
        <p:spPr>
          <a:xfrm>
            <a:off x="1101725" y="2490986"/>
            <a:ext cx="8584829" cy="49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ПОРТРЕТ 3: Сергей (Корпоративный клиент)</a:t>
            </a:r>
          </a:p>
        </p:txBody>
      </p:sp>
      <p:sp>
        <p:nvSpPr>
          <p:cNvPr id="798" name="Shape 2"/>
          <p:cNvSpPr/>
          <p:nvPr/>
        </p:nvSpPr>
        <p:spPr>
          <a:xfrm>
            <a:off x="1101725" y="3168451"/>
            <a:ext cx="13036551" cy="2552701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9" name="Shape 3"/>
          <p:cNvSpPr/>
          <p:nvPr/>
        </p:nvSpPr>
        <p:spPr>
          <a:xfrm>
            <a:off x="1076325" y="3168451"/>
            <a:ext cx="101601" cy="255270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Text 4"/>
          <p:cNvSpPr txBox="1"/>
          <p:nvPr/>
        </p:nvSpPr>
        <p:spPr>
          <a:xfrm>
            <a:off x="1407913" y="3398439"/>
            <a:ext cx="276788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ОСНОВНЫЕ ДАННЫЕ</a:t>
            </a:r>
          </a:p>
        </p:txBody>
      </p:sp>
      <p:sp>
        <p:nvSpPr>
          <p:cNvPr id="801" name="Text 5"/>
          <p:cNvSpPr txBox="1"/>
          <p:nvPr/>
        </p:nvSpPr>
        <p:spPr>
          <a:xfrm>
            <a:off x="1407913" y="3873301"/>
            <a:ext cx="12500372" cy="1397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Имя:</a:t>
            </a:r>
            <a:r>
              <a:rPr b="0"/>
              <a:t> Сергей Кулешов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Возраст:</a:t>
            </a:r>
            <a:r>
              <a:rPr b="0"/>
              <a:t> 52 года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Профессия:</a:t>
            </a:r>
            <a:r>
              <a:rPr b="0"/>
              <a:t> Генеральный директор производственной компании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Доход:</a:t>
            </a:r>
            <a:r>
              <a:rPr b="0"/>
              <a:t> 15,000+ BYN в месяц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Город:</a:t>
            </a:r>
            <a:r>
              <a:rPr b="0"/>
              <a:t> Минск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b="1"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Семейный статус:</a:t>
            </a:r>
            <a:r>
              <a:rPr b="0"/>
              <a:t> Женат, трое взрослых детей</a:t>
            </a:r>
          </a:p>
        </p:txBody>
      </p:sp>
      <p:sp>
        <p:nvSpPr>
          <p:cNvPr id="802" name="Shape 6"/>
          <p:cNvSpPr/>
          <p:nvPr/>
        </p:nvSpPr>
        <p:spPr>
          <a:xfrm>
            <a:off x="1101725" y="5831879"/>
            <a:ext cx="13036551" cy="226179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Shape 7"/>
          <p:cNvSpPr/>
          <p:nvPr/>
        </p:nvSpPr>
        <p:spPr>
          <a:xfrm>
            <a:off x="1076325" y="5831879"/>
            <a:ext cx="101601" cy="226179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4" name="Text 8"/>
          <p:cNvSpPr txBox="1"/>
          <p:nvPr/>
        </p:nvSpPr>
        <p:spPr>
          <a:xfrm>
            <a:off x="1407913" y="6061868"/>
            <a:ext cx="2729682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ЦЕЛИ И МОТИВАЦИЯ</a:t>
            </a:r>
          </a:p>
        </p:txBody>
      </p:sp>
      <p:sp>
        <p:nvSpPr>
          <p:cNvPr id="805" name="Text 9"/>
          <p:cNvSpPr txBox="1"/>
          <p:nvPr/>
        </p:nvSpPr>
        <p:spPr>
          <a:xfrm>
            <a:off x="1407913" y="6536729"/>
            <a:ext cx="12500372" cy="1164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Инвестировать в ESG-проекты (ветропарки, солнечные станции)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Получить крупный кредит на модернизацию производства (500,000+ BYN)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Управлять международными расчетами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Диверсифицировать портфель инвестиций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Получать консультации от профессиональных менеджеров</a:t>
            </a:r>
          </a:p>
        </p:txBody>
      </p:sp>
      <p:sp>
        <p:nvSpPr>
          <p:cNvPr id="806" name="Shape 10"/>
          <p:cNvSpPr/>
          <p:nvPr/>
        </p:nvSpPr>
        <p:spPr>
          <a:xfrm>
            <a:off x="1101725" y="8204398"/>
            <a:ext cx="13036551" cy="226179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7" name="Shape 11"/>
          <p:cNvSpPr/>
          <p:nvPr/>
        </p:nvSpPr>
        <p:spPr>
          <a:xfrm>
            <a:off x="1076325" y="8204398"/>
            <a:ext cx="101601" cy="2261791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8" name="Text 12"/>
          <p:cNvSpPr txBox="1"/>
          <p:nvPr/>
        </p:nvSpPr>
        <p:spPr>
          <a:xfrm>
            <a:off x="1407913" y="8434388"/>
            <a:ext cx="3260999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СТРАХИ И ВОЗРАЖЕНИЯ</a:t>
            </a:r>
          </a:p>
        </p:txBody>
      </p:sp>
      <p:sp>
        <p:nvSpPr>
          <p:cNvPr id="809" name="Text 13"/>
          <p:cNvSpPr txBox="1"/>
          <p:nvPr/>
        </p:nvSpPr>
        <p:spPr>
          <a:xfrm>
            <a:off x="1407913" y="8909248"/>
            <a:ext cx="12500372" cy="11643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Опасается политических рисков и санкций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Беспокоится о валютных колебаниях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Требует высокого уровня конфиденциальности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Не доверяет новым финтех-решениям для крупных сумм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Нужна персональная поддержка и консультации</a:t>
            </a:r>
          </a:p>
        </p:txBody>
      </p:sp>
      <p:sp>
        <p:nvSpPr>
          <p:cNvPr id="810" name="Shape 14"/>
          <p:cNvSpPr/>
          <p:nvPr/>
        </p:nvSpPr>
        <p:spPr>
          <a:xfrm>
            <a:off x="1101725" y="10576916"/>
            <a:ext cx="13036551" cy="1970883"/>
          </a:xfrm>
          <a:prstGeom prst="roundRect">
            <a:avLst>
              <a:gd name="adj" fmla="val 6186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1" name="Shape 15"/>
          <p:cNvSpPr/>
          <p:nvPr/>
        </p:nvSpPr>
        <p:spPr>
          <a:xfrm>
            <a:off x="1076325" y="10576916"/>
            <a:ext cx="101601" cy="1970883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2" name="Text 16"/>
          <p:cNvSpPr txBox="1"/>
          <p:nvPr/>
        </p:nvSpPr>
        <p:spPr>
          <a:xfrm>
            <a:off x="1407913" y="10806907"/>
            <a:ext cx="1718767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ТОЧКИ БОЛИ</a:t>
            </a:r>
          </a:p>
        </p:txBody>
      </p:sp>
      <p:sp>
        <p:nvSpPr>
          <p:cNvPr id="813" name="Text 17"/>
          <p:cNvSpPr txBox="1"/>
          <p:nvPr/>
        </p:nvSpPr>
        <p:spPr>
          <a:xfrm>
            <a:off x="1407913" y="11281767"/>
            <a:ext cx="12500372" cy="931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Ограничения на международные операции из-за санкций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Долгие процедуры согласования крупных кредитов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Отсутствие специализированного менеджера для корпоративных клиентов</a:t>
            </a:r>
          </a:p>
          <a:p>
            <a:pPr marL="533400" indent="-533400" defTabSz="1524000">
              <a:lnSpc>
                <a:spcPts val="1800"/>
              </a:lnSpc>
              <a:spcBef>
                <a:spcPts val="0"/>
              </a:spcBef>
              <a:buSzPct val="100000"/>
              <a:buChar char="•"/>
              <a:defRPr sz="1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Сложность интеграции с системами управления крупного бизнеса</a:t>
            </a:r>
          </a:p>
        </p:txBody>
      </p:sp>
      <p:grpSp>
        <p:nvGrpSpPr>
          <p:cNvPr id="816" name="telegram-cloud-photo-size-2-5368382625636095049-y.jpg"/>
          <p:cNvGrpSpPr/>
          <p:nvPr/>
        </p:nvGrpSpPr>
        <p:grpSpPr>
          <a:xfrm>
            <a:off x="14551426" y="2653637"/>
            <a:ext cx="9339896" cy="9225115"/>
            <a:chOff x="0" y="0"/>
            <a:chExt cx="9339895" cy="9225114"/>
          </a:xfrm>
        </p:grpSpPr>
        <p:pic>
          <p:nvPicPr>
            <p:cNvPr id="815" name="telegram-cloud-photo-size-2-5368382625636095049-y.jpg" descr="telegram-cloud-photo-size-2-5368382625636095049-y.jp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5900" y="139700"/>
              <a:ext cx="8908096" cy="8666315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14" name="telegram-cloud-photo-size-2-5368382625636095049-y.jpg" descr="telegram-cloud-photo-size-2-5368382625636095049-y.jpg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9339896" cy="9225115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 0"/>
          <p:cNvSpPr txBox="1"/>
          <p:nvPr/>
        </p:nvSpPr>
        <p:spPr>
          <a:xfrm>
            <a:off x="1064815" y="1236463"/>
            <a:ext cx="13862237" cy="60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800"/>
              </a:lnSpc>
              <a:spcBef>
                <a:spcPts val="0"/>
              </a:spcBef>
              <a:defRPr b="1" sz="3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Customer Journey Map: Станислав (Молодой специалист)</a:t>
            </a:r>
          </a:p>
        </p:txBody>
      </p:sp>
      <p:sp>
        <p:nvSpPr>
          <p:cNvPr id="819" name="Text 1"/>
          <p:cNvSpPr txBox="1"/>
          <p:nvPr/>
        </p:nvSpPr>
        <p:spPr>
          <a:xfrm>
            <a:off x="1064815" y="1895475"/>
            <a:ext cx="11253317" cy="477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8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Путь клиента от проблемы к регулярному использованию</a:t>
            </a:r>
          </a:p>
        </p:txBody>
      </p:sp>
      <p:pic>
        <p:nvPicPr>
          <p:cNvPr id="82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7585" y="2623443"/>
            <a:ext cx="988616" cy="1915517"/>
          </a:xfrm>
          <a:prstGeom prst="rect">
            <a:avLst/>
          </a:prstGeom>
          <a:ln w="12700">
            <a:miter lim="400000"/>
          </a:ln>
        </p:spPr>
      </p:pic>
      <p:sp>
        <p:nvSpPr>
          <p:cNvPr id="821" name="Text 2"/>
          <p:cNvSpPr txBox="1"/>
          <p:nvPr/>
        </p:nvSpPr>
        <p:spPr>
          <a:xfrm>
            <a:off x="2156816" y="2742406"/>
            <a:ext cx="498842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1: УЗНАЛ (Осведомленность)</a:t>
            </a:r>
          </a:p>
        </p:txBody>
      </p:sp>
      <p:sp>
        <p:nvSpPr>
          <p:cNvPr id="822" name="Text 3"/>
          <p:cNvSpPr txBox="1"/>
          <p:nvPr/>
        </p:nvSpPr>
        <p:spPr>
          <a:xfrm>
            <a:off x="2156816" y="3113286"/>
            <a:ext cx="935623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Точка боли:</a:t>
            </a:r>
            <a:r>
              <a:rPr b="0"/>
              <a:t> Не знает о БелинвестБанке, видит рекламу конкурентов</a:t>
            </a:r>
          </a:p>
        </p:txBody>
      </p:sp>
      <p:sp>
        <p:nvSpPr>
          <p:cNvPr id="823" name="Text 4"/>
          <p:cNvSpPr txBox="1"/>
          <p:nvPr/>
        </p:nvSpPr>
        <p:spPr>
          <a:xfrm>
            <a:off x="2156816" y="3416101"/>
            <a:ext cx="871052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 взаимодействия:</a:t>
            </a:r>
            <a:r>
              <a:rPr b="0"/>
              <a:t> Instagram, TikTok, рекомендации друзей</a:t>
            </a:r>
          </a:p>
        </p:txBody>
      </p:sp>
      <p:sp>
        <p:nvSpPr>
          <p:cNvPr id="824" name="Text 5"/>
          <p:cNvSpPr txBox="1"/>
          <p:nvPr/>
        </p:nvSpPr>
        <p:spPr>
          <a:xfrm>
            <a:off x="2156816" y="3718916"/>
            <a:ext cx="478432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</a:t>
            </a:r>
            <a:r>
              <a:rPr b="0"/>
              <a:t> Любопытство, скептицизм</a:t>
            </a:r>
          </a:p>
        </p:txBody>
      </p:sp>
      <p:sp>
        <p:nvSpPr>
          <p:cNvPr id="825" name="Text 6"/>
          <p:cNvSpPr txBox="1"/>
          <p:nvPr/>
        </p:nvSpPr>
        <p:spPr>
          <a:xfrm>
            <a:off x="2156816" y="4021733"/>
            <a:ext cx="8306434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Действие:</a:t>
            </a:r>
            <a:r>
              <a:rPr b="0"/>
              <a:t> Ищет отзывы в интернете, смотрит видео о банках</a:t>
            </a:r>
          </a:p>
        </p:txBody>
      </p:sp>
      <p:pic>
        <p:nvPicPr>
          <p:cNvPr id="82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7585" y="5405366"/>
            <a:ext cx="988616" cy="1915517"/>
          </a:xfrm>
          <a:prstGeom prst="rect">
            <a:avLst/>
          </a:prstGeom>
          <a:ln w="12700">
            <a:miter lim="400000"/>
          </a:ln>
        </p:spPr>
      </p:pic>
      <p:sp>
        <p:nvSpPr>
          <p:cNvPr id="827" name="Text 7"/>
          <p:cNvSpPr txBox="1"/>
          <p:nvPr/>
        </p:nvSpPr>
        <p:spPr>
          <a:xfrm>
            <a:off x="2272462" y="5297165"/>
            <a:ext cx="515145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2: РАССМАТРИВАЕТ (Интерес)</a:t>
            </a:r>
          </a:p>
        </p:txBody>
      </p:sp>
      <p:sp>
        <p:nvSpPr>
          <p:cNvPr id="828" name="Text 8"/>
          <p:cNvSpPr txBox="1"/>
          <p:nvPr/>
        </p:nvSpPr>
        <p:spPr>
          <a:xfrm>
            <a:off x="2272461" y="5668045"/>
            <a:ext cx="7833445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Точка боли:</a:t>
            </a:r>
            <a:r>
              <a:rPr b="0"/>
              <a:t> Сложный интерфейс приложения отпугивает</a:t>
            </a:r>
          </a:p>
        </p:txBody>
      </p:sp>
      <p:sp>
        <p:nvSpPr>
          <p:cNvPr id="829" name="Text 9"/>
          <p:cNvSpPr txBox="1"/>
          <p:nvPr/>
        </p:nvSpPr>
        <p:spPr>
          <a:xfrm>
            <a:off x="2272461" y="5970860"/>
            <a:ext cx="906700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 взаимодействия:</a:t>
            </a:r>
            <a:r>
              <a:rPr b="0"/>
              <a:t> Веб-сайт, мобильное приложение, чат-бот</a:t>
            </a:r>
          </a:p>
        </p:txBody>
      </p:sp>
      <p:sp>
        <p:nvSpPr>
          <p:cNvPr id="830" name="Text 10"/>
          <p:cNvSpPr txBox="1"/>
          <p:nvPr/>
        </p:nvSpPr>
        <p:spPr>
          <a:xfrm>
            <a:off x="2272461" y="6273677"/>
            <a:ext cx="492089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</a:t>
            </a:r>
            <a:r>
              <a:rPr b="0"/>
              <a:t> Интерес, но разочарование</a:t>
            </a:r>
          </a:p>
        </p:txBody>
      </p:sp>
      <p:sp>
        <p:nvSpPr>
          <p:cNvPr id="831" name="Text 11"/>
          <p:cNvSpPr txBox="1"/>
          <p:nvPr/>
        </p:nvSpPr>
        <p:spPr>
          <a:xfrm>
            <a:off x="2272461" y="6576492"/>
            <a:ext cx="9374375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ct val="260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Действие:</a:t>
            </a:r>
            <a:r>
              <a:rPr b="0"/>
              <a:t> Скачивает приложение, пытается разобраться в функциях</a:t>
            </a:r>
          </a:p>
        </p:txBody>
      </p:sp>
      <p:pic>
        <p:nvPicPr>
          <p:cNvPr id="832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57585" y="8187289"/>
            <a:ext cx="988616" cy="1915518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Text 12"/>
          <p:cNvSpPr txBox="1"/>
          <p:nvPr/>
        </p:nvSpPr>
        <p:spPr>
          <a:xfrm>
            <a:off x="2225893" y="8384932"/>
            <a:ext cx="7022121" cy="30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3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3: КУПИЛ/ЗАРЕГИСТРИРОВАЛСЯ (Покупка)</a:t>
            </a:r>
          </a:p>
        </p:txBody>
      </p:sp>
      <p:sp>
        <p:nvSpPr>
          <p:cNvPr id="834" name="Text 13"/>
          <p:cNvSpPr txBox="1"/>
          <p:nvPr/>
        </p:nvSpPr>
        <p:spPr>
          <a:xfrm>
            <a:off x="2225893" y="8755812"/>
            <a:ext cx="9762915" cy="25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Точка боли:</a:t>
            </a:r>
            <a:r>
              <a:rPr b="0"/>
              <a:t> Долгая процедура верификации (требует документы, фото)</a:t>
            </a:r>
          </a:p>
        </p:txBody>
      </p:sp>
      <p:sp>
        <p:nvSpPr>
          <p:cNvPr id="835" name="Text 14"/>
          <p:cNvSpPr txBox="1"/>
          <p:nvPr/>
        </p:nvSpPr>
        <p:spPr>
          <a:xfrm>
            <a:off x="2225893" y="9058628"/>
            <a:ext cx="10353502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 взаимодействия:</a:t>
            </a:r>
            <a:r>
              <a:rPr b="0"/>
              <a:t> Мобильное приложение, видеозвонок с оператором</a:t>
            </a:r>
          </a:p>
        </p:txBody>
      </p:sp>
      <p:sp>
        <p:nvSpPr>
          <p:cNvPr id="836" name="Text 15"/>
          <p:cNvSpPr txBox="1"/>
          <p:nvPr/>
        </p:nvSpPr>
        <p:spPr>
          <a:xfrm>
            <a:off x="2225893" y="9361444"/>
            <a:ext cx="6958137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</a:t>
            </a:r>
            <a:r>
              <a:rPr b="0"/>
              <a:t> Нетерпение, беспокойство о безопасности</a:t>
            </a:r>
          </a:p>
        </p:txBody>
      </p:sp>
      <p:sp>
        <p:nvSpPr>
          <p:cNvPr id="837" name="Text 16"/>
          <p:cNvSpPr txBox="1"/>
          <p:nvPr/>
        </p:nvSpPr>
        <p:spPr>
          <a:xfrm>
            <a:off x="2225893" y="9664258"/>
            <a:ext cx="6957864" cy="25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Действие:</a:t>
            </a:r>
            <a:r>
              <a:rPr b="0"/>
              <a:t> Проходит верификацию, открывает счет</a:t>
            </a:r>
          </a:p>
        </p:txBody>
      </p:sp>
      <p:pic>
        <p:nvPicPr>
          <p:cNvPr id="838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2559934" y="3488413"/>
            <a:ext cx="988616" cy="1915518"/>
          </a:xfrm>
          <a:prstGeom prst="rect">
            <a:avLst/>
          </a:prstGeom>
          <a:ln w="12700">
            <a:miter lim="400000"/>
          </a:ln>
        </p:spPr>
      </p:pic>
      <p:sp>
        <p:nvSpPr>
          <p:cNvPr id="839" name="Text 17"/>
          <p:cNvSpPr txBox="1"/>
          <p:nvPr/>
        </p:nvSpPr>
        <p:spPr>
          <a:xfrm>
            <a:off x="13974292" y="3647216"/>
            <a:ext cx="4150904" cy="30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3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4: ИСПОЛЬЗУЕТ (Опыт)</a:t>
            </a:r>
          </a:p>
        </p:txBody>
      </p:sp>
      <p:sp>
        <p:nvSpPr>
          <p:cNvPr id="840" name="Text 18"/>
          <p:cNvSpPr txBox="1"/>
          <p:nvPr/>
        </p:nvSpPr>
        <p:spPr>
          <a:xfrm>
            <a:off x="13974292" y="4018095"/>
            <a:ext cx="10277923" cy="25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Точка боли:</a:t>
            </a:r>
            <a:r>
              <a:rPr b="0"/>
              <a:t> Сложная навигация, долгие операции (5-7 шагов для перевода)</a:t>
            </a:r>
          </a:p>
        </p:txBody>
      </p:sp>
      <p:sp>
        <p:nvSpPr>
          <p:cNvPr id="841" name="Text 19"/>
          <p:cNvSpPr txBox="1"/>
          <p:nvPr/>
        </p:nvSpPr>
        <p:spPr>
          <a:xfrm>
            <a:off x="13974292" y="4320910"/>
            <a:ext cx="9321714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 взаимодействия:</a:t>
            </a:r>
            <a:r>
              <a:rPr b="0"/>
              <a:t> Мобильное приложение, служба поддержки</a:t>
            </a:r>
          </a:p>
        </p:txBody>
      </p:sp>
      <p:sp>
        <p:nvSpPr>
          <p:cNvPr id="842" name="Text 20"/>
          <p:cNvSpPr txBox="1"/>
          <p:nvPr/>
        </p:nvSpPr>
        <p:spPr>
          <a:xfrm>
            <a:off x="13974292" y="4623725"/>
            <a:ext cx="6934673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</a:t>
            </a:r>
            <a:r>
              <a:rPr b="0"/>
              <a:t> Фрустрация, желание найти альтернативу</a:t>
            </a:r>
          </a:p>
        </p:txBody>
      </p:sp>
      <p:sp>
        <p:nvSpPr>
          <p:cNvPr id="843" name="Text 21"/>
          <p:cNvSpPr txBox="1"/>
          <p:nvPr/>
        </p:nvSpPr>
        <p:spPr>
          <a:xfrm>
            <a:off x="13974292" y="4926542"/>
            <a:ext cx="9798932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Действие:</a:t>
            </a:r>
            <a:r>
              <a:rPr b="0"/>
              <a:t> Совершает первые платежи, но ищет более удобные решения</a:t>
            </a:r>
          </a:p>
        </p:txBody>
      </p:sp>
      <p:pic>
        <p:nvPicPr>
          <p:cNvPr id="844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2843667" y="10305193"/>
            <a:ext cx="988616" cy="1915518"/>
          </a:xfrm>
          <a:prstGeom prst="rect">
            <a:avLst/>
          </a:prstGeom>
          <a:ln w="12700">
            <a:miter lim="400000"/>
          </a:ln>
        </p:spPr>
      </p:pic>
      <p:sp>
        <p:nvSpPr>
          <p:cNvPr id="845" name="Text 22"/>
          <p:cNvSpPr txBox="1"/>
          <p:nvPr/>
        </p:nvSpPr>
        <p:spPr>
          <a:xfrm>
            <a:off x="14142899" y="10463994"/>
            <a:ext cx="5303566" cy="301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3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5: РЕКОМЕНДУЕТ (Лояльность)</a:t>
            </a:r>
          </a:p>
        </p:txBody>
      </p:sp>
      <p:sp>
        <p:nvSpPr>
          <p:cNvPr id="846" name="Text 23"/>
          <p:cNvSpPr txBox="1"/>
          <p:nvPr/>
        </p:nvSpPr>
        <p:spPr>
          <a:xfrm>
            <a:off x="14142897" y="10834875"/>
            <a:ext cx="9843543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Точка боли:</a:t>
            </a:r>
            <a:r>
              <a:rPr b="0"/>
              <a:t> Нет причин рекомендовать, если есть лучшие альтернативы</a:t>
            </a:r>
          </a:p>
        </p:txBody>
      </p:sp>
      <p:sp>
        <p:nvSpPr>
          <p:cNvPr id="847" name="Text 24"/>
          <p:cNvSpPr txBox="1"/>
          <p:nvPr/>
        </p:nvSpPr>
        <p:spPr>
          <a:xfrm>
            <a:off x="14142897" y="11137689"/>
            <a:ext cx="9007117" cy="250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 взаимодействия:</a:t>
            </a:r>
            <a:r>
              <a:rPr b="0"/>
              <a:t> Социальные сети, рекомендации друзьям</a:t>
            </a:r>
          </a:p>
        </p:txBody>
      </p:sp>
      <p:sp>
        <p:nvSpPr>
          <p:cNvPr id="848" name="Text 25"/>
          <p:cNvSpPr txBox="1"/>
          <p:nvPr/>
        </p:nvSpPr>
        <p:spPr>
          <a:xfrm>
            <a:off x="14142897" y="11440506"/>
            <a:ext cx="5916664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</a:t>
            </a:r>
            <a:r>
              <a:rPr b="0"/>
              <a:t> Нейтральность или разочарование</a:t>
            </a:r>
          </a:p>
        </p:txBody>
      </p:sp>
      <p:sp>
        <p:nvSpPr>
          <p:cNvPr id="849" name="Text 26"/>
          <p:cNvSpPr txBox="1"/>
          <p:nvPr/>
        </p:nvSpPr>
        <p:spPr>
          <a:xfrm>
            <a:off x="14142897" y="11743321"/>
            <a:ext cx="8526352" cy="250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Действие:</a:t>
            </a:r>
            <a:r>
              <a:rPr b="0"/>
              <a:t> Не рекомендует друзьям, может уйти к конкурентам</a:t>
            </a:r>
          </a:p>
        </p:txBody>
      </p:sp>
      <p:sp>
        <p:nvSpPr>
          <p:cNvPr id="850" name="Text 27"/>
          <p:cNvSpPr txBox="1"/>
          <p:nvPr/>
        </p:nvSpPr>
        <p:spPr>
          <a:xfrm>
            <a:off x="765484" y="12740415"/>
            <a:ext cx="15496407" cy="273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b="1"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РЕШЕНИЕ:</a:t>
            </a:r>
            <a:r>
              <a:rPr b="0"/>
              <a:t> Внедрить AI-помощника для упрощения навигации и ускорения операций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Text 0"/>
          <p:cNvSpPr txBox="1"/>
          <p:nvPr/>
        </p:nvSpPr>
        <p:spPr>
          <a:xfrm>
            <a:off x="968771" y="2835671"/>
            <a:ext cx="16322775" cy="829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600"/>
              </a:lnSpc>
              <a:spcBef>
                <a:spcPts val="0"/>
              </a:spcBef>
              <a:defRPr b="1" sz="5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Сравнение Customer Journey для всех сегментов</a:t>
            </a:r>
          </a:p>
        </p:txBody>
      </p:sp>
      <p:sp>
        <p:nvSpPr>
          <p:cNvPr id="853" name="Shape 1"/>
          <p:cNvSpPr/>
          <p:nvPr/>
        </p:nvSpPr>
        <p:spPr>
          <a:xfrm>
            <a:off x="968771" y="4105671"/>
            <a:ext cx="22446458" cy="6774658"/>
          </a:xfrm>
          <a:prstGeom prst="roundRect">
            <a:avLst>
              <a:gd name="adj" fmla="val 1716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4" name="Shape 2"/>
          <p:cNvSpPr/>
          <p:nvPr/>
        </p:nvSpPr>
        <p:spPr>
          <a:xfrm>
            <a:off x="981472" y="4118371"/>
            <a:ext cx="22421058" cy="65186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5" name="Text 3"/>
          <p:cNvSpPr txBox="1"/>
          <p:nvPr/>
        </p:nvSpPr>
        <p:spPr>
          <a:xfrm>
            <a:off x="1258291" y="4252514"/>
            <a:ext cx="706985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ЭТАП</a:t>
            </a:r>
          </a:p>
        </p:txBody>
      </p:sp>
      <p:sp>
        <p:nvSpPr>
          <p:cNvPr id="856" name="Text 4"/>
          <p:cNvSpPr txBox="1"/>
          <p:nvPr/>
        </p:nvSpPr>
        <p:spPr>
          <a:xfrm>
            <a:off x="5748735" y="4252514"/>
            <a:ext cx="4092824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Станислав (Молодой специалист)</a:t>
            </a:r>
          </a:p>
        </p:txBody>
      </p:sp>
      <p:sp>
        <p:nvSpPr>
          <p:cNvPr id="857" name="Text 5"/>
          <p:cNvSpPr txBox="1"/>
          <p:nvPr/>
        </p:nvSpPr>
        <p:spPr>
          <a:xfrm>
            <a:off x="11353998" y="4252514"/>
            <a:ext cx="1707605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ИРИНА (МСБ)</a:t>
            </a:r>
          </a:p>
        </p:txBody>
      </p:sp>
      <p:sp>
        <p:nvSpPr>
          <p:cNvPr id="858" name="Text 6"/>
          <p:cNvSpPr txBox="1"/>
          <p:nvPr/>
        </p:nvSpPr>
        <p:spPr>
          <a:xfrm>
            <a:off x="16959262" y="4252514"/>
            <a:ext cx="3014440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Сергей (Корпоративный)</a:t>
            </a:r>
          </a:p>
        </p:txBody>
      </p:sp>
      <p:sp>
        <p:nvSpPr>
          <p:cNvPr id="859" name="Shape 7"/>
          <p:cNvSpPr/>
          <p:nvPr/>
        </p:nvSpPr>
        <p:spPr>
          <a:xfrm>
            <a:off x="981472" y="4770238"/>
            <a:ext cx="22421058" cy="65186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0" name="Text 8"/>
          <p:cNvSpPr txBox="1"/>
          <p:nvPr/>
        </p:nvSpPr>
        <p:spPr>
          <a:xfrm>
            <a:off x="1258291" y="4904383"/>
            <a:ext cx="903190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УЗНАЛ</a:t>
            </a:r>
          </a:p>
        </p:txBody>
      </p:sp>
      <p:sp>
        <p:nvSpPr>
          <p:cNvPr id="861" name="Text 9"/>
          <p:cNvSpPr txBox="1"/>
          <p:nvPr/>
        </p:nvSpPr>
        <p:spPr>
          <a:xfrm>
            <a:off x="5748735" y="4904383"/>
            <a:ext cx="2962226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Instagram, TikTok, друзья</a:t>
            </a:r>
          </a:p>
        </p:txBody>
      </p:sp>
      <p:sp>
        <p:nvSpPr>
          <p:cNvPr id="862" name="Text 10"/>
          <p:cNvSpPr txBox="1"/>
          <p:nvPr/>
        </p:nvSpPr>
        <p:spPr>
          <a:xfrm>
            <a:off x="11353998" y="4904383"/>
            <a:ext cx="4186338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LinkedIn, B2B-сайты, конференции</a:t>
            </a:r>
          </a:p>
        </p:txBody>
      </p:sp>
      <p:sp>
        <p:nvSpPr>
          <p:cNvPr id="863" name="Text 11"/>
          <p:cNvSpPr txBox="1"/>
          <p:nvPr/>
        </p:nvSpPr>
        <p:spPr>
          <a:xfrm>
            <a:off x="16959262" y="4904383"/>
            <a:ext cx="4102622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Деловые контакты, консультанты</a:t>
            </a:r>
          </a:p>
        </p:txBody>
      </p:sp>
      <p:sp>
        <p:nvSpPr>
          <p:cNvPr id="864" name="Shape 12"/>
          <p:cNvSpPr/>
          <p:nvPr/>
        </p:nvSpPr>
        <p:spPr>
          <a:xfrm>
            <a:off x="981472" y="5422106"/>
            <a:ext cx="22421058" cy="103544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5" name="Text 13"/>
          <p:cNvSpPr txBox="1"/>
          <p:nvPr/>
        </p:nvSpPr>
        <p:spPr>
          <a:xfrm>
            <a:off x="1258291" y="5556250"/>
            <a:ext cx="2327351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РАССМАТРИВАЕТ</a:t>
            </a:r>
          </a:p>
        </p:txBody>
      </p:sp>
      <p:sp>
        <p:nvSpPr>
          <p:cNvPr id="866" name="Text 14"/>
          <p:cNvSpPr txBox="1"/>
          <p:nvPr/>
        </p:nvSpPr>
        <p:spPr>
          <a:xfrm>
            <a:off x="5748735" y="5556250"/>
            <a:ext cx="5039321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Проверяет отзывы, использует веб приложение</a:t>
            </a:r>
          </a:p>
        </p:txBody>
      </p:sp>
      <p:sp>
        <p:nvSpPr>
          <p:cNvPr id="867" name="Text 15"/>
          <p:cNvSpPr txBox="1"/>
          <p:nvPr/>
        </p:nvSpPr>
        <p:spPr>
          <a:xfrm>
            <a:off x="11353998" y="5556250"/>
            <a:ext cx="5039321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Запрашивает условия кредита, встречается с менеджером</a:t>
            </a:r>
          </a:p>
        </p:txBody>
      </p:sp>
      <p:sp>
        <p:nvSpPr>
          <p:cNvPr id="868" name="Text 16"/>
          <p:cNvSpPr txBox="1"/>
          <p:nvPr/>
        </p:nvSpPr>
        <p:spPr>
          <a:xfrm>
            <a:off x="16959262" y="5556250"/>
            <a:ext cx="4542409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Требует презентацию, анализ рисков</a:t>
            </a:r>
          </a:p>
        </p:txBody>
      </p:sp>
      <p:sp>
        <p:nvSpPr>
          <p:cNvPr id="869" name="Shape 17"/>
          <p:cNvSpPr/>
          <p:nvPr/>
        </p:nvSpPr>
        <p:spPr>
          <a:xfrm>
            <a:off x="981472" y="6457553"/>
            <a:ext cx="22421058" cy="103544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0" name="Text 18"/>
          <p:cNvSpPr txBox="1"/>
          <p:nvPr/>
        </p:nvSpPr>
        <p:spPr>
          <a:xfrm>
            <a:off x="1258291" y="6591696"/>
            <a:ext cx="915468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КУПИЛ</a:t>
            </a:r>
          </a:p>
        </p:txBody>
      </p:sp>
      <p:sp>
        <p:nvSpPr>
          <p:cNvPr id="871" name="Text 19"/>
          <p:cNvSpPr txBox="1"/>
          <p:nvPr/>
        </p:nvSpPr>
        <p:spPr>
          <a:xfrm>
            <a:off x="5748735" y="6591696"/>
            <a:ext cx="4360218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Быстрая верификация через селфи</a:t>
            </a:r>
          </a:p>
        </p:txBody>
      </p:sp>
      <p:sp>
        <p:nvSpPr>
          <p:cNvPr id="872" name="Text 20"/>
          <p:cNvSpPr txBox="1"/>
          <p:nvPr/>
        </p:nvSpPr>
        <p:spPr>
          <a:xfrm>
            <a:off x="11353998" y="6591696"/>
            <a:ext cx="5039321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Долгая проверка документов (1-2 недели)</a:t>
            </a:r>
          </a:p>
        </p:txBody>
      </p:sp>
      <p:sp>
        <p:nvSpPr>
          <p:cNvPr id="873" name="Text 21"/>
          <p:cNvSpPr txBox="1"/>
          <p:nvPr/>
        </p:nvSpPr>
        <p:spPr>
          <a:xfrm>
            <a:off x="16959262" y="6591696"/>
            <a:ext cx="4479281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Переговоры с юристами (1-3 месяца)</a:t>
            </a:r>
          </a:p>
        </p:txBody>
      </p:sp>
      <p:sp>
        <p:nvSpPr>
          <p:cNvPr id="874" name="Shape 22"/>
          <p:cNvSpPr/>
          <p:nvPr/>
        </p:nvSpPr>
        <p:spPr>
          <a:xfrm>
            <a:off x="981472" y="7493000"/>
            <a:ext cx="22421058" cy="103544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5" name="Text 23"/>
          <p:cNvSpPr txBox="1"/>
          <p:nvPr/>
        </p:nvSpPr>
        <p:spPr>
          <a:xfrm>
            <a:off x="1258291" y="7627143"/>
            <a:ext cx="1778423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ИСПОЛЬЗУЕТ</a:t>
            </a:r>
          </a:p>
        </p:txBody>
      </p:sp>
      <p:sp>
        <p:nvSpPr>
          <p:cNvPr id="876" name="Text 24"/>
          <p:cNvSpPr txBox="1"/>
          <p:nvPr/>
        </p:nvSpPr>
        <p:spPr>
          <a:xfrm>
            <a:off x="5748735" y="7627143"/>
            <a:ext cx="3500860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Ежедневно, веб приложение</a:t>
            </a:r>
          </a:p>
        </p:txBody>
      </p:sp>
      <p:sp>
        <p:nvSpPr>
          <p:cNvPr id="877" name="Text 25"/>
          <p:cNvSpPr txBox="1"/>
          <p:nvPr/>
        </p:nvSpPr>
        <p:spPr>
          <a:xfrm>
            <a:off x="11353998" y="7627143"/>
            <a:ext cx="4176788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2-3 раза в неделю, веб-интерфейс</a:t>
            </a:r>
          </a:p>
        </p:txBody>
      </p:sp>
      <p:sp>
        <p:nvSpPr>
          <p:cNvPr id="878" name="Text 26"/>
          <p:cNvSpPr txBox="1"/>
          <p:nvPr/>
        </p:nvSpPr>
        <p:spPr>
          <a:xfrm>
            <a:off x="16959262" y="7627143"/>
            <a:ext cx="6166644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Еженедельно, через персонального менеджера</a:t>
            </a:r>
          </a:p>
        </p:txBody>
      </p:sp>
      <p:sp>
        <p:nvSpPr>
          <p:cNvPr id="879" name="Shape 27"/>
          <p:cNvSpPr/>
          <p:nvPr/>
        </p:nvSpPr>
        <p:spPr>
          <a:xfrm>
            <a:off x="981472" y="8528446"/>
            <a:ext cx="22421058" cy="65186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0" name="Text 28"/>
          <p:cNvSpPr txBox="1"/>
          <p:nvPr/>
        </p:nvSpPr>
        <p:spPr>
          <a:xfrm>
            <a:off x="1258291" y="8662589"/>
            <a:ext cx="1978349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РЕКОМЕНДУЕТ</a:t>
            </a:r>
          </a:p>
        </p:txBody>
      </p:sp>
      <p:sp>
        <p:nvSpPr>
          <p:cNvPr id="881" name="Text 29"/>
          <p:cNvSpPr txBox="1"/>
          <p:nvPr/>
        </p:nvSpPr>
        <p:spPr>
          <a:xfrm>
            <a:off x="5748735" y="8662589"/>
            <a:ext cx="2381424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Друзьям в соцсетях</a:t>
            </a:r>
          </a:p>
        </p:txBody>
      </p:sp>
      <p:sp>
        <p:nvSpPr>
          <p:cNvPr id="882" name="Text 30"/>
          <p:cNvSpPr txBox="1"/>
          <p:nvPr/>
        </p:nvSpPr>
        <p:spPr>
          <a:xfrm>
            <a:off x="11353998" y="8662589"/>
            <a:ext cx="2545756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Коллегам по бизнесу</a:t>
            </a:r>
          </a:p>
        </p:txBody>
      </p:sp>
      <p:sp>
        <p:nvSpPr>
          <p:cNvPr id="883" name="Text 31"/>
          <p:cNvSpPr txBox="1"/>
          <p:nvPr/>
        </p:nvSpPr>
        <p:spPr>
          <a:xfrm>
            <a:off x="16959262" y="8662589"/>
            <a:ext cx="3046066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Партнерам и инвесторам</a:t>
            </a:r>
          </a:p>
        </p:txBody>
      </p:sp>
      <p:sp>
        <p:nvSpPr>
          <p:cNvPr id="884" name="Shape 32"/>
          <p:cNvSpPr/>
          <p:nvPr/>
        </p:nvSpPr>
        <p:spPr>
          <a:xfrm>
            <a:off x="981472" y="9180313"/>
            <a:ext cx="22421058" cy="65186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5" name="Text 33"/>
          <p:cNvSpPr txBox="1"/>
          <p:nvPr/>
        </p:nvSpPr>
        <p:spPr>
          <a:xfrm>
            <a:off x="1258291" y="9314458"/>
            <a:ext cx="2063057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ГЛАВНАЯ БОЛЬ</a:t>
            </a:r>
          </a:p>
        </p:txBody>
      </p:sp>
      <p:sp>
        <p:nvSpPr>
          <p:cNvPr id="886" name="Text 34"/>
          <p:cNvSpPr txBox="1"/>
          <p:nvPr/>
        </p:nvSpPr>
        <p:spPr>
          <a:xfrm>
            <a:off x="5748735" y="9314458"/>
            <a:ext cx="2551584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Сложный интерфейс</a:t>
            </a:r>
          </a:p>
        </p:txBody>
      </p:sp>
      <p:sp>
        <p:nvSpPr>
          <p:cNvPr id="887" name="Text 35"/>
          <p:cNvSpPr txBox="1"/>
          <p:nvPr/>
        </p:nvSpPr>
        <p:spPr>
          <a:xfrm>
            <a:off x="11353998" y="9314458"/>
            <a:ext cx="2255913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Долгие процедуры</a:t>
            </a:r>
          </a:p>
        </p:txBody>
      </p:sp>
      <p:sp>
        <p:nvSpPr>
          <p:cNvPr id="888" name="Text 36"/>
          <p:cNvSpPr txBox="1"/>
          <p:nvPr/>
        </p:nvSpPr>
        <p:spPr>
          <a:xfrm>
            <a:off x="16959262" y="9314458"/>
            <a:ext cx="3165129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Ограничения на операции</a:t>
            </a:r>
          </a:p>
        </p:txBody>
      </p:sp>
      <p:sp>
        <p:nvSpPr>
          <p:cNvPr id="889" name="Shape 37"/>
          <p:cNvSpPr/>
          <p:nvPr/>
        </p:nvSpPr>
        <p:spPr>
          <a:xfrm>
            <a:off x="981472" y="9832181"/>
            <a:ext cx="22421058" cy="103544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0" name="Text 38"/>
          <p:cNvSpPr txBox="1"/>
          <p:nvPr/>
        </p:nvSpPr>
        <p:spPr>
          <a:xfrm>
            <a:off x="1258291" y="9966325"/>
            <a:ext cx="1296964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891" name="Text 39"/>
          <p:cNvSpPr txBox="1"/>
          <p:nvPr/>
        </p:nvSpPr>
        <p:spPr>
          <a:xfrm>
            <a:off x="5748735" y="9966325"/>
            <a:ext cx="3397672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AI-помощник для навигации</a:t>
            </a:r>
          </a:p>
        </p:txBody>
      </p:sp>
      <p:sp>
        <p:nvSpPr>
          <p:cNvPr id="892" name="Text 40"/>
          <p:cNvSpPr txBox="1"/>
          <p:nvPr/>
        </p:nvSpPr>
        <p:spPr>
          <a:xfrm>
            <a:off x="11353998" y="9966325"/>
            <a:ext cx="5039321" cy="744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Персональный менеджер + автоматизация</a:t>
            </a:r>
          </a:p>
        </p:txBody>
      </p:sp>
      <p:sp>
        <p:nvSpPr>
          <p:cNvPr id="893" name="Text 41"/>
          <p:cNvSpPr txBox="1"/>
          <p:nvPr/>
        </p:nvSpPr>
        <p:spPr>
          <a:xfrm>
            <a:off x="16959262" y="9966325"/>
            <a:ext cx="5386885" cy="363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Специализированный отдел + консультации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Карта эмпатии (Empathy Map) – Клиент Станислав"/>
          <p:cNvSpPr txBox="1"/>
          <p:nvPr/>
        </p:nvSpPr>
        <p:spPr>
          <a:xfrm>
            <a:off x="492785" y="514029"/>
            <a:ext cx="17673893" cy="944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Карта эмпатии (Empathy Map) – Клиент Станислав</a:t>
            </a:r>
          </a:p>
        </p:txBody>
      </p:sp>
      <p:sp>
        <p:nvSpPr>
          <p:cNvPr id="896" name="Что думает и чувствует?"/>
          <p:cNvSpPr txBox="1"/>
          <p:nvPr/>
        </p:nvSpPr>
        <p:spPr>
          <a:xfrm>
            <a:off x="9336785" y="1975382"/>
            <a:ext cx="5710429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Что думает и чувствует?</a:t>
            </a:r>
          </a:p>
        </p:txBody>
      </p:sp>
      <p:sp>
        <p:nvSpPr>
          <p:cNvPr id="897" name="Хочет удобное и быстрое управление финансами…"/>
          <p:cNvSpPr txBox="1"/>
          <p:nvPr/>
        </p:nvSpPr>
        <p:spPr>
          <a:xfrm>
            <a:off x="9194846" y="3138935"/>
            <a:ext cx="6843523" cy="2519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228600" indent="-228600">
              <a:spcBef>
                <a:spcPts val="3400"/>
              </a:spcBef>
              <a:buSzPct val="100000"/>
              <a:buChar char="•"/>
              <a:defRPr sz="2000"/>
            </a:pPr>
            <a:r>
              <a:t>Хочет удобное и быстрое управление финансами</a:t>
            </a:r>
          </a:p>
          <a:p>
            <a:pPr marL="228600" indent="-228600">
              <a:spcBef>
                <a:spcPts val="3400"/>
              </a:spcBef>
              <a:buSzPct val="100000"/>
              <a:buChar char="•"/>
              <a:defRPr sz="2000"/>
            </a:pPr>
            <a:r>
              <a:t>Ценит простоту и автоматизацию</a:t>
            </a:r>
          </a:p>
          <a:p>
            <a:pPr marL="228600" indent="-228600">
              <a:spcBef>
                <a:spcPts val="3400"/>
              </a:spcBef>
              <a:buSzPct val="100000"/>
              <a:buChar char="•"/>
              <a:defRPr sz="2000"/>
            </a:pPr>
            <a:r>
              <a:t>Раздражается из-за сложных интерфейсов</a:t>
            </a:r>
          </a:p>
          <a:p>
            <a:pPr marL="228600" indent="-228600">
              <a:lnSpc>
                <a:spcPct val="50000"/>
              </a:lnSpc>
              <a:spcBef>
                <a:spcPts val="3400"/>
              </a:spcBef>
              <a:buSzPct val="100000"/>
              <a:buChar char="•"/>
              <a:defRPr sz="2000"/>
            </a:pPr>
            <a:r>
              <a:t>Ожидает персонализацию и современные технологии</a:t>
            </a:r>
          </a:p>
        </p:txBody>
      </p:sp>
      <p:sp>
        <p:nvSpPr>
          <p:cNvPr id="898" name="Что видит?"/>
          <p:cNvSpPr txBox="1"/>
          <p:nvPr/>
        </p:nvSpPr>
        <p:spPr>
          <a:xfrm>
            <a:off x="17131275" y="5016332"/>
            <a:ext cx="264444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Что видит?</a:t>
            </a:r>
          </a:p>
        </p:txBody>
      </p:sp>
      <p:sp>
        <p:nvSpPr>
          <p:cNvPr id="899" name="• Удобные приложения конкурентов (финтех, банки)…"/>
          <p:cNvSpPr txBox="1"/>
          <p:nvPr/>
        </p:nvSpPr>
        <p:spPr>
          <a:xfrm>
            <a:off x="17035388" y="6090919"/>
            <a:ext cx="6487890" cy="1534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Удобные приложения конкурентов (финтех, банки)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Рекламу цифровых сервисов в соцсетях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Тренд на AI и автоматизацию</a:t>
            </a:r>
          </a:p>
        </p:txBody>
      </p:sp>
      <p:sp>
        <p:nvSpPr>
          <p:cNvPr id="900" name="Что слышит?"/>
          <p:cNvSpPr txBox="1"/>
          <p:nvPr/>
        </p:nvSpPr>
        <p:spPr>
          <a:xfrm>
            <a:off x="1709937" y="5143332"/>
            <a:ext cx="308564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Что слышит?</a:t>
            </a:r>
          </a:p>
        </p:txBody>
      </p:sp>
      <p:sp>
        <p:nvSpPr>
          <p:cNvPr id="901" name="• Рекомендации друзей использовать более удобные банки…"/>
          <p:cNvSpPr txBox="1"/>
          <p:nvPr/>
        </p:nvSpPr>
        <p:spPr>
          <a:xfrm>
            <a:off x="1614049" y="6217919"/>
            <a:ext cx="7334723" cy="1534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Рекомендации друзей использовать более удобные банки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Отзывы о плохом UX банковских приложений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Информацию о новых технологиях и AI</a:t>
            </a:r>
          </a:p>
        </p:txBody>
      </p:sp>
      <p:sp>
        <p:nvSpPr>
          <p:cNvPr id="902" name="Что говорит и делает?"/>
          <p:cNvSpPr txBox="1"/>
          <p:nvPr/>
        </p:nvSpPr>
        <p:spPr>
          <a:xfrm>
            <a:off x="9808250" y="9999990"/>
            <a:ext cx="5234484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Что говорит и делает?</a:t>
            </a:r>
          </a:p>
        </p:txBody>
      </p:sp>
      <p:sp>
        <p:nvSpPr>
          <p:cNvPr id="903" name="• Пользуется мобильным банкингом ежедневно…"/>
          <p:cNvSpPr txBox="1"/>
          <p:nvPr/>
        </p:nvSpPr>
        <p:spPr>
          <a:xfrm>
            <a:off x="9413032" y="10940963"/>
            <a:ext cx="6407151" cy="176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12700">
              <a:lnSpc>
                <a:spcPct val="15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	•	Пользуется мобильным банкингом ежедневно</a:t>
            </a:r>
          </a:p>
          <a:p>
            <a:pPr defTabSz="12700">
              <a:lnSpc>
                <a:spcPct val="15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	•	Сравнивает приложения разных банков</a:t>
            </a:r>
          </a:p>
          <a:p>
            <a:pPr defTabSz="12700">
              <a:lnSpc>
                <a:spcPct val="15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	•	Быстро отказывается от неудобных сервисов</a:t>
            </a:r>
          </a:p>
          <a:p>
            <a:pPr defTabSz="12700">
              <a:lnSpc>
                <a:spcPct val="15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	•	Ищет простые и быстрые решения</a:t>
            </a:r>
          </a:p>
        </p:txBody>
      </p:sp>
      <p:grpSp>
        <p:nvGrpSpPr>
          <p:cNvPr id="906" name="telegram-cloud-photo-size-2-5316812163039039623-y.jpg"/>
          <p:cNvGrpSpPr/>
          <p:nvPr/>
        </p:nvGrpSpPr>
        <p:grpSpPr>
          <a:xfrm>
            <a:off x="10787423" y="5977552"/>
            <a:ext cx="2809153" cy="3728603"/>
            <a:chOff x="0" y="0"/>
            <a:chExt cx="2809152" cy="3728602"/>
          </a:xfrm>
        </p:grpSpPr>
        <p:pic>
          <p:nvPicPr>
            <p:cNvPr id="905" name="telegram-cloud-photo-size-2-5316812163039039623-y.jpg" descr="telegram-cloud-photo-size-2-5316812163039039623-y.jp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5900" y="139700"/>
              <a:ext cx="2377353" cy="3169803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04" name="telegram-cloud-photo-size-2-5316812163039039623-y.jpg" descr="telegram-cloud-photo-size-2-5316812163039039623-y.jpg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2809153" cy="3728603"/>
            </a:xfrm>
            <a:prstGeom prst="rect">
              <a:avLst/>
            </a:prstGeom>
            <a:effectLst/>
          </p:spPr>
        </p:pic>
      </p:grpSp>
      <p:sp>
        <p:nvSpPr>
          <p:cNvPr id="907" name="Боли (проблемы):"/>
          <p:cNvSpPr txBox="1"/>
          <p:nvPr/>
        </p:nvSpPr>
        <p:spPr>
          <a:xfrm>
            <a:off x="1116486" y="9910330"/>
            <a:ext cx="4119830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Боли (проблемы):</a:t>
            </a:r>
          </a:p>
        </p:txBody>
      </p:sp>
      <p:sp>
        <p:nvSpPr>
          <p:cNvPr id="908" name="• Сложная навигация в приложении…"/>
          <p:cNvSpPr txBox="1"/>
          <p:nvPr/>
        </p:nvSpPr>
        <p:spPr>
          <a:xfrm>
            <a:off x="1019542" y="10772053"/>
            <a:ext cx="4466433" cy="209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Сложная навигация в приложении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Долгие операции (много шагов)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Отсутствие персональной помощи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Низкий уровень UX</a:t>
            </a:r>
          </a:p>
        </p:txBody>
      </p:sp>
      <p:sp>
        <p:nvSpPr>
          <p:cNvPr id="909" name="Ценности (ожидаемые выгоды):"/>
          <p:cNvSpPr txBox="1"/>
          <p:nvPr/>
        </p:nvSpPr>
        <p:spPr>
          <a:xfrm>
            <a:off x="16872385" y="9910330"/>
            <a:ext cx="739978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Ценности (ожидаемые выгоды):</a:t>
            </a:r>
          </a:p>
        </p:txBody>
      </p:sp>
      <p:sp>
        <p:nvSpPr>
          <p:cNvPr id="910" name="• Простота и скорость операций…"/>
          <p:cNvSpPr txBox="1"/>
          <p:nvPr/>
        </p:nvSpPr>
        <p:spPr>
          <a:xfrm>
            <a:off x="18046675" y="10772053"/>
            <a:ext cx="4465316" cy="209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Простота и скорость операций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Персонализированная помощь (AI)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Экономия времени</a:t>
            </a:r>
          </a:p>
          <a:p>
            <a:pPr marL="165100" indent="-165100" defTabSz="12700">
              <a:lnSpc>
                <a:spcPct val="135000"/>
              </a:lnSpc>
              <a:spcBef>
                <a:spcPts val="1200"/>
              </a:spcBef>
              <a:tabLst>
                <a:tab pos="63500" algn="r"/>
                <a:tab pos="165100" algn="l"/>
              </a:tabLst>
              <a:defRPr sz="2000">
                <a:solidFill>
                  <a:srgbClr val="11111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	•	Удобный и понятный интерфейс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Text 0"/>
          <p:cNvSpPr txBox="1"/>
          <p:nvPr/>
        </p:nvSpPr>
        <p:spPr>
          <a:xfrm>
            <a:off x="910630" y="2623343"/>
            <a:ext cx="11492000" cy="789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300"/>
              </a:lnSpc>
              <a:spcBef>
                <a:spcPts val="0"/>
              </a:spcBef>
              <a:defRPr b="1" sz="5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Ключевые выводы и рекомендации</a:t>
            </a:r>
          </a:p>
        </p:txBody>
      </p:sp>
      <p:sp>
        <p:nvSpPr>
          <p:cNvPr id="913" name="Text 1"/>
          <p:cNvSpPr txBox="1"/>
          <p:nvPr/>
        </p:nvSpPr>
        <p:spPr>
          <a:xfrm>
            <a:off x="910630" y="3507978"/>
            <a:ext cx="7602191" cy="624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ВЫВОДЫ ПО СЕГМЕНТАЦИИ:</a:t>
            </a:r>
          </a:p>
        </p:txBody>
      </p:sp>
      <p:sp>
        <p:nvSpPr>
          <p:cNvPr id="914" name="Shape 2"/>
          <p:cNvSpPr/>
          <p:nvPr/>
        </p:nvSpPr>
        <p:spPr>
          <a:xfrm>
            <a:off x="910630" y="4426941"/>
            <a:ext cx="7401520" cy="3472063"/>
          </a:xfrm>
          <a:prstGeom prst="roundRect">
            <a:avLst>
              <a:gd name="adj" fmla="val 3148"/>
            </a:avLst>
          </a:prstGeom>
          <a:solidFill>
            <a:srgbClr val="E1FFD3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5" name="Text 3"/>
          <p:cNvSpPr txBox="1"/>
          <p:nvPr/>
        </p:nvSpPr>
        <p:spPr>
          <a:xfrm>
            <a:off x="1183481" y="4699793"/>
            <a:ext cx="6855818" cy="79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Молодые специалисты (18-30 лет) - ПРИОРИТЕТНЫЙ СЕГМЕНТ</a:t>
            </a:r>
          </a:p>
        </p:txBody>
      </p:sp>
      <p:sp>
        <p:nvSpPr>
          <p:cNvPr id="916" name="Text 4"/>
          <p:cNvSpPr txBox="1"/>
          <p:nvPr/>
        </p:nvSpPr>
        <p:spPr>
          <a:xfrm>
            <a:off x="1183481" y="5619948"/>
            <a:ext cx="6855818" cy="1684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Наибольший потенциал роста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Активно используют мобильные приложения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Требуют простоту и скорость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Чувствительны к комиссиям и кешбэку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Каналы: социальные сети, рекомендации друзей</a:t>
            </a:r>
          </a:p>
        </p:txBody>
      </p:sp>
      <p:sp>
        <p:nvSpPr>
          <p:cNvPr id="917" name="Shape 5"/>
          <p:cNvSpPr/>
          <p:nvPr/>
        </p:nvSpPr>
        <p:spPr>
          <a:xfrm>
            <a:off x="8491139" y="4426941"/>
            <a:ext cx="7401521" cy="3472063"/>
          </a:xfrm>
          <a:prstGeom prst="roundRect">
            <a:avLst>
              <a:gd name="adj" fmla="val 3148"/>
            </a:avLst>
          </a:prstGeom>
          <a:solidFill>
            <a:srgbClr val="E1FFD3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18" name="Text 6"/>
          <p:cNvSpPr txBox="1"/>
          <p:nvPr/>
        </p:nvSpPr>
        <p:spPr>
          <a:xfrm>
            <a:off x="8763991" y="4699793"/>
            <a:ext cx="6855817" cy="391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МСБ (30-50 лет) - СТАБИЛЬНЫЙ СЕГМЕНТ</a:t>
            </a:r>
          </a:p>
        </p:txBody>
      </p:sp>
      <p:sp>
        <p:nvSpPr>
          <p:cNvPr id="919" name="Text 7"/>
          <p:cNvSpPr txBox="1"/>
          <p:nvPr/>
        </p:nvSpPr>
        <p:spPr>
          <a:xfrm>
            <a:off x="8763991" y="5619948"/>
            <a:ext cx="6855817" cy="1684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Нуждаются в кредитовании и автоматизации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Требуют персональную поддержку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Долгий цикл принятия решения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Готовы платить за качественный сервис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Каналы: LinkedIn, B2B-сайты, конференции</a:t>
            </a:r>
          </a:p>
        </p:txBody>
      </p:sp>
      <p:sp>
        <p:nvSpPr>
          <p:cNvPr id="920" name="Shape 8"/>
          <p:cNvSpPr/>
          <p:nvPr/>
        </p:nvSpPr>
        <p:spPr>
          <a:xfrm>
            <a:off x="16071651" y="4426941"/>
            <a:ext cx="7401521" cy="3472063"/>
          </a:xfrm>
          <a:prstGeom prst="roundRect">
            <a:avLst>
              <a:gd name="adj" fmla="val 3148"/>
            </a:avLst>
          </a:prstGeom>
          <a:solidFill>
            <a:srgbClr val="E1FFD3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1" name="Text 9"/>
          <p:cNvSpPr txBox="1"/>
          <p:nvPr/>
        </p:nvSpPr>
        <p:spPr>
          <a:xfrm>
            <a:off x="16344503" y="4699793"/>
            <a:ext cx="6855817" cy="793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Корпоративные клиенты (35-60 лет) - ПРЕМИУМ СЕГМЕНТ</a:t>
            </a:r>
          </a:p>
        </p:txBody>
      </p:sp>
      <p:sp>
        <p:nvSpPr>
          <p:cNvPr id="922" name="Text 10"/>
          <p:cNvSpPr txBox="1"/>
          <p:nvPr/>
        </p:nvSpPr>
        <p:spPr>
          <a:xfrm>
            <a:off x="16344503" y="5619948"/>
            <a:ext cx="6855817" cy="1684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Высокая стоимость клиента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Требуют специализированный сервис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Нуждаются в консультациях и аналитике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Долгосрочные отношения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Каналы: деловые контакты, консультанты</a:t>
            </a:r>
          </a:p>
        </p:txBody>
      </p:sp>
      <p:sp>
        <p:nvSpPr>
          <p:cNvPr id="923" name="Text 11"/>
          <p:cNvSpPr txBox="1"/>
          <p:nvPr/>
        </p:nvSpPr>
        <p:spPr>
          <a:xfrm>
            <a:off x="910630" y="8167488"/>
            <a:ext cx="9551343" cy="624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СТРАТЕГИЧЕСКИЕ РЕКОМЕНДАЦИИ:</a:t>
            </a:r>
          </a:p>
        </p:txBody>
      </p:sp>
      <p:sp>
        <p:nvSpPr>
          <p:cNvPr id="924" name="Text 12"/>
          <p:cNvSpPr txBox="1"/>
          <p:nvPr/>
        </p:nvSpPr>
        <p:spPr>
          <a:xfrm>
            <a:off x="910629" y="9086453"/>
            <a:ext cx="22562740" cy="1695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Разработать отдельные стратегии для каждого сегмента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Для молодежи: упростить интерфейс, добавить AI-помощника, развивать социальные каналы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Для МСБ: создать персональный менеджер, автоматизировать процессы, ускорить кредитование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Для корпоративных: развивать ESG-инвестиции, предоставлять консультации, гарантировать конфиденциальность</a:t>
            </a:r>
          </a:p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Измерять успех по метрикам: CAC (стоимость привлечения), LTV (lifetime value), NPS (Net Promoter Score)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1" cy="4725392"/>
          </a:xfrm>
          <a:prstGeom prst="rect">
            <a:avLst/>
          </a:prstGeom>
          <a:ln w="12700">
            <a:miter lim="400000"/>
          </a:ln>
        </p:spPr>
      </p:pic>
      <p:sp>
        <p:nvSpPr>
          <p:cNvPr id="927" name="Text 0"/>
          <p:cNvSpPr txBox="1"/>
          <p:nvPr/>
        </p:nvSpPr>
        <p:spPr>
          <a:xfrm>
            <a:off x="1322983" y="7018735"/>
            <a:ext cx="21738036" cy="2305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Практическое занятие 5. Разработка продукта или услуги</a:t>
            </a:r>
          </a:p>
        </p:txBody>
      </p:sp>
      <p:sp>
        <p:nvSpPr>
          <p:cNvPr id="928" name="Text 1"/>
          <p:cNvSpPr txBox="1"/>
          <p:nvPr/>
        </p:nvSpPr>
        <p:spPr>
          <a:xfrm>
            <a:off x="1322983" y="9532539"/>
            <a:ext cx="21738036" cy="1845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Трансформация идеи в конкретный, осязаемый продукт с четкими ценностями для клиента</a:t>
            </a:r>
          </a:p>
        </p:txBody>
      </p:sp>
      <p:sp>
        <p:nvSpPr>
          <p:cNvPr id="929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Text 0"/>
          <p:cNvSpPr txBox="1"/>
          <p:nvPr/>
        </p:nvSpPr>
        <p:spPr>
          <a:xfrm>
            <a:off x="1322983" y="812162"/>
            <a:ext cx="14086782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1. Название продукта и слоган</a:t>
            </a:r>
          </a:p>
        </p:txBody>
      </p:sp>
      <p:sp>
        <p:nvSpPr>
          <p:cNvPr id="932" name="Text 1"/>
          <p:cNvSpPr txBox="1"/>
          <p:nvPr/>
        </p:nvSpPr>
        <p:spPr>
          <a:xfrm>
            <a:off x="1322983" y="3947715"/>
            <a:ext cx="4591622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Название продукта:</a:t>
            </a:r>
          </a:p>
        </p:txBody>
      </p:sp>
      <p:sp>
        <p:nvSpPr>
          <p:cNvPr id="933" name="Text 2"/>
          <p:cNvSpPr txBox="1"/>
          <p:nvPr/>
        </p:nvSpPr>
        <p:spPr>
          <a:xfrm>
            <a:off x="1322983" y="4916288"/>
            <a:ext cx="10407850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4600"/>
              </a:lnSpc>
              <a:spcBef>
                <a:spcPts val="0"/>
              </a:spcBef>
              <a:defRPr b="1"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InvestHelper AI</a:t>
            </a:r>
            <a:r>
              <a:rPr b="0"/>
              <a:t> — персонализированный финансовый помощник на базе ИИ</a:t>
            </a:r>
          </a:p>
        </p:txBody>
      </p:sp>
      <p:sp>
        <p:nvSpPr>
          <p:cNvPr id="934" name="Text 3"/>
          <p:cNvSpPr txBox="1"/>
          <p:nvPr/>
        </p:nvSpPr>
        <p:spPr>
          <a:xfrm>
            <a:off x="1322983" y="6503988"/>
            <a:ext cx="1809577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Слоган:</a:t>
            </a:r>
          </a:p>
        </p:txBody>
      </p:sp>
      <p:sp>
        <p:nvSpPr>
          <p:cNvPr id="935" name="Text 4"/>
          <p:cNvSpPr txBox="1"/>
          <p:nvPr/>
        </p:nvSpPr>
        <p:spPr>
          <a:xfrm>
            <a:off x="1322983" y="7472561"/>
            <a:ext cx="10407850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"Управляй финансами как профессионал, даже если ты новичок"</a:t>
            </a:r>
          </a:p>
        </p:txBody>
      </p:sp>
      <p:sp>
        <p:nvSpPr>
          <p:cNvPr id="936" name="Text 5"/>
          <p:cNvSpPr txBox="1"/>
          <p:nvPr/>
        </p:nvSpPr>
        <p:spPr>
          <a:xfrm>
            <a:off x="12665867" y="3947715"/>
            <a:ext cx="5113339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Почему это название?</a:t>
            </a:r>
          </a:p>
        </p:txBody>
      </p:sp>
      <p:sp>
        <p:nvSpPr>
          <p:cNvPr id="937" name="Text 6"/>
          <p:cNvSpPr txBox="1"/>
          <p:nvPr/>
        </p:nvSpPr>
        <p:spPr>
          <a:xfrm>
            <a:off x="12665867" y="4916288"/>
            <a:ext cx="10407850" cy="292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Простое и запоминающееся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Отражает суть (финансовая помощь + AI)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Легко произносится на русском и английском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Позиционирует как помощника, а не сложный инструмент</a:t>
            </a:r>
          </a:p>
        </p:txBody>
      </p:sp>
      <p:sp>
        <p:nvSpPr>
          <p:cNvPr id="938" name="Text 7"/>
          <p:cNvSpPr txBox="1"/>
          <p:nvPr/>
        </p:nvSpPr>
        <p:spPr>
          <a:xfrm>
            <a:off x="12665867" y="8714978"/>
            <a:ext cx="4808837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Почему этот слоган?</a:t>
            </a:r>
          </a:p>
        </p:txBody>
      </p:sp>
      <p:sp>
        <p:nvSpPr>
          <p:cNvPr id="939" name="Text 8"/>
          <p:cNvSpPr txBox="1"/>
          <p:nvPr/>
        </p:nvSpPr>
        <p:spPr>
          <a:xfrm>
            <a:off x="12665867" y="9683551"/>
            <a:ext cx="10407850" cy="1741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Обращается к целевой аудитории (молодежь)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Обещает результат (управление как профессионал)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Снижает барьер входа (даже новичок)</a:t>
            </a:r>
          </a:p>
        </p:txBody>
      </p:sp>
      <p:sp>
        <p:nvSpPr>
          <p:cNvPr id="940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 0"/>
          <p:cNvSpPr txBox="1"/>
          <p:nvPr/>
        </p:nvSpPr>
        <p:spPr>
          <a:xfrm>
            <a:off x="1322983" y="1202135"/>
            <a:ext cx="12594036" cy="1511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6000"/>
              </a:lnSpc>
              <a:spcBef>
                <a:spcPts val="0"/>
              </a:spcBef>
              <a:defRPr b="1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2. Основное ценностное предложение (UVP)</a:t>
            </a:r>
          </a:p>
        </p:txBody>
      </p:sp>
      <p:sp>
        <p:nvSpPr>
          <p:cNvPr id="943" name="Text 1"/>
          <p:cNvSpPr txBox="1"/>
          <p:nvPr/>
        </p:nvSpPr>
        <p:spPr>
          <a:xfrm>
            <a:off x="1388689" y="3833063"/>
            <a:ext cx="11917842" cy="3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300"/>
              </a:lnSpc>
              <a:spcBef>
                <a:spcPts val="0"/>
              </a:spcBef>
              <a:defRPr sz="3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Мы помогаем молодым специалистам и студентам (18-30 лет) управлять финансами и копить на цели с помощью персонализированного AI-помощника, который интегрирован в мобильное приложение БелинвестБанка, в отличие от сложных традиционных приложений конкурентов, которые требуют много времени и навыков.</a:t>
            </a:r>
          </a:p>
        </p:txBody>
      </p:sp>
      <p:sp>
        <p:nvSpPr>
          <p:cNvPr id="944" name="Text 2"/>
          <p:cNvSpPr txBox="1"/>
          <p:nvPr/>
        </p:nvSpPr>
        <p:spPr>
          <a:xfrm>
            <a:off x="1322983" y="8083008"/>
            <a:ext cx="5992888" cy="60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800"/>
              </a:lnSpc>
              <a:spcBef>
                <a:spcPts val="0"/>
              </a:spcBef>
              <a:defRPr b="1" sz="3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Разбор по компонентам:</a:t>
            </a:r>
          </a:p>
        </p:txBody>
      </p:sp>
      <p:sp>
        <p:nvSpPr>
          <p:cNvPr id="945" name="Shape 3"/>
          <p:cNvSpPr/>
          <p:nvPr/>
        </p:nvSpPr>
        <p:spPr>
          <a:xfrm>
            <a:off x="1322983" y="8936885"/>
            <a:ext cx="4091584" cy="2378473"/>
          </a:xfrm>
          <a:prstGeom prst="roundRect">
            <a:avLst>
              <a:gd name="adj" fmla="val 433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Text 4"/>
          <p:cNvSpPr txBox="1"/>
          <p:nvPr/>
        </p:nvSpPr>
        <p:spPr>
          <a:xfrm>
            <a:off x="1594048" y="9207950"/>
            <a:ext cx="2857588" cy="3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Целевая аудитория:</a:t>
            </a:r>
          </a:p>
        </p:txBody>
      </p:sp>
      <p:sp>
        <p:nvSpPr>
          <p:cNvPr id="947" name="Text 5"/>
          <p:cNvSpPr txBox="1"/>
          <p:nvPr/>
        </p:nvSpPr>
        <p:spPr>
          <a:xfrm>
            <a:off x="1594048" y="9687573"/>
            <a:ext cx="3549453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Молодые специалисты и студенты (18-30 лет)</a:t>
            </a:r>
          </a:p>
        </p:txBody>
      </p:sp>
      <p:sp>
        <p:nvSpPr>
          <p:cNvPr id="948" name="Shape 6"/>
          <p:cNvSpPr/>
          <p:nvPr/>
        </p:nvSpPr>
        <p:spPr>
          <a:xfrm>
            <a:off x="5574110" y="8936885"/>
            <a:ext cx="4091584" cy="2378473"/>
          </a:xfrm>
          <a:prstGeom prst="roundRect">
            <a:avLst>
              <a:gd name="adj" fmla="val 433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9" name="Text 7"/>
          <p:cNvSpPr txBox="1"/>
          <p:nvPr/>
        </p:nvSpPr>
        <p:spPr>
          <a:xfrm>
            <a:off x="5845175" y="9207950"/>
            <a:ext cx="2297287" cy="3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Проблема/Цель:</a:t>
            </a:r>
          </a:p>
        </p:txBody>
      </p:sp>
      <p:sp>
        <p:nvSpPr>
          <p:cNvPr id="950" name="Text 8"/>
          <p:cNvSpPr txBox="1"/>
          <p:nvPr/>
        </p:nvSpPr>
        <p:spPr>
          <a:xfrm>
            <a:off x="5845175" y="9687573"/>
            <a:ext cx="3549452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Управление финансами и накопление на цели</a:t>
            </a:r>
          </a:p>
        </p:txBody>
      </p:sp>
      <p:sp>
        <p:nvSpPr>
          <p:cNvPr id="951" name="Shape 9"/>
          <p:cNvSpPr/>
          <p:nvPr/>
        </p:nvSpPr>
        <p:spPr>
          <a:xfrm>
            <a:off x="9825236" y="8936885"/>
            <a:ext cx="4091783" cy="2378473"/>
          </a:xfrm>
          <a:prstGeom prst="roundRect">
            <a:avLst>
              <a:gd name="adj" fmla="val 433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2" name="Text 10"/>
          <p:cNvSpPr txBox="1"/>
          <p:nvPr/>
        </p:nvSpPr>
        <p:spPr>
          <a:xfrm>
            <a:off x="10096301" y="9207950"/>
            <a:ext cx="3549651" cy="750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Ключевое преимущество:</a:t>
            </a:r>
          </a:p>
        </p:txBody>
      </p:sp>
      <p:sp>
        <p:nvSpPr>
          <p:cNvPr id="953" name="Text 11"/>
          <p:cNvSpPr txBox="1"/>
          <p:nvPr/>
        </p:nvSpPr>
        <p:spPr>
          <a:xfrm>
            <a:off x="10096301" y="10071550"/>
            <a:ext cx="3549651" cy="941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Персонализированный AI-помощник, интегрированный в приложение</a:t>
            </a:r>
          </a:p>
        </p:txBody>
      </p:sp>
      <p:sp>
        <p:nvSpPr>
          <p:cNvPr id="954" name="Shape 12"/>
          <p:cNvSpPr/>
          <p:nvPr/>
        </p:nvSpPr>
        <p:spPr>
          <a:xfrm>
            <a:off x="1322983" y="11474900"/>
            <a:ext cx="6217246" cy="1670249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5" name="Text 13"/>
          <p:cNvSpPr txBox="1"/>
          <p:nvPr/>
        </p:nvSpPr>
        <p:spPr>
          <a:xfrm>
            <a:off x="1594048" y="11745965"/>
            <a:ext cx="3658953" cy="3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Альтернатива/Конкурент:</a:t>
            </a:r>
          </a:p>
        </p:txBody>
      </p:sp>
      <p:sp>
        <p:nvSpPr>
          <p:cNvPr id="956" name="Text 14"/>
          <p:cNvSpPr txBox="1"/>
          <p:nvPr/>
        </p:nvSpPr>
        <p:spPr>
          <a:xfrm>
            <a:off x="1594048" y="12225590"/>
            <a:ext cx="5675114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Сложные традиционные приложения других банков</a:t>
            </a:r>
          </a:p>
        </p:txBody>
      </p:sp>
      <p:sp>
        <p:nvSpPr>
          <p:cNvPr id="957" name="Shape 15"/>
          <p:cNvSpPr/>
          <p:nvPr/>
        </p:nvSpPr>
        <p:spPr>
          <a:xfrm>
            <a:off x="7699771" y="11474900"/>
            <a:ext cx="6217246" cy="1670249"/>
          </a:xfrm>
          <a:prstGeom prst="roundRect">
            <a:avLst>
              <a:gd name="adj" fmla="val 617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8" name="Text 16"/>
          <p:cNvSpPr txBox="1"/>
          <p:nvPr/>
        </p:nvSpPr>
        <p:spPr>
          <a:xfrm>
            <a:off x="7970838" y="11745965"/>
            <a:ext cx="2101516" cy="3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Уникальность:</a:t>
            </a:r>
          </a:p>
        </p:txBody>
      </p:sp>
      <p:sp>
        <p:nvSpPr>
          <p:cNvPr id="959" name="Text 17"/>
          <p:cNvSpPr txBox="1"/>
          <p:nvPr/>
        </p:nvSpPr>
        <p:spPr>
          <a:xfrm>
            <a:off x="7970838" y="12225590"/>
            <a:ext cx="5675114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Снижение барьера входа, экономия времени, интуитивность</a:t>
            </a:r>
          </a:p>
        </p:txBody>
      </p:sp>
      <p:sp>
        <p:nvSpPr>
          <p:cNvPr id="960" name="Text 18"/>
          <p:cNvSpPr txBox="1"/>
          <p:nvPr/>
        </p:nvSpPr>
        <p:spPr>
          <a:xfrm>
            <a:off x="15437612" y="3731136"/>
            <a:ext cx="5216675" cy="60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800"/>
              </a:lnSpc>
              <a:spcBef>
                <a:spcPts val="0"/>
              </a:spcBef>
              <a:defRPr b="1" sz="3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Почему это работает:</a:t>
            </a:r>
          </a:p>
        </p:txBody>
      </p:sp>
      <p:sp>
        <p:nvSpPr>
          <p:cNvPr id="961" name="Text 19"/>
          <p:cNvSpPr txBox="1"/>
          <p:nvPr/>
        </p:nvSpPr>
        <p:spPr>
          <a:xfrm>
            <a:off x="15437612" y="4585013"/>
            <a:ext cx="8274776" cy="394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1109" indent="-561109" defTabSz="1524000">
              <a:lnSpc>
                <a:spcPts val="3900"/>
              </a:lnSpc>
              <a:spcBef>
                <a:spcPts val="0"/>
              </a:spcBef>
              <a:buSzPct val="100000"/>
              <a:buChar char="•"/>
              <a:defRPr sz="2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Четко определена целевая аудитория</a:t>
            </a:r>
          </a:p>
          <a:p>
            <a:pPr marL="561109" indent="-561109" defTabSz="1524000">
              <a:lnSpc>
                <a:spcPts val="3900"/>
              </a:lnSpc>
              <a:spcBef>
                <a:spcPts val="0"/>
              </a:spcBef>
              <a:buSzPct val="100000"/>
              <a:buChar char="•"/>
              <a:defRPr sz="2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Решает реальную проблему (сложность управления финансами)</a:t>
            </a:r>
          </a:p>
          <a:p>
            <a:pPr marL="561109" indent="-561109" defTabSz="1524000">
              <a:lnSpc>
                <a:spcPts val="3900"/>
              </a:lnSpc>
              <a:spcBef>
                <a:spcPts val="0"/>
              </a:spcBef>
              <a:buSzPct val="100000"/>
              <a:buChar char="•"/>
              <a:defRPr sz="2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Предлагает конкретное решение (AI-помощник)</a:t>
            </a:r>
          </a:p>
          <a:p>
            <a:pPr marL="561109" indent="-561109" defTabSz="1524000">
              <a:lnSpc>
                <a:spcPts val="3900"/>
              </a:lnSpc>
              <a:spcBef>
                <a:spcPts val="0"/>
              </a:spcBef>
              <a:buSzPct val="100000"/>
              <a:buChar char="•"/>
              <a:defRPr sz="2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Показывает отличие от конкурентов</a:t>
            </a:r>
          </a:p>
          <a:p>
            <a:pPr marL="561109" indent="-561109" defTabSz="1524000">
              <a:lnSpc>
                <a:spcPts val="3900"/>
              </a:lnSpc>
              <a:spcBef>
                <a:spcPts val="0"/>
              </a:spcBef>
              <a:buSzPct val="100000"/>
              <a:buChar char="•"/>
              <a:defRPr sz="2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Обещает конкретные выгоды (экономия времени, простота)</a:t>
            </a:r>
          </a:p>
        </p:txBody>
      </p:sp>
      <p:sp>
        <p:nvSpPr>
          <p:cNvPr id="962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Text 0"/>
          <p:cNvSpPr txBox="1"/>
          <p:nvPr/>
        </p:nvSpPr>
        <p:spPr>
          <a:xfrm>
            <a:off x="971550" y="931863"/>
            <a:ext cx="17099583" cy="82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600"/>
              </a:lnSpc>
              <a:spcBef>
                <a:spcPts val="0"/>
              </a:spcBef>
              <a:defRPr b="1" sz="5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3. Функциональные характеристики и особенности</a:t>
            </a:r>
          </a:p>
        </p:txBody>
      </p:sp>
      <p:sp>
        <p:nvSpPr>
          <p:cNvPr id="965" name="Text 1"/>
          <p:cNvSpPr txBox="1"/>
          <p:nvPr/>
        </p:nvSpPr>
        <p:spPr>
          <a:xfrm>
            <a:off x="764320" y="2520685"/>
            <a:ext cx="6420323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ЯДРО ПРОДУКТА (Основная функция)</a:t>
            </a:r>
          </a:p>
        </p:txBody>
      </p:sp>
      <p:sp>
        <p:nvSpPr>
          <p:cNvPr id="966" name="Text 2"/>
          <p:cNvSpPr txBox="1"/>
          <p:nvPr/>
        </p:nvSpPr>
        <p:spPr>
          <a:xfrm>
            <a:off x="705780" y="3380383"/>
            <a:ext cx="6951862" cy="287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AI-помощник, который помогает пользователю управлять финансами</a:t>
            </a:r>
          </a:p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Решает "боль" клиента: сложность навигации и управления деньгами</a:t>
            </a:r>
          </a:p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Основной результат: экономия времени, простота использования</a:t>
            </a:r>
          </a:p>
        </p:txBody>
      </p:sp>
      <p:sp>
        <p:nvSpPr>
          <p:cNvPr id="967" name="Text 3"/>
          <p:cNvSpPr txBox="1"/>
          <p:nvPr/>
        </p:nvSpPr>
        <p:spPr>
          <a:xfrm>
            <a:off x="8319116" y="6016123"/>
            <a:ext cx="7183041" cy="837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РЕАЛЬНЫЙ ПРОДУКТ (Конкретные характеристики)</a:t>
            </a:r>
          </a:p>
        </p:txBody>
      </p:sp>
      <p:sp>
        <p:nvSpPr>
          <p:cNvPr id="968" name="Text 5"/>
          <p:cNvSpPr txBox="1"/>
          <p:nvPr/>
        </p:nvSpPr>
        <p:spPr>
          <a:xfrm>
            <a:off x="8319116" y="7001128"/>
            <a:ext cx="7183041" cy="3044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Персональный AI-ассистент (чат-интерфейс)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Автоматическое распределение доходов по целям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Аналитика расходов в реальном времени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Рекомендации по экономии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 с программой лояльности БелинвестБанка</a:t>
            </a:r>
          </a:p>
        </p:txBody>
      </p:sp>
      <p:sp>
        <p:nvSpPr>
          <p:cNvPr id="969" name="Text 6"/>
          <p:cNvSpPr txBox="1"/>
          <p:nvPr/>
        </p:nvSpPr>
        <p:spPr>
          <a:xfrm>
            <a:off x="945689" y="9738294"/>
            <a:ext cx="1871819" cy="395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b="1"/>
              <a:t>Функции</a:t>
            </a:r>
            <a:r>
              <a:t>:</a:t>
            </a:r>
          </a:p>
        </p:txBody>
      </p:sp>
      <p:sp>
        <p:nvSpPr>
          <p:cNvPr id="970" name="Text 7"/>
          <p:cNvSpPr txBox="1"/>
          <p:nvPr/>
        </p:nvSpPr>
        <p:spPr>
          <a:xfrm>
            <a:off x="855961" y="10474946"/>
            <a:ext cx="7183040" cy="2742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6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Быстрые переводы (1 клик вместо 5-7)</a:t>
            </a:r>
          </a:p>
          <a:p>
            <a:pPr marL="527538" indent="-527538" defTabSz="1524000">
              <a:lnSpc>
                <a:spcPts val="36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Управление целями (накопление на квартиру, отпуск и т.д.)</a:t>
            </a:r>
          </a:p>
          <a:p>
            <a:pPr marL="527538" indent="-527538" defTabSz="1524000">
              <a:lnSpc>
                <a:spcPts val="36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Уведомления о больших расходах</a:t>
            </a:r>
          </a:p>
          <a:p>
            <a:pPr marL="527538" indent="-527538" defTabSz="1524000">
              <a:lnSpc>
                <a:spcPts val="36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Кешбэк и бонусы за покупки</a:t>
            </a:r>
          </a:p>
        </p:txBody>
      </p:sp>
      <p:sp>
        <p:nvSpPr>
          <p:cNvPr id="971" name="Text 8"/>
          <p:cNvSpPr txBox="1"/>
          <p:nvPr/>
        </p:nvSpPr>
        <p:spPr>
          <a:xfrm>
            <a:off x="16096465" y="9600141"/>
            <a:ext cx="4579852" cy="395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Технологический стек:</a:t>
            </a:r>
          </a:p>
        </p:txBody>
      </p:sp>
      <p:sp>
        <p:nvSpPr>
          <p:cNvPr id="972" name="Text 9"/>
          <p:cNvSpPr txBox="1"/>
          <p:nvPr/>
        </p:nvSpPr>
        <p:spPr>
          <a:xfrm>
            <a:off x="16142517" y="10077713"/>
            <a:ext cx="7183040" cy="326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Платформа: iOS, Android, веб-версия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Язык: Python (backend), React Native (frontend)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AI-модель: GPT-4 для обработки естественного языка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3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Интеграция: SWIFT, API БелинвестБанка</a:t>
            </a:r>
          </a:p>
        </p:txBody>
      </p:sp>
      <p:sp>
        <p:nvSpPr>
          <p:cNvPr id="973" name="Text 10"/>
          <p:cNvSpPr txBox="1"/>
          <p:nvPr/>
        </p:nvSpPr>
        <p:spPr>
          <a:xfrm>
            <a:off x="16485989" y="2309018"/>
            <a:ext cx="6951862" cy="837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РАСШИРЕННЫЙ ПРОДУКТ (Дополнительные услуги)</a:t>
            </a:r>
          </a:p>
        </p:txBody>
      </p:sp>
      <p:sp>
        <p:nvSpPr>
          <p:cNvPr id="974" name="Text 11"/>
          <p:cNvSpPr txBox="1"/>
          <p:nvPr/>
        </p:nvSpPr>
        <p:spPr>
          <a:xfrm>
            <a:off x="16485989" y="3380383"/>
            <a:ext cx="6951862" cy="3425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Техподдержка 24/7 через чат и телефон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Бесплатное обучение (видеоуроки, вебинары)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Гарантия безопасности (шифрование, двухфакторная аутентификация)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Комьюнити молодых инвесторов (форум, события)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Премиум-версия с расширенной аналитикой</a:t>
            </a:r>
          </a:p>
        </p:txBody>
      </p:sp>
      <p:sp>
        <p:nvSpPr>
          <p:cNvPr id="975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Text 0"/>
          <p:cNvSpPr txBox="1"/>
          <p:nvPr/>
        </p:nvSpPr>
        <p:spPr>
          <a:xfrm>
            <a:off x="971550" y="780256"/>
            <a:ext cx="19500950" cy="829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600"/>
              </a:lnSpc>
              <a:spcBef>
                <a:spcPts val="0"/>
              </a:spcBef>
              <a:defRPr b="1" sz="5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4. Гипотеза минимально жизнеспособного продукта (MVP)</a:t>
            </a:r>
          </a:p>
        </p:txBody>
      </p:sp>
      <p:sp>
        <p:nvSpPr>
          <p:cNvPr id="978" name="Text 1"/>
          <p:cNvSpPr txBox="1"/>
          <p:nvPr/>
        </p:nvSpPr>
        <p:spPr>
          <a:xfrm>
            <a:off x="971550" y="2411413"/>
            <a:ext cx="5877136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MVP v1.0 (Первый релиз - 3 месяца)</a:t>
            </a:r>
          </a:p>
        </p:txBody>
      </p:sp>
      <p:sp>
        <p:nvSpPr>
          <p:cNvPr id="979" name="Text 2"/>
          <p:cNvSpPr txBox="1"/>
          <p:nvPr/>
        </p:nvSpPr>
        <p:spPr>
          <a:xfrm>
            <a:off x="971550" y="2926556"/>
            <a:ext cx="3704879" cy="414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Функции для запуска:</a:t>
            </a:r>
          </a:p>
        </p:txBody>
      </p:sp>
      <p:sp>
        <p:nvSpPr>
          <p:cNvPr id="980" name="Text 3"/>
          <p:cNvSpPr txBox="1"/>
          <p:nvPr/>
        </p:nvSpPr>
        <p:spPr>
          <a:xfrm>
            <a:off x="971550" y="3564136"/>
            <a:ext cx="8389136" cy="3237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Базовый AI-ассистент (ответы на вопросы о переводах, платежах)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Быстрые переводы (упрощенный интерфейс)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Управление целями (создание и отслеживание)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Базовая аналитика расходов (график по категориям)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Интеграция с программой лояльности БелинвестБанка</a:t>
            </a:r>
          </a:p>
          <a:p>
            <a:pPr marL="527538" indent="-527538" defTabSz="1524000">
              <a:lnSpc>
                <a:spcPts val="32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Мобильное приложение (iOS и Android)</a:t>
            </a:r>
          </a:p>
        </p:txBody>
      </p:sp>
      <p:sp>
        <p:nvSpPr>
          <p:cNvPr id="981" name="Text 4"/>
          <p:cNvSpPr txBox="1"/>
          <p:nvPr/>
        </p:nvSpPr>
        <p:spPr>
          <a:xfrm>
            <a:off x="971550" y="7197129"/>
            <a:ext cx="3608463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Что НЕ входит в MVP:</a:t>
            </a:r>
          </a:p>
        </p:txBody>
      </p:sp>
      <p:sp>
        <p:nvSpPr>
          <p:cNvPr id="982" name="Text 5"/>
          <p:cNvSpPr txBox="1"/>
          <p:nvPr/>
        </p:nvSpPr>
        <p:spPr>
          <a:xfrm>
            <a:off x="971550" y="7834710"/>
            <a:ext cx="5877136" cy="1903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Премиум-версия</a:t>
            </a:r>
          </a:p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Комьюнити и форум</a:t>
            </a:r>
          </a:p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Расширенная аналитика</a:t>
            </a:r>
          </a:p>
          <a:p>
            <a:pPr marL="527538" indent="-527538" defTabSz="1524000">
              <a:lnSpc>
                <a:spcPts val="38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Интеграция с другими банками</a:t>
            </a:r>
          </a:p>
        </p:txBody>
      </p:sp>
      <p:sp>
        <p:nvSpPr>
          <p:cNvPr id="983" name="Text 6"/>
          <p:cNvSpPr txBox="1"/>
          <p:nvPr/>
        </p:nvSpPr>
        <p:spPr>
          <a:xfrm>
            <a:off x="971550" y="10427889"/>
            <a:ext cx="3572186" cy="414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Метрики успеха MVP:</a:t>
            </a:r>
          </a:p>
        </p:txBody>
      </p:sp>
      <p:sp>
        <p:nvSpPr>
          <p:cNvPr id="984" name="Text 7"/>
          <p:cNvSpPr txBox="1"/>
          <p:nvPr/>
        </p:nvSpPr>
        <p:spPr>
          <a:xfrm>
            <a:off x="971550" y="11065469"/>
            <a:ext cx="6847506" cy="2197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5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1000+ активных пользователей в первый месяц</a:t>
            </a:r>
          </a:p>
          <a:p>
            <a:pPr marL="527538" indent="-527538" defTabSz="1524000">
              <a:lnSpc>
                <a:spcPts val="35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NPS ≥ 50</a:t>
            </a:r>
          </a:p>
          <a:p>
            <a:pPr marL="527538" indent="-527538" defTabSz="1524000">
              <a:lnSpc>
                <a:spcPts val="35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Retention rate ≥ 40% (через 30 дней)</a:t>
            </a:r>
          </a:p>
          <a:p>
            <a:pPr marL="527538" indent="-527538" defTabSz="1524000">
              <a:lnSpc>
                <a:spcPts val="3500"/>
              </a:lnSpc>
              <a:spcBef>
                <a:spcPts val="0"/>
              </a:spcBef>
              <a:buSzPct val="100000"/>
              <a:buChar char="•"/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Среднее время операции &lt; 30 секунд</a:t>
            </a:r>
          </a:p>
        </p:txBody>
      </p:sp>
      <p:sp>
        <p:nvSpPr>
          <p:cNvPr id="985" name="Text 8"/>
          <p:cNvSpPr txBox="1"/>
          <p:nvPr/>
        </p:nvSpPr>
        <p:spPr>
          <a:xfrm>
            <a:off x="9572945" y="7393729"/>
            <a:ext cx="5184813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ROADMAP (Развитие продукта)</a:t>
            </a:r>
          </a:p>
        </p:txBody>
      </p:sp>
      <p:sp>
        <p:nvSpPr>
          <p:cNvPr id="986" name="Text 9"/>
          <p:cNvSpPr txBox="1"/>
          <p:nvPr/>
        </p:nvSpPr>
        <p:spPr>
          <a:xfrm>
            <a:off x="9572945" y="7908873"/>
            <a:ext cx="2343771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Q2 2026 (v1.1):</a:t>
            </a:r>
          </a:p>
        </p:txBody>
      </p:sp>
      <p:sp>
        <p:nvSpPr>
          <p:cNvPr id="987" name="Text 10"/>
          <p:cNvSpPr txBox="1"/>
          <p:nvPr/>
        </p:nvSpPr>
        <p:spPr>
          <a:xfrm>
            <a:off x="9572945" y="8546452"/>
            <a:ext cx="6847506" cy="1895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Расширенная аналитика (прогнозы расходов)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Рекомендации по экономии на основе AI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 с платежной системой Оплати</a:t>
            </a:r>
            <a:r>
              <a:rPr>
                <a:solidFill>
                  <a:srgbClr val="000000"/>
                </a:solidFill>
              </a:rPr>
              <a:t>™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Техподдержка 24/7</a:t>
            </a:r>
          </a:p>
        </p:txBody>
      </p:sp>
      <p:sp>
        <p:nvSpPr>
          <p:cNvPr id="988" name="Text 11"/>
          <p:cNvSpPr txBox="1"/>
          <p:nvPr/>
        </p:nvSpPr>
        <p:spPr>
          <a:xfrm>
            <a:off x="9849251" y="10971872"/>
            <a:ext cx="2343771" cy="414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Q3 2026 (v1.2):</a:t>
            </a:r>
          </a:p>
        </p:txBody>
      </p:sp>
      <p:sp>
        <p:nvSpPr>
          <p:cNvPr id="989" name="Text 12"/>
          <p:cNvSpPr txBox="1"/>
          <p:nvPr/>
        </p:nvSpPr>
        <p:spPr>
          <a:xfrm>
            <a:off x="9849251" y="11609453"/>
            <a:ext cx="7230305" cy="1895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Премиум-версия с дополнительными функциями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Комьюнити молодых инвесторов (форум)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Образовательный контент (вебинары, статьи)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 с криптовалютными кошельками</a:t>
            </a:r>
          </a:p>
        </p:txBody>
      </p:sp>
      <p:sp>
        <p:nvSpPr>
          <p:cNvPr id="990" name="Text 13"/>
          <p:cNvSpPr txBox="1"/>
          <p:nvPr/>
        </p:nvSpPr>
        <p:spPr>
          <a:xfrm>
            <a:off x="16641773" y="2678512"/>
            <a:ext cx="2343771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Q4 2026 (v2.0):</a:t>
            </a:r>
          </a:p>
        </p:txBody>
      </p:sp>
      <p:sp>
        <p:nvSpPr>
          <p:cNvPr id="991" name="Text 14"/>
          <p:cNvSpPr txBox="1"/>
          <p:nvPr/>
        </p:nvSpPr>
        <p:spPr>
          <a:xfrm>
            <a:off x="16641773" y="3316092"/>
            <a:ext cx="7230304" cy="1895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 с другими банками Беларуси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Инвестиционные инструменты (акции, облигации)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Персональный финансовый план на основе AI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Расширение на рынки СНГ</a:t>
            </a:r>
          </a:p>
        </p:txBody>
      </p:sp>
      <p:sp>
        <p:nvSpPr>
          <p:cNvPr id="992" name="Text 15"/>
          <p:cNvSpPr txBox="1"/>
          <p:nvPr/>
        </p:nvSpPr>
        <p:spPr>
          <a:xfrm>
            <a:off x="16641773" y="5693372"/>
            <a:ext cx="2004381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2027 (v2.1+):</a:t>
            </a:r>
          </a:p>
        </p:txBody>
      </p:sp>
      <p:sp>
        <p:nvSpPr>
          <p:cNvPr id="993" name="Text 16"/>
          <p:cNvSpPr txBox="1"/>
          <p:nvPr/>
        </p:nvSpPr>
        <p:spPr>
          <a:xfrm>
            <a:off x="16641773" y="6330951"/>
            <a:ext cx="5692094" cy="1895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Международные переводы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Страховые продукты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Кредитные предложения на основе AI</a:t>
            </a:r>
          </a:p>
          <a:p>
            <a:pPr marL="527538" indent="-527538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Расширение на европейские рынки</a:t>
            </a:r>
          </a:p>
        </p:txBody>
      </p:sp>
      <p:sp>
        <p:nvSpPr>
          <p:cNvPr id="994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Text 0"/>
          <p:cNvSpPr txBox="1"/>
          <p:nvPr/>
        </p:nvSpPr>
        <p:spPr>
          <a:xfrm>
            <a:off x="727822" y="682586"/>
            <a:ext cx="16087281" cy="843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5. Визуализация продукта и Customer Journey</a:t>
            </a:r>
          </a:p>
        </p:txBody>
      </p:sp>
      <p:sp>
        <p:nvSpPr>
          <p:cNvPr id="997" name="Text 1"/>
          <p:cNvSpPr txBox="1"/>
          <p:nvPr/>
        </p:nvSpPr>
        <p:spPr>
          <a:xfrm>
            <a:off x="1372535" y="1934034"/>
            <a:ext cx="14411321" cy="1229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4000"/>
            </a:lvl1pPr>
          </a:lstStyle>
          <a:p>
            <a:pPr/>
            <a:r>
              <a:t>Макет главного экрана и путь пользователя при использовании InvestHelper AI</a:t>
            </a:r>
          </a:p>
        </p:txBody>
      </p:sp>
      <p:sp>
        <p:nvSpPr>
          <p:cNvPr id="998" name="Text 2"/>
          <p:cNvSpPr txBox="1"/>
          <p:nvPr/>
        </p:nvSpPr>
        <p:spPr>
          <a:xfrm>
            <a:off x="889000" y="3984625"/>
            <a:ext cx="6581137" cy="276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25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ГЛАВНЫЙ ЭКРАН ПРИЛОЖЕНИЯ (Макет)</a:t>
            </a:r>
          </a:p>
        </p:txBody>
      </p:sp>
      <p:sp>
        <p:nvSpPr>
          <p:cNvPr id="999" name="Text 3"/>
          <p:cNvSpPr txBox="1"/>
          <p:nvPr/>
        </p:nvSpPr>
        <p:spPr>
          <a:xfrm>
            <a:off x="935051" y="4701677"/>
            <a:ext cx="3513602" cy="387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Структура экрана:</a:t>
            </a:r>
          </a:p>
        </p:txBody>
      </p:sp>
      <p:sp>
        <p:nvSpPr>
          <p:cNvPr id="1000" name="Text 4"/>
          <p:cNvSpPr txBox="1"/>
          <p:nvPr/>
        </p:nvSpPr>
        <p:spPr>
          <a:xfrm>
            <a:off x="804671" y="5530490"/>
            <a:ext cx="5188006" cy="1901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AutoNum type="arabicPeriod" startAt="1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Заголовок: "InvestHelper AI" с иконкой AI-помощника</a:t>
            </a:r>
          </a:p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AutoNum type="arabicPeriod" startAt="2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Карточка баланса (основной счет)</a:t>
            </a:r>
          </a:p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AutoNum type="arabicPeriod" startAt="3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Быстрые действия (3 кнопки):</a:t>
            </a:r>
          </a:p>
        </p:txBody>
      </p:sp>
      <p:sp>
        <p:nvSpPr>
          <p:cNvPr id="1001" name="Text 5"/>
          <p:cNvSpPr txBox="1"/>
          <p:nvPr/>
        </p:nvSpPr>
        <p:spPr>
          <a:xfrm>
            <a:off x="7872360" y="11868217"/>
            <a:ext cx="6769287" cy="1148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8817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◦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"Отправить деньги" (1 клик)</a:t>
            </a:r>
          </a:p>
          <a:p>
            <a:pPr lvl="1" marL="8817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◦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"Моя цель" (накопление)</a:t>
            </a:r>
          </a:p>
          <a:p>
            <a:pPr lvl="1" marL="8817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◦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"Спросить AI" (чат с помощником)</a:t>
            </a:r>
          </a:p>
        </p:txBody>
      </p:sp>
      <p:sp>
        <p:nvSpPr>
          <p:cNvPr id="1002" name="Text 6"/>
          <p:cNvSpPr txBox="1"/>
          <p:nvPr/>
        </p:nvSpPr>
        <p:spPr>
          <a:xfrm>
            <a:off x="794925" y="7693355"/>
            <a:ext cx="6769287" cy="1139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AutoNum type="arabicPeriod" startAt="4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Последние операции (список)</a:t>
            </a:r>
          </a:p>
          <a:p>
            <a:pPr defTabSz="1524000">
              <a:lnSpc>
                <a:spcPts val="3000"/>
              </a:lnSpc>
              <a:spcBef>
                <a:spcPts val="0"/>
              </a:spcBef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AutoNum type="arabicPeriod" startAt="5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Рекомендации от AI (карточка)</a:t>
            </a:r>
          </a:p>
        </p:txBody>
      </p:sp>
      <p:sp>
        <p:nvSpPr>
          <p:cNvPr id="1003" name="Text 7"/>
          <p:cNvSpPr txBox="1"/>
          <p:nvPr/>
        </p:nvSpPr>
        <p:spPr>
          <a:xfrm>
            <a:off x="16592388" y="4964024"/>
            <a:ext cx="2024206" cy="208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InvestHelper:</a:t>
            </a:r>
          </a:p>
        </p:txBody>
      </p:sp>
      <p:sp>
        <p:nvSpPr>
          <p:cNvPr id="1004" name="Text 8"/>
          <p:cNvSpPr txBox="1"/>
          <p:nvPr/>
        </p:nvSpPr>
        <p:spPr>
          <a:xfrm>
            <a:off x="16452262" y="5707156"/>
            <a:ext cx="6769287" cy="3044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Цветовая схема: зеленый (БелинвестБанк) + белый + светло-голубой</a:t>
            </a:r>
          </a:p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Шрифт: современный, читаемый (Roboto, Inter)</a:t>
            </a:r>
          </a:p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Иконки: минималистичные, понятные</a:t>
            </a:r>
          </a:p>
          <a:p>
            <a:pPr marL="538842" indent="-538842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5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Анимация: плавные переходы, микровзаимодействия</a:t>
            </a:r>
          </a:p>
        </p:txBody>
      </p:sp>
      <p:sp>
        <p:nvSpPr>
          <p:cNvPr id="1005" name="Text 9"/>
          <p:cNvSpPr txBox="1"/>
          <p:nvPr/>
        </p:nvSpPr>
        <p:spPr>
          <a:xfrm>
            <a:off x="8037904" y="11300093"/>
            <a:ext cx="8473735" cy="276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25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CUSTOMER JOURNEY: Использование InvestHelper AI</a:t>
            </a:r>
          </a:p>
        </p:txBody>
      </p:sp>
      <p:sp>
        <p:nvSpPr>
          <p:cNvPr id="1006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00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206595" y="4696817"/>
            <a:ext cx="5065498" cy="50654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Text 0"/>
          <p:cNvSpPr txBox="1"/>
          <p:nvPr/>
        </p:nvSpPr>
        <p:spPr>
          <a:xfrm>
            <a:off x="727822" y="682586"/>
            <a:ext cx="18429352" cy="843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5500"/>
            </a:lvl1pPr>
          </a:lstStyle>
          <a:p>
            <a:pPr/>
            <a:r>
              <a:t>5. CUSTOMER JOURNEY: Использование FinHelper AI</a:t>
            </a:r>
          </a:p>
        </p:txBody>
      </p:sp>
      <p:sp>
        <p:nvSpPr>
          <p:cNvPr id="1010" name="Text 10"/>
          <p:cNvSpPr txBox="1"/>
          <p:nvPr/>
        </p:nvSpPr>
        <p:spPr>
          <a:xfrm>
            <a:off x="1008492" y="2442961"/>
            <a:ext cx="5279877" cy="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9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1: ОТКРЫТИЕ ПРИЛОЖЕНИЯ</a:t>
            </a:r>
          </a:p>
        </p:txBody>
      </p:sp>
      <p:sp>
        <p:nvSpPr>
          <p:cNvPr id="1011" name="Text 11"/>
          <p:cNvSpPr txBox="1"/>
          <p:nvPr/>
        </p:nvSpPr>
        <p:spPr>
          <a:xfrm>
            <a:off x="1008492" y="3056980"/>
            <a:ext cx="8748940" cy="1101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Пользователь видит приветствие от AI-помощника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 Интерес, любопытство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Время: 5 секунд</a:t>
            </a:r>
          </a:p>
        </p:txBody>
      </p:sp>
      <p:sp>
        <p:nvSpPr>
          <p:cNvPr id="1012" name="Text 12"/>
          <p:cNvSpPr txBox="1"/>
          <p:nvPr/>
        </p:nvSpPr>
        <p:spPr>
          <a:xfrm>
            <a:off x="1031518" y="4903310"/>
            <a:ext cx="7300963" cy="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9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2: ПЕРВОЕ ДЕЙСТВИЕ (Быстрый перевод)</a:t>
            </a:r>
          </a:p>
        </p:txBody>
      </p:sp>
      <p:sp>
        <p:nvSpPr>
          <p:cNvPr id="1013" name="Text 13"/>
          <p:cNvSpPr txBox="1"/>
          <p:nvPr/>
        </p:nvSpPr>
        <p:spPr>
          <a:xfrm>
            <a:off x="1008492" y="5689372"/>
            <a:ext cx="8748940" cy="294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Нажимает "Отправить деньги"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 предлагает: "Кому отправить? Я помню ваших друзей"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Выбирает получателя из списка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Вводит сумму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 Удивление (так быстро!)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Время: 20 секунд (вместо 5-7 минут в старом приложении)</a:t>
            </a:r>
          </a:p>
        </p:txBody>
      </p:sp>
      <p:sp>
        <p:nvSpPr>
          <p:cNvPr id="1014" name="Text 14"/>
          <p:cNvSpPr txBox="1"/>
          <p:nvPr/>
        </p:nvSpPr>
        <p:spPr>
          <a:xfrm>
            <a:off x="1082918" y="9053535"/>
            <a:ext cx="4555084" cy="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9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3: УПРАВЛЕНИЕ ЦЕЛЬЮ</a:t>
            </a:r>
          </a:p>
        </p:txBody>
      </p:sp>
      <p:sp>
        <p:nvSpPr>
          <p:cNvPr id="1015" name="Text 15"/>
          <p:cNvSpPr txBox="1"/>
          <p:nvPr/>
        </p:nvSpPr>
        <p:spPr>
          <a:xfrm>
            <a:off x="1059893" y="9636605"/>
            <a:ext cx="5937401" cy="331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Нажимает "Моя цель"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 спрашивает: "На что вы копите? Квартира, отпуск, машина?"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Выбирает цель и сумму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 предлагает: "Если откладывать 500 BYN в месяц, вы накопите за 100 месяцев"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 Мотивация, ясность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Время: 1 минута</a:t>
            </a:r>
          </a:p>
        </p:txBody>
      </p:sp>
      <p:sp>
        <p:nvSpPr>
          <p:cNvPr id="1016" name="Text 16"/>
          <p:cNvSpPr txBox="1"/>
          <p:nvPr/>
        </p:nvSpPr>
        <p:spPr>
          <a:xfrm>
            <a:off x="13787643" y="2112512"/>
            <a:ext cx="5846913" cy="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9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4: ПОЛУЧЕНИЕ РЕКОМЕНДАЦИИ</a:t>
            </a:r>
          </a:p>
        </p:txBody>
      </p:sp>
      <p:sp>
        <p:nvSpPr>
          <p:cNvPr id="1017" name="Text 17"/>
          <p:cNvSpPr txBox="1"/>
          <p:nvPr/>
        </p:nvSpPr>
        <p:spPr>
          <a:xfrm>
            <a:off x="13833693" y="2747557"/>
            <a:ext cx="7278726" cy="2574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 анализирует расходы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Предлагает: "Вы потратили 200 BYN на кофе в этом месяце. Может, сэкономить?"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Пользователь видит, как это поможет его цели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 Осознание, контроль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Время: 30 секунд</a:t>
            </a:r>
          </a:p>
        </p:txBody>
      </p:sp>
      <p:sp>
        <p:nvSpPr>
          <p:cNvPr id="1018" name="Text 18"/>
          <p:cNvSpPr txBox="1"/>
          <p:nvPr/>
        </p:nvSpPr>
        <p:spPr>
          <a:xfrm>
            <a:off x="13824743" y="5809315"/>
            <a:ext cx="6202909" cy="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9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5: РЕГУЛЯРНОЕ ИСПОЛЬЗОВАНИЕ</a:t>
            </a:r>
          </a:p>
        </p:txBody>
      </p:sp>
      <p:sp>
        <p:nvSpPr>
          <p:cNvPr id="1019" name="Text 19"/>
          <p:cNvSpPr txBox="1"/>
          <p:nvPr/>
        </p:nvSpPr>
        <p:spPr>
          <a:xfrm>
            <a:off x="13893821" y="6543727"/>
            <a:ext cx="7158472" cy="2574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Пользователь открывает приложение каждый день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 становится его финансовым советником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Получает уведомления о больших расходах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Видит прогресс к своим целям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Эмоция: Уверенность, удовлетворение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Частота: Ежедневно</a:t>
            </a:r>
          </a:p>
        </p:txBody>
      </p:sp>
      <p:sp>
        <p:nvSpPr>
          <p:cNvPr id="1020" name="Text 20"/>
          <p:cNvSpPr txBox="1"/>
          <p:nvPr/>
        </p:nvSpPr>
        <p:spPr>
          <a:xfrm>
            <a:off x="13742733" y="9506119"/>
            <a:ext cx="1945532" cy="36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9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РЕЗУЛЬТАТ:</a:t>
            </a:r>
          </a:p>
        </p:txBody>
      </p:sp>
      <p:sp>
        <p:nvSpPr>
          <p:cNvPr id="1021" name="Text 21"/>
          <p:cNvSpPr txBox="1"/>
          <p:nvPr/>
        </p:nvSpPr>
        <p:spPr>
          <a:xfrm>
            <a:off x="13765758" y="10258711"/>
            <a:ext cx="5427332" cy="294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Пользователь управляет финансами как профессионал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Экономит 5-10 часов в месяц на управлении деньгами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Достигает своих финансовых целей</a:t>
            </a:r>
          </a:p>
          <a:p>
            <a:pPr marL="538842" indent="-538842" defTabSz="1524000">
              <a:lnSpc>
                <a:spcPts val="29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Становится лояльным клиентом БелинвестБанка</a:t>
            </a:r>
          </a:p>
        </p:txBody>
      </p:sp>
      <p:sp>
        <p:nvSpPr>
          <p:cNvPr id="1022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Text 0"/>
          <p:cNvSpPr txBox="1"/>
          <p:nvPr/>
        </p:nvSpPr>
        <p:spPr>
          <a:xfrm>
            <a:off x="909638" y="763190"/>
            <a:ext cx="11492000" cy="789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300"/>
              </a:lnSpc>
              <a:spcBef>
                <a:spcPts val="0"/>
              </a:spcBef>
              <a:defRPr b="1" sz="5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Ключевые выводы и рекомендации</a:t>
            </a:r>
          </a:p>
        </p:txBody>
      </p:sp>
      <p:sp>
        <p:nvSpPr>
          <p:cNvPr id="1025" name="Text 1"/>
          <p:cNvSpPr txBox="1"/>
          <p:nvPr/>
        </p:nvSpPr>
        <p:spPr>
          <a:xfrm>
            <a:off x="909638" y="2021681"/>
            <a:ext cx="3538439" cy="39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КЛЮЧЕВЫЕ ВЫВОДЫ:</a:t>
            </a:r>
          </a:p>
        </p:txBody>
      </p:sp>
      <p:sp>
        <p:nvSpPr>
          <p:cNvPr id="1026" name="Text 2"/>
          <p:cNvSpPr txBox="1"/>
          <p:nvPr/>
        </p:nvSpPr>
        <p:spPr>
          <a:xfrm>
            <a:off x="909638" y="2821855"/>
            <a:ext cx="10965460" cy="6691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b="1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Продукт решает реальную проблему</a:t>
            </a:r>
            <a:r>
              <a:rPr b="0"/>
              <a:t>             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87% пользователей недовольны текущим интерфейсом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92% готовы использовать AI-помощника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Главная боль: сложность навигации, а не функциональность</a:t>
            </a:r>
          </a:p>
          <a:p>
            <a:pPr marL="5715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b="1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Целевая аудитория четко определена</a:t>
            </a:r>
            <a:r>
              <a:rPr b="0"/>
              <a:t>             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Молодые специалисты и студенты (18-30 лет)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Активные пользователи цифровых сервисов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Готовы платить за удобство и экономию времени</a:t>
            </a:r>
          </a:p>
          <a:p>
            <a:pPr marL="5715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b="1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Конкурентное преимущество ясно</a:t>
            </a:r>
            <a:r>
              <a:rPr b="0"/>
              <a:t>             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AI-помощник как основной инструмент онбординга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 с программой лояльности БелинвестБанка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Упрощенный интерфейс (1 клик вместо 5-7)</a:t>
            </a:r>
          </a:p>
          <a:p>
            <a:pPr marL="5715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b="1"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MVP реалистичен и достижим</a:t>
            </a:r>
            <a:r>
              <a:rPr b="0"/>
              <a:t>             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3 месяца на разработку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Фокус на основных функциях</a:t>
            </a:r>
          </a:p>
          <a:p>
            <a:pPr lvl="1" marL="914400" indent="-571500" defTabSz="1524000">
              <a:lnSpc>
                <a:spcPts val="3300"/>
              </a:lnSpc>
              <a:spcBef>
                <a:spcPts val="0"/>
              </a:spcBef>
              <a:buSzPct val="100000"/>
              <a:buChar char="◦"/>
              <a:defRPr sz="2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Метрики успеха четко определены</a:t>
            </a:r>
          </a:p>
        </p:txBody>
      </p:sp>
      <p:sp>
        <p:nvSpPr>
          <p:cNvPr id="1027" name="Text 3"/>
          <p:cNvSpPr txBox="1"/>
          <p:nvPr/>
        </p:nvSpPr>
        <p:spPr>
          <a:xfrm>
            <a:off x="909638" y="9318029"/>
            <a:ext cx="10965460" cy="329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6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         </a:t>
            </a:r>
          </a:p>
        </p:txBody>
      </p:sp>
      <p:sp>
        <p:nvSpPr>
          <p:cNvPr id="1028" name="Text 4"/>
          <p:cNvSpPr txBox="1"/>
          <p:nvPr/>
        </p:nvSpPr>
        <p:spPr>
          <a:xfrm>
            <a:off x="909638" y="10198297"/>
            <a:ext cx="5650459" cy="39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РИСКИ И СПОСОБЫ ИХ СНИЖЕНИЯ:</a:t>
            </a:r>
          </a:p>
        </p:txBody>
      </p:sp>
      <p:sp>
        <p:nvSpPr>
          <p:cNvPr id="1029" name="Text 5"/>
          <p:cNvSpPr txBox="1"/>
          <p:nvPr/>
        </p:nvSpPr>
        <p:spPr>
          <a:xfrm>
            <a:off x="909638" y="10782894"/>
            <a:ext cx="10965460" cy="1543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71500" indent="-571500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t>⚠️</a:t>
            </a:r>
            <a:r>
              <a:rPr>
                <a:solidFill>
                  <a:srgbClr val="272525"/>
                </a:solidFill>
              </a:rPr>
              <a:t> </a:t>
            </a:r>
            <a:r>
              <a:rPr b="1">
                <a:solidFill>
                  <a:srgbClr val="272525"/>
                </a:solidFill>
              </a:rPr>
              <a:t>Риск: Конкуренция со стороны крупных банков</a:t>
            </a:r>
            <a:r>
              <a:rPr>
                <a:solidFill>
                  <a:srgbClr val="272525"/>
                </a:solidFill>
              </a:rPr>
              <a:t>             </a:t>
            </a:r>
          </a:p>
          <a:p>
            <a:pPr marL="571500" indent="-571500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t>⚠️</a:t>
            </a:r>
            <a:r>
              <a:rPr>
                <a:solidFill>
                  <a:srgbClr val="272525"/>
                </a:solidFill>
              </a:rPr>
              <a:t> </a:t>
            </a:r>
            <a:r>
              <a:rPr b="1">
                <a:solidFill>
                  <a:srgbClr val="272525"/>
                </a:solidFill>
              </a:rPr>
              <a:t>Риск: Технические сложности с интеграцией</a:t>
            </a:r>
            <a:r>
              <a:rPr>
                <a:solidFill>
                  <a:srgbClr val="272525"/>
                </a:solidFill>
              </a:rPr>
              <a:t>             </a:t>
            </a:r>
          </a:p>
          <a:p>
            <a:pPr marL="571500" indent="-571500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t>⚠️</a:t>
            </a:r>
            <a:r>
              <a:rPr>
                <a:solidFill>
                  <a:srgbClr val="272525"/>
                </a:solidFill>
              </a:rPr>
              <a:t> </a:t>
            </a:r>
            <a:r>
              <a:rPr b="1">
                <a:solidFill>
                  <a:srgbClr val="272525"/>
                </a:solidFill>
              </a:rPr>
              <a:t>Риск: Низкая adoption rate</a:t>
            </a:r>
            <a:r>
              <a:rPr>
                <a:solidFill>
                  <a:srgbClr val="272525"/>
                </a:solidFill>
              </a:rPr>
              <a:t>             </a:t>
            </a:r>
          </a:p>
          <a:p>
            <a:pPr marL="571500" indent="-571500" defTabSz="1524000">
              <a:lnSpc>
                <a:spcPts val="3000"/>
              </a:lnSpc>
              <a:spcBef>
                <a:spcPts val="0"/>
              </a:spcBef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pPr>
            <a:r>
              <a:t>⚠️</a:t>
            </a:r>
            <a:r>
              <a:rPr>
                <a:solidFill>
                  <a:srgbClr val="272525"/>
                </a:solidFill>
              </a:rPr>
              <a:t> </a:t>
            </a:r>
            <a:r>
              <a:rPr b="1">
                <a:solidFill>
                  <a:srgbClr val="272525"/>
                </a:solidFill>
              </a:rPr>
              <a:t>Риск: Высокие операционные расходы</a:t>
            </a:r>
            <a:r>
              <a:rPr>
                <a:solidFill>
                  <a:srgbClr val="272525"/>
                </a:solidFill>
              </a:rPr>
              <a:t>             </a:t>
            </a:r>
          </a:p>
        </p:txBody>
      </p:sp>
      <p:sp>
        <p:nvSpPr>
          <p:cNvPr id="1030" name="Text 6"/>
          <p:cNvSpPr txBox="1"/>
          <p:nvPr/>
        </p:nvSpPr>
        <p:spPr>
          <a:xfrm>
            <a:off x="13005141" y="1952605"/>
            <a:ext cx="5735886" cy="391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СТРАТЕГИЧЕСКИЕ РЕКОМЕНДАЦИИ:</a:t>
            </a:r>
          </a:p>
        </p:txBody>
      </p:sp>
      <p:sp>
        <p:nvSpPr>
          <p:cNvPr id="1031" name="Text 7"/>
          <p:cNvSpPr txBox="1"/>
          <p:nvPr/>
        </p:nvSpPr>
        <p:spPr>
          <a:xfrm>
            <a:off x="13005141" y="2537201"/>
            <a:ext cx="4691237" cy="329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AutoNum type="arabicPeriod" startAt="1"/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Запустить MVP в Q1 2026</a:t>
            </a:r>
            <a:r>
              <a:rPr b="0"/>
              <a:t>             </a:t>
            </a:r>
          </a:p>
        </p:txBody>
      </p:sp>
      <p:sp>
        <p:nvSpPr>
          <p:cNvPr id="1032" name="Text 8"/>
          <p:cNvSpPr txBox="1"/>
          <p:nvPr/>
        </p:nvSpPr>
        <p:spPr>
          <a:xfrm>
            <a:off x="13005141" y="2950546"/>
            <a:ext cx="10965459" cy="1345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Сформировать команду (5-7 разработчиков)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Провести дизайн-спринт (2 недели)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Разработка и тестирование (8 недель)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Бета-тестирование с 100 пользователями (2 недели)</a:t>
            </a:r>
          </a:p>
        </p:txBody>
      </p:sp>
      <p:sp>
        <p:nvSpPr>
          <p:cNvPr id="1033" name="Text 9"/>
          <p:cNvSpPr txBox="1"/>
          <p:nvPr/>
        </p:nvSpPr>
        <p:spPr>
          <a:xfrm>
            <a:off x="13005141" y="4603928"/>
            <a:ext cx="5759947" cy="329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AutoNum type="arabicPeriod" startAt="2"/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Привлечь первых пользователей</a:t>
            </a:r>
            <a:r>
              <a:rPr b="0"/>
              <a:t>             </a:t>
            </a:r>
          </a:p>
        </p:txBody>
      </p:sp>
      <p:sp>
        <p:nvSpPr>
          <p:cNvPr id="1034" name="Text 10"/>
          <p:cNvSpPr txBox="1"/>
          <p:nvPr/>
        </p:nvSpPr>
        <p:spPr>
          <a:xfrm>
            <a:off x="13005141" y="5017273"/>
            <a:ext cx="10965459" cy="1345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Целевая реклама в Instagram, TikTok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Партнерства с блогерами (финансовая грамотность)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Рекомендации через существующих клиентов БелинвестБанка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Целевая аудитория: студенты и молодые специалисты</a:t>
            </a:r>
          </a:p>
        </p:txBody>
      </p:sp>
      <p:sp>
        <p:nvSpPr>
          <p:cNvPr id="1035" name="Text 11"/>
          <p:cNvSpPr txBox="1"/>
          <p:nvPr/>
        </p:nvSpPr>
        <p:spPr>
          <a:xfrm>
            <a:off x="13005141" y="6670654"/>
            <a:ext cx="5107707" cy="329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AutoNum type="arabicPeriod" startAt="3"/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Измерять и оптимизировать</a:t>
            </a:r>
            <a:r>
              <a:rPr b="0"/>
              <a:t>             </a:t>
            </a:r>
          </a:p>
        </p:txBody>
      </p:sp>
      <p:sp>
        <p:nvSpPr>
          <p:cNvPr id="1036" name="Text 12"/>
          <p:cNvSpPr txBox="1"/>
          <p:nvPr/>
        </p:nvSpPr>
        <p:spPr>
          <a:xfrm>
            <a:off x="13005141" y="7084000"/>
            <a:ext cx="10965459" cy="1345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Отслеживать NPS, Retention, DAU/MAU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Проводить A/B тестирование интерфейса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Собирать feedback через опросы и интервью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Итерировать на основе данных</a:t>
            </a:r>
          </a:p>
        </p:txBody>
      </p:sp>
      <p:sp>
        <p:nvSpPr>
          <p:cNvPr id="1037" name="Text 13"/>
          <p:cNvSpPr txBox="1"/>
          <p:nvPr/>
        </p:nvSpPr>
        <p:spPr>
          <a:xfrm>
            <a:off x="13005141" y="8737382"/>
            <a:ext cx="4365427" cy="329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AutoNum type="arabicPeriod" startAt="4"/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Развивать экосистему</a:t>
            </a:r>
            <a:r>
              <a:rPr b="0"/>
              <a:t>             </a:t>
            </a:r>
          </a:p>
        </p:txBody>
      </p:sp>
      <p:sp>
        <p:nvSpPr>
          <p:cNvPr id="1038" name="Text 14"/>
          <p:cNvSpPr txBox="1"/>
          <p:nvPr/>
        </p:nvSpPr>
        <p:spPr>
          <a:xfrm>
            <a:off x="13005141" y="9150726"/>
            <a:ext cx="10965459" cy="1345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Интеграция с Оплати</a:t>
            </a:r>
            <a:r>
              <a:rPr>
                <a:solidFill>
                  <a:srgbClr val="000000"/>
                </a:solidFill>
              </a:rPr>
              <a:t>™</a:t>
            </a:r>
            <a:r>
              <a:t> (платежная система)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Партнерства с финтех-компаниями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Образовательный контент (вебинары, статьи)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Комьюнити молодых инвесторов</a:t>
            </a:r>
          </a:p>
        </p:txBody>
      </p:sp>
      <p:sp>
        <p:nvSpPr>
          <p:cNvPr id="1039" name="Text 15"/>
          <p:cNvSpPr txBox="1"/>
          <p:nvPr/>
        </p:nvSpPr>
        <p:spPr>
          <a:xfrm>
            <a:off x="13005141" y="10816807"/>
            <a:ext cx="5215980" cy="329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571500" indent="-571500" defTabSz="1524000">
              <a:lnSpc>
                <a:spcPts val="2600"/>
              </a:lnSpc>
              <a:spcBef>
                <a:spcPts val="0"/>
              </a:spcBef>
              <a:buSzPct val="100000"/>
              <a:buAutoNum type="arabicPeriod" startAt="5"/>
              <a:defRPr b="1"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Масштабировать постепенно</a:t>
            </a:r>
            <a:r>
              <a:rPr b="0"/>
              <a:t>             </a:t>
            </a:r>
          </a:p>
        </p:txBody>
      </p:sp>
      <p:sp>
        <p:nvSpPr>
          <p:cNvPr id="1040" name="Text 16"/>
          <p:cNvSpPr txBox="1"/>
          <p:nvPr/>
        </p:nvSpPr>
        <p:spPr>
          <a:xfrm>
            <a:off x="13005141" y="11230153"/>
            <a:ext cx="10965459" cy="1345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Q2 2026: Расширенная аналитика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Q3 2026: Премиум-версия и комьюнити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Q4 2026: Инвестиционные инструменты</a:t>
            </a:r>
          </a:p>
          <a:p>
            <a:pPr lvl="1" marL="914400" indent="-571500" defTabSz="1524000">
              <a:lnSpc>
                <a:spcPts val="26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2027: Расширение на другие рынки</a:t>
            </a:r>
          </a:p>
        </p:txBody>
      </p:sp>
      <p:sp>
        <p:nvSpPr>
          <p:cNvPr id="1041" name="Rectangle"/>
          <p:cNvSpPr/>
          <p:nvPr/>
        </p:nvSpPr>
        <p:spPr>
          <a:xfrm>
            <a:off x="21300529" y="12886692"/>
            <a:ext cx="2871009" cy="744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1" cy="4725392"/>
          </a:xfrm>
          <a:prstGeom prst="rect">
            <a:avLst/>
          </a:prstGeom>
          <a:ln w="12700">
            <a:miter lim="400000"/>
          </a:ln>
        </p:spPr>
      </p:pic>
      <p:sp>
        <p:nvSpPr>
          <p:cNvPr id="1044" name="Text 0"/>
          <p:cNvSpPr txBox="1"/>
          <p:nvPr/>
        </p:nvSpPr>
        <p:spPr>
          <a:xfrm>
            <a:off x="1322983" y="7018735"/>
            <a:ext cx="21738036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Формирование цены</a:t>
            </a:r>
          </a:p>
        </p:txBody>
      </p:sp>
      <p:sp>
        <p:nvSpPr>
          <p:cNvPr id="1045" name="Text 1"/>
          <p:cNvSpPr txBox="1"/>
          <p:nvPr/>
        </p:nvSpPr>
        <p:spPr>
          <a:xfrm>
            <a:off x="1322983" y="9532539"/>
            <a:ext cx="21738036" cy="1845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Разработка экономически обоснованной ценовой стратегии для FinHelper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Text 0"/>
          <p:cNvSpPr txBox="1"/>
          <p:nvPr/>
        </p:nvSpPr>
        <p:spPr>
          <a:xfrm>
            <a:off x="1216137" y="1495019"/>
            <a:ext cx="10363697" cy="835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500"/>
              </a:lnSpc>
              <a:spcBef>
                <a:spcPts val="0"/>
              </a:spcBef>
              <a:defRPr b="1" sz="6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1. Анализ цен конкурентов</a:t>
            </a:r>
          </a:p>
        </p:txBody>
      </p:sp>
      <p:sp>
        <p:nvSpPr>
          <p:cNvPr id="1048" name="Text 1"/>
          <p:cNvSpPr txBox="1"/>
          <p:nvPr/>
        </p:nvSpPr>
        <p:spPr>
          <a:xfrm>
            <a:off x="1216137" y="2395926"/>
            <a:ext cx="17020035" cy="70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100"/>
              </a:lnSpc>
              <a:spcBef>
                <a:spcPts val="0"/>
              </a:spcBef>
              <a:defRPr b="1" sz="6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Сравнение моделей монетизации и тарифов</a:t>
            </a:r>
          </a:p>
        </p:txBody>
      </p:sp>
      <p:sp>
        <p:nvSpPr>
          <p:cNvPr id="1049" name="Shape 2"/>
          <p:cNvSpPr/>
          <p:nvPr/>
        </p:nvSpPr>
        <p:spPr>
          <a:xfrm>
            <a:off x="1322982" y="5365272"/>
            <a:ext cx="21738036" cy="5174458"/>
          </a:xfrm>
          <a:prstGeom prst="roundRect">
            <a:avLst>
              <a:gd name="adj" fmla="val 2148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2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50" name="Text 3"/>
          <p:cNvSpPr txBox="1"/>
          <p:nvPr/>
        </p:nvSpPr>
        <p:spPr>
          <a:xfrm>
            <a:off x="1600794" y="5501798"/>
            <a:ext cx="1662250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Конкурент</a:t>
            </a:r>
          </a:p>
        </p:txBody>
      </p:sp>
      <p:sp>
        <p:nvSpPr>
          <p:cNvPr id="1051" name="Text 4"/>
          <p:cNvSpPr txBox="1"/>
          <p:nvPr/>
        </p:nvSpPr>
        <p:spPr>
          <a:xfrm>
            <a:off x="5949552" y="5501798"/>
            <a:ext cx="2445508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Модель оплаты</a:t>
            </a:r>
          </a:p>
        </p:txBody>
      </p:sp>
      <p:sp>
        <p:nvSpPr>
          <p:cNvPr id="1052" name="Text 5"/>
          <p:cNvSpPr txBox="1"/>
          <p:nvPr/>
        </p:nvSpPr>
        <p:spPr>
          <a:xfrm>
            <a:off x="10291960" y="5501798"/>
            <a:ext cx="2058394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Цена (месяц)</a:t>
            </a:r>
          </a:p>
        </p:txBody>
      </p:sp>
      <p:sp>
        <p:nvSpPr>
          <p:cNvPr id="1053" name="Text 6"/>
          <p:cNvSpPr txBox="1"/>
          <p:nvPr/>
        </p:nvSpPr>
        <p:spPr>
          <a:xfrm>
            <a:off x="13548715" y="5501798"/>
            <a:ext cx="1633712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Цена (год)</a:t>
            </a:r>
          </a:p>
        </p:txBody>
      </p:sp>
      <p:sp>
        <p:nvSpPr>
          <p:cNvPr id="1054" name="Text 7"/>
          <p:cNvSpPr txBox="1"/>
          <p:nvPr/>
        </p:nvSpPr>
        <p:spPr>
          <a:xfrm>
            <a:off x="16805471" y="5501798"/>
            <a:ext cx="3113647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Ключевые функции</a:t>
            </a:r>
          </a:p>
        </p:txBody>
      </p:sp>
      <p:sp>
        <p:nvSpPr>
          <p:cNvPr id="1055" name="Text 8"/>
          <p:cNvSpPr txBox="1"/>
          <p:nvPr/>
        </p:nvSpPr>
        <p:spPr>
          <a:xfrm>
            <a:off x="1600794" y="6122115"/>
            <a:ext cx="3807024" cy="72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Приорбанк (мобильное приложение)</a:t>
            </a:r>
          </a:p>
        </p:txBody>
      </p:sp>
      <p:sp>
        <p:nvSpPr>
          <p:cNvPr id="1056" name="Text 9"/>
          <p:cNvSpPr txBox="1"/>
          <p:nvPr/>
        </p:nvSpPr>
        <p:spPr>
          <a:xfrm>
            <a:off x="5949552" y="6122115"/>
            <a:ext cx="3348398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+ подписка</a:t>
            </a:r>
          </a:p>
        </p:txBody>
      </p:sp>
      <p:sp>
        <p:nvSpPr>
          <p:cNvPr id="1057" name="Text 10"/>
          <p:cNvSpPr txBox="1"/>
          <p:nvPr/>
        </p:nvSpPr>
        <p:spPr>
          <a:xfrm>
            <a:off x="10291960" y="6122115"/>
            <a:ext cx="2655591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4,99 BYN</a:t>
            </a:r>
          </a:p>
        </p:txBody>
      </p:sp>
      <p:sp>
        <p:nvSpPr>
          <p:cNvPr id="1058" name="Text 11"/>
          <p:cNvSpPr txBox="1"/>
          <p:nvPr/>
        </p:nvSpPr>
        <p:spPr>
          <a:xfrm>
            <a:off x="13548715" y="6122115"/>
            <a:ext cx="2839232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49,90 BYN</a:t>
            </a:r>
          </a:p>
        </p:txBody>
      </p:sp>
      <p:sp>
        <p:nvSpPr>
          <p:cNvPr id="1059" name="Text 12"/>
          <p:cNvSpPr txBox="1"/>
          <p:nvPr/>
        </p:nvSpPr>
        <p:spPr>
          <a:xfrm>
            <a:off x="16805471" y="6122115"/>
            <a:ext cx="5978328" cy="72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Базовые переводы, аналитика, премиум-функции</a:t>
            </a:r>
          </a:p>
        </p:txBody>
      </p:sp>
      <p:sp>
        <p:nvSpPr>
          <p:cNvPr id="1060" name="Text 13"/>
          <p:cNvSpPr txBox="1"/>
          <p:nvPr/>
        </p:nvSpPr>
        <p:spPr>
          <a:xfrm>
            <a:off x="1600794" y="7102395"/>
            <a:ext cx="3807024" cy="72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Альфа-Банк (мобильное приложение)</a:t>
            </a:r>
          </a:p>
        </p:txBody>
      </p:sp>
      <p:sp>
        <p:nvSpPr>
          <p:cNvPr id="1061" name="Text 14"/>
          <p:cNvSpPr txBox="1"/>
          <p:nvPr/>
        </p:nvSpPr>
        <p:spPr>
          <a:xfrm>
            <a:off x="5949552" y="7102395"/>
            <a:ext cx="3348398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+ подписка</a:t>
            </a:r>
          </a:p>
        </p:txBody>
      </p:sp>
      <p:sp>
        <p:nvSpPr>
          <p:cNvPr id="1062" name="Text 15"/>
          <p:cNvSpPr txBox="1"/>
          <p:nvPr/>
        </p:nvSpPr>
        <p:spPr>
          <a:xfrm>
            <a:off x="10291960" y="7102395"/>
            <a:ext cx="2655591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5,99 BYN</a:t>
            </a:r>
          </a:p>
        </p:txBody>
      </p:sp>
      <p:sp>
        <p:nvSpPr>
          <p:cNvPr id="1063" name="Text 16"/>
          <p:cNvSpPr txBox="1"/>
          <p:nvPr/>
        </p:nvSpPr>
        <p:spPr>
          <a:xfrm>
            <a:off x="13548715" y="7102395"/>
            <a:ext cx="2839232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59,90 BYN</a:t>
            </a:r>
          </a:p>
        </p:txBody>
      </p:sp>
      <p:sp>
        <p:nvSpPr>
          <p:cNvPr id="1064" name="Text 17"/>
          <p:cNvSpPr txBox="1"/>
          <p:nvPr/>
        </p:nvSpPr>
        <p:spPr>
          <a:xfrm>
            <a:off x="16805471" y="7102395"/>
            <a:ext cx="5978328" cy="72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Переводы, платежи, инвестиции, премиум-консультации</a:t>
            </a:r>
          </a:p>
        </p:txBody>
      </p:sp>
      <p:sp>
        <p:nvSpPr>
          <p:cNvPr id="1065" name="Text 18"/>
          <p:cNvSpPr txBox="1"/>
          <p:nvPr/>
        </p:nvSpPr>
        <p:spPr>
          <a:xfrm>
            <a:off x="1600794" y="8082677"/>
            <a:ext cx="2086609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Notion (SaaS)</a:t>
            </a:r>
          </a:p>
        </p:txBody>
      </p:sp>
      <p:sp>
        <p:nvSpPr>
          <p:cNvPr id="1066" name="Text 19"/>
          <p:cNvSpPr txBox="1"/>
          <p:nvPr/>
        </p:nvSpPr>
        <p:spPr>
          <a:xfrm>
            <a:off x="5949552" y="8082677"/>
            <a:ext cx="3348398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+ подписка</a:t>
            </a:r>
          </a:p>
        </p:txBody>
      </p:sp>
      <p:sp>
        <p:nvSpPr>
          <p:cNvPr id="1067" name="Text 20"/>
          <p:cNvSpPr txBox="1"/>
          <p:nvPr/>
        </p:nvSpPr>
        <p:spPr>
          <a:xfrm>
            <a:off x="10291960" y="8082677"/>
            <a:ext cx="2398429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10 USD</a:t>
            </a:r>
          </a:p>
        </p:txBody>
      </p:sp>
      <p:sp>
        <p:nvSpPr>
          <p:cNvPr id="1068" name="Text 21"/>
          <p:cNvSpPr txBox="1"/>
          <p:nvPr/>
        </p:nvSpPr>
        <p:spPr>
          <a:xfrm>
            <a:off x="13548715" y="8082677"/>
            <a:ext cx="2582070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100 USD</a:t>
            </a:r>
          </a:p>
        </p:txBody>
      </p:sp>
      <p:sp>
        <p:nvSpPr>
          <p:cNvPr id="1069" name="Text 22"/>
          <p:cNvSpPr txBox="1"/>
          <p:nvPr/>
        </p:nvSpPr>
        <p:spPr>
          <a:xfrm>
            <a:off x="16805471" y="8082677"/>
            <a:ext cx="6508516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Базовые заметки, премиум-шаблоны, API</a:t>
            </a:r>
          </a:p>
        </p:txBody>
      </p:sp>
      <p:sp>
        <p:nvSpPr>
          <p:cNvPr id="1070" name="Text 23"/>
          <p:cNvSpPr txBox="1"/>
          <p:nvPr/>
        </p:nvSpPr>
        <p:spPr>
          <a:xfrm>
            <a:off x="1600794" y="8702992"/>
            <a:ext cx="2141588" cy="36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Spotify (SaaS)</a:t>
            </a:r>
          </a:p>
        </p:txBody>
      </p:sp>
      <p:sp>
        <p:nvSpPr>
          <p:cNvPr id="1071" name="Text 24"/>
          <p:cNvSpPr txBox="1"/>
          <p:nvPr/>
        </p:nvSpPr>
        <p:spPr>
          <a:xfrm>
            <a:off x="5949552" y="8702992"/>
            <a:ext cx="3348398" cy="36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+ подписка</a:t>
            </a:r>
          </a:p>
        </p:txBody>
      </p:sp>
      <p:sp>
        <p:nvSpPr>
          <p:cNvPr id="1072" name="Text 25"/>
          <p:cNvSpPr txBox="1"/>
          <p:nvPr/>
        </p:nvSpPr>
        <p:spPr>
          <a:xfrm>
            <a:off x="10291960" y="8702992"/>
            <a:ext cx="2673810" cy="36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9,99 USD</a:t>
            </a:r>
          </a:p>
        </p:txBody>
      </p:sp>
      <p:sp>
        <p:nvSpPr>
          <p:cNvPr id="1073" name="Text 26"/>
          <p:cNvSpPr txBox="1"/>
          <p:nvPr/>
        </p:nvSpPr>
        <p:spPr>
          <a:xfrm>
            <a:off x="13548715" y="8702992"/>
            <a:ext cx="2857452" cy="363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 / 99,90 USD</a:t>
            </a:r>
          </a:p>
        </p:txBody>
      </p:sp>
      <p:sp>
        <p:nvSpPr>
          <p:cNvPr id="1074" name="Text 27"/>
          <p:cNvSpPr txBox="1"/>
          <p:nvPr/>
        </p:nvSpPr>
        <p:spPr>
          <a:xfrm>
            <a:off x="16805471" y="8702992"/>
            <a:ext cx="5978328" cy="72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Ограниченное прослушивание, премиум без рекламы</a:t>
            </a:r>
          </a:p>
        </p:txBody>
      </p:sp>
      <p:sp>
        <p:nvSpPr>
          <p:cNvPr id="1075" name="Text 28"/>
          <p:cNvSpPr txBox="1"/>
          <p:nvPr/>
        </p:nvSpPr>
        <p:spPr>
          <a:xfrm>
            <a:off x="1600794" y="9683273"/>
            <a:ext cx="3236665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ChatGPT Plus (SaaS)</a:t>
            </a:r>
          </a:p>
        </p:txBody>
      </p:sp>
      <p:sp>
        <p:nvSpPr>
          <p:cNvPr id="1076" name="Text 29"/>
          <p:cNvSpPr txBox="1"/>
          <p:nvPr/>
        </p:nvSpPr>
        <p:spPr>
          <a:xfrm>
            <a:off x="5949552" y="9683273"/>
            <a:ext cx="3348398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+ подписка</a:t>
            </a:r>
          </a:p>
        </p:txBody>
      </p:sp>
      <p:sp>
        <p:nvSpPr>
          <p:cNvPr id="1077" name="Text 30"/>
          <p:cNvSpPr txBox="1"/>
          <p:nvPr/>
        </p:nvSpPr>
        <p:spPr>
          <a:xfrm>
            <a:off x="10291960" y="9683273"/>
            <a:ext cx="2416648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USD / 20 USD</a:t>
            </a:r>
          </a:p>
        </p:txBody>
      </p:sp>
      <p:sp>
        <p:nvSpPr>
          <p:cNvPr id="1078" name="Text 31"/>
          <p:cNvSpPr txBox="1"/>
          <p:nvPr/>
        </p:nvSpPr>
        <p:spPr>
          <a:xfrm>
            <a:off x="13548715" y="9683273"/>
            <a:ext cx="127001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079" name="Text 32"/>
          <p:cNvSpPr txBox="1"/>
          <p:nvPr/>
        </p:nvSpPr>
        <p:spPr>
          <a:xfrm>
            <a:off x="16805471" y="9683273"/>
            <a:ext cx="5978328" cy="72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Базовый доступ, премиум-приоритет, новые функции</a:t>
            </a:r>
          </a:p>
        </p:txBody>
      </p:sp>
      <p:sp>
        <p:nvSpPr>
          <p:cNvPr id="1080" name="Text 33"/>
          <p:cNvSpPr txBox="1"/>
          <p:nvPr/>
        </p:nvSpPr>
        <p:spPr>
          <a:xfrm>
            <a:off x="1322982" y="10748090"/>
            <a:ext cx="19080462" cy="363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8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      </a:t>
            </a:r>
            <a:r>
              <a:rPr b="1"/>
              <a:t>Вывод:</a:t>
            </a:r>
            <a:r>
              <a:t> Конкуренты используют модель Freemium + SaaS подписка. Цены варируются от 4,99 до 20 USD в месяц.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Text 0"/>
          <p:cNvSpPr txBox="1"/>
          <p:nvPr/>
        </p:nvSpPr>
        <p:spPr>
          <a:xfrm>
            <a:off x="1508914" y="1503331"/>
            <a:ext cx="10713598" cy="770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000"/>
              </a:lnSpc>
              <a:spcBef>
                <a:spcPts val="0"/>
              </a:spcBef>
              <a:defRPr b="1" sz="55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2. Выбор модели монетизации</a:t>
            </a:r>
          </a:p>
        </p:txBody>
      </p:sp>
      <p:sp>
        <p:nvSpPr>
          <p:cNvPr id="1083" name="Text 1"/>
          <p:cNvSpPr txBox="1"/>
          <p:nvPr/>
        </p:nvSpPr>
        <p:spPr>
          <a:xfrm>
            <a:off x="1508914" y="2334981"/>
            <a:ext cx="14100027" cy="607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8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Обоснование выбора Freemium + SaaS для FinHelper AI</a:t>
            </a:r>
          </a:p>
        </p:txBody>
      </p:sp>
      <p:sp>
        <p:nvSpPr>
          <p:cNvPr id="1084" name="Shape 2"/>
          <p:cNvSpPr/>
          <p:nvPr/>
        </p:nvSpPr>
        <p:spPr>
          <a:xfrm>
            <a:off x="1322981" y="4797453"/>
            <a:ext cx="10789248" cy="3833526"/>
          </a:xfrm>
          <a:prstGeom prst="roundRect">
            <a:avLst>
              <a:gd name="adj" fmla="val 2692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23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5" name="Text 3"/>
          <p:cNvSpPr txBox="1"/>
          <p:nvPr/>
        </p:nvSpPr>
        <p:spPr>
          <a:xfrm>
            <a:off x="1581348" y="5623261"/>
            <a:ext cx="2268774" cy="37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Freemium (B2C)</a:t>
            </a:r>
          </a:p>
        </p:txBody>
      </p:sp>
      <p:sp>
        <p:nvSpPr>
          <p:cNvPr id="1086" name="Text 4"/>
          <p:cNvSpPr txBox="1"/>
          <p:nvPr/>
        </p:nvSpPr>
        <p:spPr>
          <a:xfrm>
            <a:off x="1581348" y="6102884"/>
            <a:ext cx="10272514" cy="2226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Быстрый рост базы пользователей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Вирусный эффект (студенты приглашают друзей)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Низкий порог входа (0 BYN)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Привыкание к AI-помощнику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Почему:</a:t>
            </a:r>
            <a:r>
              <a:rPr b="0"/>
              <a:t> Молодые специалисты и студенты чувствительны к цене. Бесплатная версия — это «наркотик». Когда им нужна функция (копилка, автоплатежи), они переходят на Pro.</a:t>
            </a:r>
          </a:p>
        </p:txBody>
      </p:sp>
      <p:sp>
        <p:nvSpPr>
          <p:cNvPr id="1087" name="Shape 5"/>
          <p:cNvSpPr/>
          <p:nvPr/>
        </p:nvSpPr>
        <p:spPr>
          <a:xfrm>
            <a:off x="12271773" y="4797453"/>
            <a:ext cx="10789244" cy="3833526"/>
          </a:xfrm>
          <a:prstGeom prst="roundRect">
            <a:avLst>
              <a:gd name="adj" fmla="val 2692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23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88" name="Text 6"/>
          <p:cNvSpPr txBox="1"/>
          <p:nvPr/>
        </p:nvSpPr>
        <p:spPr>
          <a:xfrm>
            <a:off x="12530138" y="5623261"/>
            <a:ext cx="3072477" cy="371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SaaS подписка (B2B)</a:t>
            </a:r>
          </a:p>
        </p:txBody>
      </p:sp>
      <p:sp>
        <p:nvSpPr>
          <p:cNvPr id="1089" name="Text 7"/>
          <p:cNvSpPr txBox="1"/>
          <p:nvPr/>
        </p:nvSpPr>
        <p:spPr>
          <a:xfrm>
            <a:off x="12530138" y="6102884"/>
            <a:ext cx="10272514" cy="190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Предсказуемый ежемесячный доход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Постоянное обновление функций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Облачные мощности включены в цену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Легко масштабировать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Почему:</a:t>
            </a:r>
            <a:r>
              <a:rPr b="0"/>
              <a:t> МСБ и корпорации нуждаются в надежности и поддержке. Подписка дает им гарантию обновлений и интеграции с 1С.</a:t>
            </a:r>
          </a:p>
        </p:txBody>
      </p:sp>
      <p:sp>
        <p:nvSpPr>
          <p:cNvPr id="1090" name="Shape 8"/>
          <p:cNvSpPr/>
          <p:nvPr/>
        </p:nvSpPr>
        <p:spPr>
          <a:xfrm>
            <a:off x="1322983" y="8790520"/>
            <a:ext cx="10789246" cy="2617590"/>
          </a:xfrm>
          <a:prstGeom prst="roundRect">
            <a:avLst>
              <a:gd name="adj" fmla="val 3943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23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1" name="Text 9"/>
          <p:cNvSpPr txBox="1"/>
          <p:nvPr/>
        </p:nvSpPr>
        <p:spPr>
          <a:xfrm>
            <a:off x="1581348" y="9048887"/>
            <a:ext cx="4788856" cy="39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pPr>
            <a:r>
              <a:t>Разовая покупка (</a:t>
            </a:r>
            <a:r>
              <a:rPr>
                <a:solidFill>
                  <a:srgbClr val="000000"/>
                </a:solidFill>
              </a:rPr>
              <a:t>❌</a:t>
            </a:r>
            <a:r>
              <a:t> Отклонено)</a:t>
            </a:r>
          </a:p>
        </p:txBody>
      </p:sp>
      <p:sp>
        <p:nvSpPr>
          <p:cNvPr id="1092" name="Text 10"/>
          <p:cNvSpPr txBox="1"/>
          <p:nvPr/>
        </p:nvSpPr>
        <p:spPr>
          <a:xfrm>
            <a:off x="1581348" y="9528511"/>
            <a:ext cx="10272514" cy="159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Студент не может купить за 300 BYN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Нет постоянного дохода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Сложно обновлять функции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Высокий порог входа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Почему:</a:t>
            </a:r>
            <a:r>
              <a:rPr b="0"/>
              <a:t> Не подходит для молодежи и не гарантирует доход.</a:t>
            </a:r>
          </a:p>
        </p:txBody>
      </p:sp>
      <p:sp>
        <p:nvSpPr>
          <p:cNvPr id="1093" name="Shape 11"/>
          <p:cNvSpPr/>
          <p:nvPr/>
        </p:nvSpPr>
        <p:spPr>
          <a:xfrm>
            <a:off x="12271771" y="8790520"/>
            <a:ext cx="10789247" cy="2617590"/>
          </a:xfrm>
          <a:prstGeom prst="roundRect">
            <a:avLst>
              <a:gd name="adj" fmla="val 3943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23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4" name="Text 12"/>
          <p:cNvSpPr txBox="1"/>
          <p:nvPr/>
        </p:nvSpPr>
        <p:spPr>
          <a:xfrm>
            <a:off x="12530138" y="9048887"/>
            <a:ext cx="4111520" cy="398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30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pPr>
            <a:r>
              <a:t>Usage-based (</a:t>
            </a:r>
            <a:r>
              <a:rPr>
                <a:solidFill>
                  <a:srgbClr val="000000"/>
                </a:solidFill>
              </a:rPr>
              <a:t>❌</a:t>
            </a:r>
            <a:r>
              <a:t> Отклонено)</a:t>
            </a:r>
          </a:p>
        </p:txBody>
      </p:sp>
      <p:sp>
        <p:nvSpPr>
          <p:cNvPr id="1095" name="Text 13"/>
          <p:cNvSpPr txBox="1"/>
          <p:nvPr/>
        </p:nvSpPr>
        <p:spPr>
          <a:xfrm>
            <a:off x="12530138" y="9528511"/>
            <a:ext cx="10272514" cy="159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Непредсказуемые расходы для клиента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Сложно объяснить цену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✗ Низкий ARPU (Average Revenue Per User)</a:t>
            </a:r>
          </a:p>
          <a:p>
            <a:pPr defTabSz="1524000">
              <a:lnSpc>
                <a:spcPts val="2500"/>
              </a:lnSpc>
              <a:spcBef>
                <a:spcPts val="0"/>
              </a:spcBef>
              <a:defRPr b="1"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Почему:</a:t>
            </a:r>
            <a:r>
              <a:rPr b="0"/>
              <a:t> Клиенты предпочитают фиксированную цену, чтобы планировать бюджет.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7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1" cy="3780434"/>
          </a:xfrm>
          <a:prstGeom prst="rect">
            <a:avLst/>
          </a:prstGeom>
          <a:ln w="12700">
            <a:miter lim="400000"/>
          </a:ln>
        </p:spPr>
      </p:pic>
      <p:sp>
        <p:nvSpPr>
          <p:cNvPr id="1098" name="Text 0"/>
          <p:cNvSpPr txBox="1"/>
          <p:nvPr/>
        </p:nvSpPr>
        <p:spPr>
          <a:xfrm>
            <a:off x="1322983" y="5152430"/>
            <a:ext cx="17859785" cy="91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3. Расчет цены: Метод Value-based (от ценности)</a:t>
            </a:r>
          </a:p>
        </p:txBody>
      </p:sp>
      <p:sp>
        <p:nvSpPr>
          <p:cNvPr id="1099" name="Text 1"/>
          <p:cNvSpPr txBox="1"/>
          <p:nvPr/>
        </p:nvSpPr>
        <p:spPr>
          <a:xfrm>
            <a:off x="1322983" y="6194028"/>
            <a:ext cx="15468613" cy="727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800"/>
              </a:lnSpc>
              <a:spcBef>
                <a:spcPts val="0"/>
              </a:spcBef>
              <a:defRPr b="1" sz="4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Сколько денег экономит наш продукт для клиента?</a:t>
            </a:r>
          </a:p>
        </p:txBody>
      </p:sp>
      <p:sp>
        <p:nvSpPr>
          <p:cNvPr id="1100" name="Text 2"/>
          <p:cNvSpPr txBox="1"/>
          <p:nvPr/>
        </p:nvSpPr>
        <p:spPr>
          <a:xfrm>
            <a:off x="1322983" y="7554713"/>
            <a:ext cx="6602240" cy="45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2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Алексей (26 лет, Junior разработчик)</a:t>
            </a:r>
          </a:p>
        </p:txBody>
      </p:sp>
      <p:sp>
        <p:nvSpPr>
          <p:cNvPr id="1101" name="Text 3"/>
          <p:cNvSpPr txBox="1"/>
          <p:nvPr/>
        </p:nvSpPr>
        <p:spPr>
          <a:xfrm>
            <a:off x="1322983" y="8269088"/>
            <a:ext cx="10500123" cy="2945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Текущая проблема: Тратит 30 минут в день на управление финансами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Ставка: 2500 BYN / месяц = 12,5 BYN/час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Экономия времени: 30 мин/день × 20 раб.дней = 10 часов/месяц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Стоимость экономии: 10 часов × 12,5 BYN = 125 BYN/месяц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Наша цена: 5,99 BYN/месяц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Соотношение: 125 BYN / 5,99 BYN = 21x дешевле, чем экономия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Алексей сэкономит 119 BYN в месяц!</a:t>
            </a:r>
          </a:p>
        </p:txBody>
      </p:sp>
      <p:sp>
        <p:nvSpPr>
          <p:cNvPr id="1102" name="Text 4"/>
          <p:cNvSpPr txBox="1"/>
          <p:nvPr/>
        </p:nvSpPr>
        <p:spPr>
          <a:xfrm>
            <a:off x="12573595" y="7554713"/>
            <a:ext cx="6110164" cy="45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600"/>
              </a:lnSpc>
              <a:spcBef>
                <a:spcPts val="0"/>
              </a:spcBef>
              <a:defRPr b="1" sz="2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Ирина (владелица магазина, МСБ)</a:t>
            </a:r>
          </a:p>
        </p:txBody>
      </p:sp>
      <p:sp>
        <p:nvSpPr>
          <p:cNvPr id="1103" name="Text 5"/>
          <p:cNvSpPr txBox="1"/>
          <p:nvPr/>
        </p:nvSpPr>
        <p:spPr>
          <a:xfrm>
            <a:off x="12573595" y="8269088"/>
            <a:ext cx="10500123" cy="3369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Текущая проблема: Тратит 2 часа в день на ручную обработку платежей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Ставка: 6000 BYN / месяц = 30 BYN/час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Экономия времени: 2 часа/день × 20 раб.дней = 40 часов/месяц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Стоимость экономии: 40 часов × 30 BYN = 1200 BYN/месяц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Наша цена: 49 BYN/месяц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Соотношение: 1200 BYN / 49 BYN = 24x дешевле, чем экономия</a:t>
            </a:r>
          </a:p>
          <a:p>
            <a:pPr marL="538842" indent="-538842" defTabSz="1524000">
              <a:lnSpc>
                <a:spcPts val="3300"/>
              </a:lnSpc>
              <a:spcBef>
                <a:spcPts val="0"/>
              </a:spcBef>
              <a:buSzPct val="100000"/>
              <a:buChar char="•"/>
              <a:defRPr sz="23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✓ Ирина сэкономит 1151 BYN в месяц!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Text 0"/>
          <p:cNvSpPr txBox="1"/>
          <p:nvPr/>
        </p:nvSpPr>
        <p:spPr>
          <a:xfrm>
            <a:off x="1269860" y="2035885"/>
            <a:ext cx="14831741" cy="779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0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4. Итоговая тарифная сетка FinHelper AI</a:t>
            </a:r>
          </a:p>
        </p:txBody>
      </p:sp>
      <p:sp>
        <p:nvSpPr>
          <p:cNvPr id="1106" name="Text 1"/>
          <p:cNvSpPr txBox="1"/>
          <p:nvPr/>
        </p:nvSpPr>
        <p:spPr>
          <a:xfrm>
            <a:off x="1269860" y="2867537"/>
            <a:ext cx="21285982" cy="660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8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Наши будущие доходы (ARPU - Average Revenue Per User)</a:t>
            </a:r>
          </a:p>
        </p:txBody>
      </p:sp>
      <p:sp>
        <p:nvSpPr>
          <p:cNvPr id="1107" name="Shape 2"/>
          <p:cNvSpPr/>
          <p:nvPr/>
        </p:nvSpPr>
        <p:spPr>
          <a:xfrm>
            <a:off x="1315339" y="4619561"/>
            <a:ext cx="21745679" cy="4868132"/>
          </a:xfrm>
          <a:prstGeom prst="roundRect">
            <a:avLst>
              <a:gd name="adj" fmla="val 2121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8" name="Text 3"/>
          <p:cNvSpPr txBox="1"/>
          <p:nvPr/>
        </p:nvSpPr>
        <p:spPr>
          <a:xfrm>
            <a:off x="1581943" y="5530849"/>
            <a:ext cx="730201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Тариф</a:t>
            </a:r>
          </a:p>
        </p:txBody>
      </p:sp>
      <p:sp>
        <p:nvSpPr>
          <p:cNvPr id="1109" name="Text 4"/>
          <p:cNvSpPr txBox="1"/>
          <p:nvPr/>
        </p:nvSpPr>
        <p:spPr>
          <a:xfrm>
            <a:off x="4845050" y="5530849"/>
            <a:ext cx="966949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Для кого</a:t>
            </a:r>
          </a:p>
        </p:txBody>
      </p:sp>
      <p:sp>
        <p:nvSpPr>
          <p:cNvPr id="1110" name="Text 5"/>
          <p:cNvSpPr txBox="1"/>
          <p:nvPr/>
        </p:nvSpPr>
        <p:spPr>
          <a:xfrm>
            <a:off x="9187458" y="5530849"/>
            <a:ext cx="1581647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Цена за месяц</a:t>
            </a:r>
          </a:p>
        </p:txBody>
      </p:sp>
      <p:sp>
        <p:nvSpPr>
          <p:cNvPr id="1111" name="Text 6"/>
          <p:cNvSpPr txBox="1"/>
          <p:nvPr/>
        </p:nvSpPr>
        <p:spPr>
          <a:xfrm>
            <a:off x="12444213" y="5530849"/>
            <a:ext cx="1287637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Цена за год</a:t>
            </a:r>
          </a:p>
        </p:txBody>
      </p:sp>
      <p:sp>
        <p:nvSpPr>
          <p:cNvPr id="1112" name="Text 7"/>
          <p:cNvSpPr txBox="1"/>
          <p:nvPr/>
        </p:nvSpPr>
        <p:spPr>
          <a:xfrm>
            <a:off x="15700970" y="5530849"/>
            <a:ext cx="2159509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Ключевые функции</a:t>
            </a:r>
          </a:p>
        </p:txBody>
      </p:sp>
      <p:sp>
        <p:nvSpPr>
          <p:cNvPr id="1113" name="Text 8"/>
          <p:cNvSpPr txBox="1"/>
          <p:nvPr/>
        </p:nvSpPr>
        <p:spPr>
          <a:xfrm>
            <a:off x="1581943" y="6084489"/>
            <a:ext cx="1752986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Light (Freemium)</a:t>
            </a:r>
          </a:p>
        </p:txBody>
      </p:sp>
      <p:sp>
        <p:nvSpPr>
          <p:cNvPr id="1114" name="Text 9"/>
          <p:cNvSpPr txBox="1"/>
          <p:nvPr/>
        </p:nvSpPr>
        <p:spPr>
          <a:xfrm>
            <a:off x="4845050" y="6084489"/>
            <a:ext cx="1078570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Студенты</a:t>
            </a:r>
          </a:p>
        </p:txBody>
      </p:sp>
      <p:sp>
        <p:nvSpPr>
          <p:cNvPr id="1115" name="Text 10"/>
          <p:cNvSpPr txBox="1"/>
          <p:nvPr/>
        </p:nvSpPr>
        <p:spPr>
          <a:xfrm>
            <a:off x="9187458" y="6084489"/>
            <a:ext cx="673386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</a:t>
            </a:r>
          </a:p>
        </p:txBody>
      </p:sp>
      <p:sp>
        <p:nvSpPr>
          <p:cNvPr id="1116" name="Text 11"/>
          <p:cNvSpPr txBox="1"/>
          <p:nvPr/>
        </p:nvSpPr>
        <p:spPr>
          <a:xfrm>
            <a:off x="12444213" y="6084489"/>
            <a:ext cx="673386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 BYN</a:t>
            </a:r>
          </a:p>
        </p:txBody>
      </p:sp>
      <p:sp>
        <p:nvSpPr>
          <p:cNvPr id="1117" name="Text 12"/>
          <p:cNvSpPr txBox="1"/>
          <p:nvPr/>
        </p:nvSpPr>
        <p:spPr>
          <a:xfrm>
            <a:off x="15700970" y="6084489"/>
            <a:ext cx="7101682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Переводы, выписка, 3 AI-совета в день, базовая аналитика</a:t>
            </a:r>
          </a:p>
        </p:txBody>
      </p:sp>
      <p:sp>
        <p:nvSpPr>
          <p:cNvPr id="1118" name="Text 13"/>
          <p:cNvSpPr txBox="1"/>
          <p:nvPr/>
        </p:nvSpPr>
        <p:spPr>
          <a:xfrm>
            <a:off x="1581943" y="6962378"/>
            <a:ext cx="1219995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Student Pro</a:t>
            </a:r>
          </a:p>
        </p:txBody>
      </p:sp>
      <p:sp>
        <p:nvSpPr>
          <p:cNvPr id="1119" name="Text 14"/>
          <p:cNvSpPr txBox="1"/>
          <p:nvPr/>
        </p:nvSpPr>
        <p:spPr>
          <a:xfrm>
            <a:off x="4845050" y="6962378"/>
            <a:ext cx="3838377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Молодые специалисты (18-30 лет)</a:t>
            </a:r>
          </a:p>
        </p:txBody>
      </p:sp>
      <p:sp>
        <p:nvSpPr>
          <p:cNvPr id="1120" name="Text 15"/>
          <p:cNvSpPr txBox="1"/>
          <p:nvPr/>
        </p:nvSpPr>
        <p:spPr>
          <a:xfrm>
            <a:off x="9187458" y="6962378"/>
            <a:ext cx="991172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5,99 BYN</a:t>
            </a:r>
          </a:p>
        </p:txBody>
      </p:sp>
      <p:sp>
        <p:nvSpPr>
          <p:cNvPr id="1121" name="Text 16"/>
          <p:cNvSpPr txBox="1"/>
          <p:nvPr/>
        </p:nvSpPr>
        <p:spPr>
          <a:xfrm>
            <a:off x="12444213" y="6962378"/>
            <a:ext cx="1118308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59,90 BYN</a:t>
            </a:r>
          </a:p>
        </p:txBody>
      </p:sp>
      <p:sp>
        <p:nvSpPr>
          <p:cNvPr id="1122" name="Text 17"/>
          <p:cNvSpPr txBox="1"/>
          <p:nvPr/>
        </p:nvSpPr>
        <p:spPr>
          <a:xfrm>
            <a:off x="15700970" y="6962378"/>
            <a:ext cx="7101682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AI-копилка, автоплатежи, умная аналитика, уведомления о расходах</a:t>
            </a:r>
          </a:p>
        </p:txBody>
      </p:sp>
      <p:sp>
        <p:nvSpPr>
          <p:cNvPr id="1123" name="Text 18"/>
          <p:cNvSpPr txBox="1"/>
          <p:nvPr/>
        </p:nvSpPr>
        <p:spPr>
          <a:xfrm>
            <a:off x="1581943" y="7840264"/>
            <a:ext cx="940272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Business</a:t>
            </a:r>
          </a:p>
        </p:txBody>
      </p:sp>
      <p:sp>
        <p:nvSpPr>
          <p:cNvPr id="1124" name="Text 19"/>
          <p:cNvSpPr txBox="1"/>
          <p:nvPr/>
        </p:nvSpPr>
        <p:spPr>
          <a:xfrm>
            <a:off x="4845050" y="7840264"/>
            <a:ext cx="2725651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ИП, МСБ (до 50 человек)</a:t>
            </a:r>
          </a:p>
        </p:txBody>
      </p:sp>
      <p:sp>
        <p:nvSpPr>
          <p:cNvPr id="1125" name="Text 20"/>
          <p:cNvSpPr txBox="1"/>
          <p:nvPr/>
        </p:nvSpPr>
        <p:spPr>
          <a:xfrm>
            <a:off x="9187458" y="7840264"/>
            <a:ext cx="800523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49 BYN</a:t>
            </a:r>
          </a:p>
        </p:txBody>
      </p:sp>
      <p:sp>
        <p:nvSpPr>
          <p:cNvPr id="1126" name="Text 21"/>
          <p:cNvSpPr txBox="1"/>
          <p:nvPr/>
        </p:nvSpPr>
        <p:spPr>
          <a:xfrm>
            <a:off x="12444213" y="7840264"/>
            <a:ext cx="927659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490 BYN</a:t>
            </a:r>
          </a:p>
        </p:txBody>
      </p:sp>
      <p:sp>
        <p:nvSpPr>
          <p:cNvPr id="1127" name="Text 22"/>
          <p:cNvSpPr txBox="1"/>
          <p:nvPr/>
        </p:nvSpPr>
        <p:spPr>
          <a:xfrm>
            <a:off x="15700970" y="7840264"/>
            <a:ext cx="7101682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Интеграция с 1С, автоматический валютный контроль, проверка контрагентов, выделенная поддержка</a:t>
            </a:r>
          </a:p>
        </p:txBody>
      </p:sp>
      <p:sp>
        <p:nvSpPr>
          <p:cNvPr id="1128" name="Text 23"/>
          <p:cNvSpPr txBox="1"/>
          <p:nvPr/>
        </p:nvSpPr>
        <p:spPr>
          <a:xfrm>
            <a:off x="1581943" y="8718153"/>
            <a:ext cx="1054572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Enterprise</a:t>
            </a:r>
          </a:p>
        </p:txBody>
      </p:sp>
      <p:sp>
        <p:nvSpPr>
          <p:cNvPr id="1129" name="Text 24"/>
          <p:cNvSpPr txBox="1"/>
          <p:nvPr/>
        </p:nvSpPr>
        <p:spPr>
          <a:xfrm>
            <a:off x="4845050" y="8718153"/>
            <a:ext cx="3049910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Корпорации (от 50 человек)</a:t>
            </a:r>
          </a:p>
        </p:txBody>
      </p:sp>
      <p:sp>
        <p:nvSpPr>
          <p:cNvPr id="1130" name="Text 25"/>
          <p:cNvSpPr txBox="1"/>
          <p:nvPr/>
        </p:nvSpPr>
        <p:spPr>
          <a:xfrm>
            <a:off x="9187458" y="8718153"/>
            <a:ext cx="1715146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Индивидуально</a:t>
            </a:r>
          </a:p>
        </p:txBody>
      </p:sp>
      <p:sp>
        <p:nvSpPr>
          <p:cNvPr id="1131" name="Text 26"/>
          <p:cNvSpPr txBox="1"/>
          <p:nvPr/>
        </p:nvSpPr>
        <p:spPr>
          <a:xfrm>
            <a:off x="12444213" y="8718153"/>
            <a:ext cx="1781002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от 5000 BYN/год</a:t>
            </a:r>
          </a:p>
        </p:txBody>
      </p:sp>
      <p:sp>
        <p:nvSpPr>
          <p:cNvPr id="1132" name="Text 27"/>
          <p:cNvSpPr txBox="1"/>
          <p:nvPr/>
        </p:nvSpPr>
        <p:spPr>
          <a:xfrm>
            <a:off x="15700970" y="8718153"/>
            <a:ext cx="7101682" cy="62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API-доступ, выделенный AI-менеджер, кастомные дашборды, SLA гарантия</a:t>
            </a:r>
          </a:p>
        </p:txBody>
      </p:sp>
      <p:sp>
        <p:nvSpPr>
          <p:cNvPr id="1133" name="Text 28"/>
          <p:cNvSpPr txBox="1"/>
          <p:nvPr/>
        </p:nvSpPr>
        <p:spPr>
          <a:xfrm>
            <a:off x="1322983" y="9667279"/>
            <a:ext cx="10431191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Примечание: Цены в BYN. Годовая подписка дает скидку 15% (вместо 12 месяцев платишь 10).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Text 0"/>
          <p:cNvSpPr txBox="1"/>
          <p:nvPr/>
        </p:nvSpPr>
        <p:spPr>
          <a:xfrm>
            <a:off x="1299958" y="1587615"/>
            <a:ext cx="14532137" cy="779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0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5. Визуализация: Ценностная лестница</a:t>
            </a:r>
          </a:p>
        </p:txBody>
      </p:sp>
      <p:sp>
        <p:nvSpPr>
          <p:cNvPr id="1136" name="Text 1"/>
          <p:cNvSpPr txBox="1"/>
          <p:nvPr/>
        </p:nvSpPr>
        <p:spPr>
          <a:xfrm>
            <a:off x="1299958" y="2419267"/>
            <a:ext cx="21139597" cy="660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8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Как клиент переходит с бесплатного тарифа на платный</a:t>
            </a:r>
          </a:p>
        </p:txBody>
      </p:sp>
      <p:sp>
        <p:nvSpPr>
          <p:cNvPr id="1137" name="Shape 2"/>
          <p:cNvSpPr/>
          <p:nvPr/>
        </p:nvSpPr>
        <p:spPr>
          <a:xfrm>
            <a:off x="1322983" y="3961408"/>
            <a:ext cx="3622874" cy="2134989"/>
          </a:xfrm>
          <a:prstGeom prst="roundRect">
            <a:avLst>
              <a:gd name="adj" fmla="val 4834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8" name="Text 3"/>
          <p:cNvSpPr txBox="1"/>
          <p:nvPr/>
        </p:nvSpPr>
        <p:spPr>
          <a:xfrm>
            <a:off x="3036249" y="4813033"/>
            <a:ext cx="196343" cy="43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39" name="Text 4"/>
          <p:cNvSpPr txBox="1"/>
          <p:nvPr/>
        </p:nvSpPr>
        <p:spPr>
          <a:xfrm>
            <a:off x="5191521" y="4207073"/>
            <a:ext cx="2459907" cy="3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Бесплатно (Light)</a:t>
            </a:r>
          </a:p>
        </p:txBody>
      </p:sp>
      <p:sp>
        <p:nvSpPr>
          <p:cNvPr id="1140" name="Text 5"/>
          <p:cNvSpPr txBox="1"/>
          <p:nvPr/>
        </p:nvSpPr>
        <p:spPr>
          <a:xfrm>
            <a:off x="5191521" y="4686696"/>
            <a:ext cx="1375372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Цена:</a:t>
            </a:r>
            <a:r>
              <a:rPr b="0"/>
              <a:t> 0 BYN</a:t>
            </a:r>
          </a:p>
        </p:txBody>
      </p:sp>
      <p:sp>
        <p:nvSpPr>
          <p:cNvPr id="1141" name="Text 6"/>
          <p:cNvSpPr txBox="1"/>
          <p:nvPr/>
        </p:nvSpPr>
        <p:spPr>
          <a:xfrm>
            <a:off x="5191521" y="5106590"/>
            <a:ext cx="3078710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Ценность:</a:t>
            </a:r>
            <a:r>
              <a:rPr b="0"/>
              <a:t> "Попробовать AI"</a:t>
            </a:r>
          </a:p>
        </p:txBody>
      </p:sp>
      <p:sp>
        <p:nvSpPr>
          <p:cNvPr id="1142" name="Text 7"/>
          <p:cNvSpPr txBox="1"/>
          <p:nvPr/>
        </p:nvSpPr>
        <p:spPr>
          <a:xfrm>
            <a:off x="5191521" y="5526485"/>
            <a:ext cx="8932678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Студент скачивает приложение, видит, как AI помогает с переводами и советами</a:t>
            </a:r>
          </a:p>
        </p:txBody>
      </p:sp>
      <p:sp>
        <p:nvSpPr>
          <p:cNvPr id="1143" name="Shape 8"/>
          <p:cNvSpPr/>
          <p:nvPr/>
        </p:nvSpPr>
        <p:spPr>
          <a:xfrm>
            <a:off x="5068688" y="6085813"/>
            <a:ext cx="17869496" cy="21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3" y="0"/>
                  <a:pt x="8" y="0"/>
                </a:cubicBezTo>
                <a:lnTo>
                  <a:pt x="21592" y="0"/>
                </a:lnTo>
                <a:cubicBezTo>
                  <a:pt x="21597" y="0"/>
                  <a:pt x="21600" y="4835"/>
                  <a:pt x="21600" y="10800"/>
                </a:cubicBezTo>
                <a:cubicBezTo>
                  <a:pt x="21600" y="16765"/>
                  <a:pt x="21597" y="21600"/>
                  <a:pt x="21592" y="21600"/>
                </a:cubicBezTo>
                <a:lnTo>
                  <a:pt x="8" y="21600"/>
                </a:lnTo>
                <a:cubicBezTo>
                  <a:pt x="3" y="21600"/>
                  <a:pt x="0" y="16765"/>
                  <a:pt x="0" y="10800"/>
                </a:cubicBezTo>
                <a:close/>
              </a:path>
            </a:pathLst>
          </a:custGeom>
          <a:solidFill>
            <a:srgbClr val="C0C1D7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4" name="Shape 9"/>
          <p:cNvSpPr/>
          <p:nvPr/>
        </p:nvSpPr>
        <p:spPr>
          <a:xfrm>
            <a:off x="1322983" y="6219230"/>
            <a:ext cx="7245946" cy="2134989"/>
          </a:xfrm>
          <a:prstGeom prst="roundRect">
            <a:avLst>
              <a:gd name="adj" fmla="val 4834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45" name="Text 10"/>
          <p:cNvSpPr txBox="1"/>
          <p:nvPr/>
        </p:nvSpPr>
        <p:spPr>
          <a:xfrm>
            <a:off x="4847784" y="7070855"/>
            <a:ext cx="196343" cy="43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46" name="Text 11"/>
          <p:cNvSpPr txBox="1"/>
          <p:nvPr/>
        </p:nvSpPr>
        <p:spPr>
          <a:xfrm>
            <a:off x="8814592" y="6464894"/>
            <a:ext cx="4002473" cy="369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5,99 BYN/месяц (Student Pro)</a:t>
            </a:r>
          </a:p>
        </p:txBody>
      </p:sp>
      <p:sp>
        <p:nvSpPr>
          <p:cNvPr id="1147" name="Text 12"/>
          <p:cNvSpPr txBox="1"/>
          <p:nvPr/>
        </p:nvSpPr>
        <p:spPr>
          <a:xfrm>
            <a:off x="8814592" y="6944518"/>
            <a:ext cx="1693157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Цена:</a:t>
            </a:r>
            <a:r>
              <a:rPr b="0"/>
              <a:t> 5,99 BYN</a:t>
            </a:r>
          </a:p>
        </p:txBody>
      </p:sp>
      <p:sp>
        <p:nvSpPr>
          <p:cNvPr id="1148" name="Text 13"/>
          <p:cNvSpPr txBox="1"/>
          <p:nvPr/>
        </p:nvSpPr>
        <p:spPr>
          <a:xfrm>
            <a:off x="8814592" y="7364413"/>
            <a:ext cx="6837885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Ценность:</a:t>
            </a:r>
            <a:r>
              <a:rPr b="0"/>
              <a:t> "Сэкономить 2 часа в неделю" (стоимость 125 BYN)</a:t>
            </a:r>
          </a:p>
        </p:txBody>
      </p:sp>
      <p:sp>
        <p:nvSpPr>
          <p:cNvPr id="1149" name="Text 14"/>
          <p:cNvSpPr txBox="1"/>
          <p:nvPr/>
        </p:nvSpPr>
        <p:spPr>
          <a:xfrm>
            <a:off x="8814592" y="7784306"/>
            <a:ext cx="9107477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Молодой специалист нужна копилка и автоплатежи. Цена в 21 раз ниже экономии!</a:t>
            </a:r>
          </a:p>
        </p:txBody>
      </p:sp>
      <p:sp>
        <p:nvSpPr>
          <p:cNvPr id="1150" name="Shape 15"/>
          <p:cNvSpPr/>
          <p:nvPr/>
        </p:nvSpPr>
        <p:spPr>
          <a:xfrm>
            <a:off x="8691761" y="8343634"/>
            <a:ext cx="14246425" cy="21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cubicBezTo>
                  <a:pt x="0" y="4835"/>
                  <a:pt x="4" y="0"/>
                  <a:pt x="10" y="0"/>
                </a:cubicBezTo>
                <a:lnTo>
                  <a:pt x="21590" y="0"/>
                </a:lnTo>
                <a:cubicBezTo>
                  <a:pt x="21596" y="0"/>
                  <a:pt x="21600" y="4835"/>
                  <a:pt x="21600" y="10800"/>
                </a:cubicBezTo>
                <a:cubicBezTo>
                  <a:pt x="21600" y="16765"/>
                  <a:pt x="21596" y="21600"/>
                  <a:pt x="21590" y="21600"/>
                </a:cubicBezTo>
                <a:lnTo>
                  <a:pt x="10" y="21600"/>
                </a:lnTo>
                <a:cubicBezTo>
                  <a:pt x="4" y="21600"/>
                  <a:pt x="0" y="16765"/>
                  <a:pt x="0" y="10800"/>
                </a:cubicBezTo>
                <a:close/>
              </a:path>
            </a:pathLst>
          </a:custGeom>
          <a:solidFill>
            <a:srgbClr val="C0C1D7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1" name="Shape 16"/>
          <p:cNvSpPr/>
          <p:nvPr/>
        </p:nvSpPr>
        <p:spPr>
          <a:xfrm>
            <a:off x="1322983" y="8477051"/>
            <a:ext cx="10869017" cy="2459238"/>
          </a:xfrm>
          <a:prstGeom prst="roundRect">
            <a:avLst>
              <a:gd name="adj" fmla="val 4197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2" name="Text 17"/>
          <p:cNvSpPr txBox="1"/>
          <p:nvPr/>
        </p:nvSpPr>
        <p:spPr>
          <a:xfrm>
            <a:off x="6659321" y="9490800"/>
            <a:ext cx="196342" cy="43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 defTabSz="1524000">
              <a:lnSpc>
                <a:spcPts val="3500"/>
              </a:lnSpc>
              <a:spcBef>
                <a:spcPts val="0"/>
              </a:spcBef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53" name="Text 18"/>
          <p:cNvSpPr txBox="1"/>
          <p:nvPr/>
        </p:nvSpPr>
        <p:spPr>
          <a:xfrm>
            <a:off x="12437664" y="8722717"/>
            <a:ext cx="3428530" cy="369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000"/>
              </a:lnSpc>
              <a:spcBef>
                <a:spcPts val="0"/>
              </a:spcBef>
              <a:defRPr b="1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49 BYN/месяц (Business)</a:t>
            </a:r>
          </a:p>
        </p:txBody>
      </p:sp>
      <p:sp>
        <p:nvSpPr>
          <p:cNvPr id="1154" name="Text 19"/>
          <p:cNvSpPr txBox="1"/>
          <p:nvPr/>
        </p:nvSpPr>
        <p:spPr>
          <a:xfrm>
            <a:off x="12437664" y="9202339"/>
            <a:ext cx="1502508" cy="3065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Цена:</a:t>
            </a:r>
            <a:r>
              <a:rPr b="0"/>
              <a:t> 49 BYN</a:t>
            </a:r>
          </a:p>
        </p:txBody>
      </p:sp>
      <p:sp>
        <p:nvSpPr>
          <p:cNvPr id="1155" name="Text 20"/>
          <p:cNvSpPr txBox="1"/>
          <p:nvPr/>
        </p:nvSpPr>
        <p:spPr>
          <a:xfrm>
            <a:off x="12437664" y="9622235"/>
            <a:ext cx="6674137" cy="306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Ценность:</a:t>
            </a:r>
            <a:r>
              <a:rPr b="0"/>
              <a:t> "Автоматизировать бизнес" (стоимость 1200 BYN)</a:t>
            </a:r>
          </a:p>
        </p:txBody>
      </p:sp>
      <p:sp>
        <p:nvSpPr>
          <p:cNvPr id="1156" name="Text 21"/>
          <p:cNvSpPr txBox="1"/>
          <p:nvPr/>
        </p:nvSpPr>
        <p:spPr>
          <a:xfrm>
            <a:off x="12437664" y="10042128"/>
            <a:ext cx="10377688" cy="62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Владелица магазина интегрирует с 1С, экономит 40 часов в месяц. Цена в 24 раза ниже экономии!</a:t>
            </a:r>
          </a:p>
        </p:txBody>
      </p:sp>
      <p:sp>
        <p:nvSpPr>
          <p:cNvPr id="1157" name="Text 22"/>
          <p:cNvSpPr txBox="1"/>
          <p:nvPr/>
        </p:nvSpPr>
        <p:spPr>
          <a:xfrm>
            <a:off x="1322983" y="11115873"/>
            <a:ext cx="9996749" cy="318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Наша цена в 10-24 раза ниже экономии клиента. Это гарантирует покупку.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Text 1"/>
          <p:cNvSpPr txBox="1"/>
          <p:nvPr/>
        </p:nvSpPr>
        <p:spPr>
          <a:xfrm>
            <a:off x="1322983" y="1407913"/>
            <a:ext cx="17559537" cy="1141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100"/>
              </a:lnSpc>
              <a:spcBef>
                <a:spcPts val="0"/>
              </a:spcBef>
              <a:defRPr b="1" sz="7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6. Ключевые выводы и рекомендации</a:t>
            </a:r>
          </a:p>
        </p:txBody>
      </p:sp>
      <p:sp>
        <p:nvSpPr>
          <p:cNvPr id="1160" name="Text 2"/>
          <p:cNvSpPr txBox="1"/>
          <p:nvPr/>
        </p:nvSpPr>
        <p:spPr>
          <a:xfrm>
            <a:off x="1322983" y="2740421"/>
            <a:ext cx="15885568" cy="91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300"/>
              </a:lnSpc>
              <a:spcBef>
                <a:spcPts val="0"/>
              </a:spcBef>
              <a:defRPr b="1" sz="58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Почему наша ценовая стратегия сработает</a:t>
            </a:r>
          </a:p>
        </p:txBody>
      </p:sp>
      <p:sp>
        <p:nvSpPr>
          <p:cNvPr id="1161" name="Text 3"/>
          <p:cNvSpPr txBox="1"/>
          <p:nvPr/>
        </p:nvSpPr>
        <p:spPr>
          <a:xfrm>
            <a:off x="1322983" y="4630340"/>
            <a:ext cx="5301309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КЛЮЧЕВЫЕ ВЫВОДЫ:</a:t>
            </a:r>
          </a:p>
        </p:txBody>
      </p:sp>
      <p:sp>
        <p:nvSpPr>
          <p:cNvPr id="1162" name="Text 4"/>
          <p:cNvSpPr txBox="1"/>
          <p:nvPr/>
        </p:nvSpPr>
        <p:spPr>
          <a:xfrm>
            <a:off x="1322983" y="5598913"/>
            <a:ext cx="10407850" cy="5297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Модель: Freemium для B2C + SaaS для B2B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Цена B2C: 5,99 BYN/месяц (дешевле конкурентов на 15%, но с AI-агентом)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Цена B2B: 49 BYN/месяц (якорь на экономию времени предпринимателя)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Окупаемость для МСБ: 1,5 дня (49 BYN окупается за 1,5 дня сэкономленного времени)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Триальный период: 14 дней бесплатно для B2B (чтобы протестировать интеграцию с 1С)</a:t>
            </a:r>
          </a:p>
        </p:txBody>
      </p:sp>
      <p:sp>
        <p:nvSpPr>
          <p:cNvPr id="1163" name="Text 5"/>
          <p:cNvSpPr txBox="1"/>
          <p:nvPr/>
        </p:nvSpPr>
        <p:spPr>
          <a:xfrm>
            <a:off x="12665867" y="4630340"/>
            <a:ext cx="3849565" cy="5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ПОЧЕМУ КУПЯТ:</a:t>
            </a:r>
          </a:p>
        </p:txBody>
      </p:sp>
      <p:sp>
        <p:nvSpPr>
          <p:cNvPr id="1164" name="Text 6"/>
          <p:cNvSpPr txBox="1"/>
          <p:nvPr/>
        </p:nvSpPr>
        <p:spPr>
          <a:xfrm>
            <a:off x="12665867" y="5598913"/>
            <a:ext cx="10407850" cy="4704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92% опрошенных готовы использовать AI-помощника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Наша цена в 2-3 раза ниже их месячных расходов на кофе (5,99 BYN vs 15-20 BYN)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Для МСБ: экономия 1200 BYN в месяц vs 49 BYN подписки = ROI 2400%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Freemium версия создает привыкание (как Spotify, Notion)</a:t>
            </a:r>
          </a:p>
          <a:p>
            <a:pPr marL="564776" indent="-564776" defTabSz="1524000">
              <a:lnSpc>
                <a:spcPts val="4600"/>
              </a:lnSpc>
              <a:spcBef>
                <a:spcPts val="0"/>
              </a:spcBef>
              <a:buSzPct val="100000"/>
              <a:buChar char="•"/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Конкуренты дороже (Приорбанк 4,99 BYN, но без AI; ChatGPT 20 USD, но не для финансов)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Text 1"/>
          <p:cNvSpPr txBox="1"/>
          <p:nvPr/>
        </p:nvSpPr>
        <p:spPr>
          <a:xfrm>
            <a:off x="1322983" y="1070371"/>
            <a:ext cx="10837678" cy="103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8300"/>
              </a:lnSpc>
              <a:spcBef>
                <a:spcPts val="0"/>
              </a:spcBef>
              <a:defRPr b="1" sz="6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7. Шпаргалка для защиты</a:t>
            </a:r>
          </a:p>
        </p:txBody>
      </p:sp>
      <p:sp>
        <p:nvSpPr>
          <p:cNvPr id="1167" name="Text 2"/>
          <p:cNvSpPr txBox="1"/>
          <p:nvPr/>
        </p:nvSpPr>
        <p:spPr>
          <a:xfrm>
            <a:off x="1322983" y="2256036"/>
            <a:ext cx="13980097" cy="829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6600"/>
              </a:lnSpc>
              <a:spcBef>
                <a:spcPts val="0"/>
              </a:spcBef>
              <a:defRPr b="1" sz="5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Ответы на возможные вопросы комиссии</a:t>
            </a:r>
          </a:p>
        </p:txBody>
      </p:sp>
      <p:sp>
        <p:nvSpPr>
          <p:cNvPr id="1168" name="Shape 3"/>
          <p:cNvSpPr/>
          <p:nvPr/>
        </p:nvSpPr>
        <p:spPr>
          <a:xfrm>
            <a:off x="1322983" y="3565723"/>
            <a:ext cx="7041754" cy="9079906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6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57088" y="3399830"/>
            <a:ext cx="408188" cy="4081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0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122443" y="12403336"/>
            <a:ext cx="408188" cy="408188"/>
          </a:xfrm>
          <a:prstGeom prst="rect">
            <a:avLst/>
          </a:prstGeom>
          <a:ln w="12700">
            <a:miter lim="400000"/>
          </a:ln>
        </p:spPr>
      </p:pic>
      <p:sp>
        <p:nvSpPr>
          <p:cNvPr id="1171" name="Text 4"/>
          <p:cNvSpPr txBox="1"/>
          <p:nvPr/>
        </p:nvSpPr>
        <p:spPr>
          <a:xfrm>
            <a:off x="1871265" y="4114006"/>
            <a:ext cx="5945189" cy="1575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Вопрос: "Почему вы выбрали подписку, а не разовую покупку?"</a:t>
            </a:r>
          </a:p>
        </p:txBody>
      </p:sp>
      <p:sp>
        <p:nvSpPr>
          <p:cNvPr id="1172" name="Text 5"/>
          <p:cNvSpPr txBox="1"/>
          <p:nvPr/>
        </p:nvSpPr>
        <p:spPr>
          <a:xfrm>
            <a:off x="1871265" y="5891808"/>
            <a:ext cx="5945189" cy="5562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Ответ: "Потому что наш продукт — это ИИ-агент, который требует постоянного обучения и облачных мощностей. Студент не сможет купить его «навсегда» за 300 BYN — ему это дорого. А за 5,99 BYN в месяц — это просто не заметно. Для бизнеса подписка дает предсказуемый расход и постоянный апдейт функций (к нам прилетают новые алгоритмы каждый месяц)."</a:t>
            </a:r>
          </a:p>
        </p:txBody>
      </p:sp>
      <p:sp>
        <p:nvSpPr>
          <p:cNvPr id="1173" name="Shape 6"/>
          <p:cNvSpPr/>
          <p:nvPr/>
        </p:nvSpPr>
        <p:spPr>
          <a:xfrm>
            <a:off x="8670925" y="3565723"/>
            <a:ext cx="7041952" cy="9079906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74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505032" y="3399830"/>
            <a:ext cx="408187" cy="4081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5" name="Image 4" descr="Imag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470585" y="12403336"/>
            <a:ext cx="408188" cy="408188"/>
          </a:xfrm>
          <a:prstGeom prst="rect">
            <a:avLst/>
          </a:prstGeom>
          <a:ln w="12700">
            <a:miter lim="400000"/>
          </a:ln>
        </p:spPr>
      </p:pic>
      <p:sp>
        <p:nvSpPr>
          <p:cNvPr id="1176" name="Text 7"/>
          <p:cNvSpPr txBox="1"/>
          <p:nvPr/>
        </p:nvSpPr>
        <p:spPr>
          <a:xfrm>
            <a:off x="9219208" y="4114006"/>
            <a:ext cx="5945386" cy="1575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Вопрос: "Не слишком ли дорого 49 BYN для МСБ в Беларуси?"</a:t>
            </a:r>
          </a:p>
        </p:txBody>
      </p:sp>
      <p:sp>
        <p:nvSpPr>
          <p:cNvPr id="1177" name="Text 8"/>
          <p:cNvSpPr txBox="1"/>
          <p:nvPr/>
        </p:nvSpPr>
        <p:spPr>
          <a:xfrm>
            <a:off x="9219208" y="5891808"/>
            <a:ext cx="5945386" cy="4038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Ответ: "Нет. Мы посчитали: Ирина (владелица магазина) платит бухгалтеру 300 BYN или тратит сама 60 часов в месяц. Наш AI заменяет 30% этой работы. Окупаемость — 1,5 дня. Плюс мы даем триальный период 14 дней бесплатно, чтобы она протестировала интеграцию с ее 1С."</a:t>
            </a:r>
          </a:p>
        </p:txBody>
      </p:sp>
      <p:sp>
        <p:nvSpPr>
          <p:cNvPr id="1178" name="Shape 9"/>
          <p:cNvSpPr/>
          <p:nvPr/>
        </p:nvSpPr>
        <p:spPr>
          <a:xfrm>
            <a:off x="16019064" y="3565723"/>
            <a:ext cx="7041952" cy="9079906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254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79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853171" y="3399830"/>
            <a:ext cx="408188" cy="40818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0" name="Image 6" descr="Imag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818726" y="12403336"/>
            <a:ext cx="408188" cy="408188"/>
          </a:xfrm>
          <a:prstGeom prst="rect">
            <a:avLst/>
          </a:prstGeom>
          <a:ln w="12700">
            <a:miter lim="400000"/>
          </a:ln>
        </p:spPr>
      </p:pic>
      <p:sp>
        <p:nvSpPr>
          <p:cNvPr id="1181" name="Text 10"/>
          <p:cNvSpPr txBox="1"/>
          <p:nvPr/>
        </p:nvSpPr>
        <p:spPr>
          <a:xfrm>
            <a:off x="16567348" y="4114006"/>
            <a:ext cx="5945386" cy="1575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Вопрос: "А что внутри бесплатной версии? Не уйдут ли все в ноль?"</a:t>
            </a:r>
          </a:p>
        </p:txBody>
      </p:sp>
      <p:sp>
        <p:nvSpPr>
          <p:cNvPr id="1182" name="Text 11"/>
          <p:cNvSpPr txBox="1"/>
          <p:nvPr/>
        </p:nvSpPr>
        <p:spPr>
          <a:xfrm>
            <a:off x="16567348" y="5891808"/>
            <a:ext cx="5945386" cy="4546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sz="26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Ответ: "Это осознанная стратегия. Бесплатная версия — это «наркотик». Студент привыкает, что AI говорит ему «ты потратил много на доставку», а когда ему нужно закрыть цель «накопить на айфон», он переходит на Pro за 5,99 BYN. Это стандарт для Spotify, Notion, наших конкурентов из РФ."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4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4577756"/>
          </a:xfrm>
          <a:prstGeom prst="rect">
            <a:avLst/>
          </a:prstGeom>
          <a:ln w="12700">
            <a:miter lim="400000"/>
          </a:ln>
        </p:spPr>
      </p:pic>
      <p:sp>
        <p:nvSpPr>
          <p:cNvPr id="1185" name="Text 0"/>
          <p:cNvSpPr txBox="1"/>
          <p:nvPr/>
        </p:nvSpPr>
        <p:spPr>
          <a:xfrm>
            <a:off x="1281708" y="5880099"/>
            <a:ext cx="20756179" cy="1118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9000"/>
              </a:lnSpc>
              <a:spcBef>
                <a:spcPts val="0"/>
              </a:spcBef>
              <a:defRPr b="1" sz="7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Практическое занятие 8. Маркетинговый план</a:t>
            </a:r>
          </a:p>
        </p:txBody>
      </p:sp>
      <p:sp>
        <p:nvSpPr>
          <p:cNvPr id="1186" name="Text 1"/>
          <p:cNvSpPr txBox="1"/>
          <p:nvPr/>
        </p:nvSpPr>
        <p:spPr>
          <a:xfrm>
            <a:off x="1281708" y="7166371"/>
            <a:ext cx="21820586" cy="180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7100"/>
              </a:lnSpc>
              <a:spcBef>
                <a:spcPts val="0"/>
              </a:spcBef>
              <a:defRPr b="1" sz="5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Интегрированный план действий для вывода FinHelper AI на рынок</a:t>
            </a:r>
          </a:p>
        </p:txBody>
      </p:sp>
      <p:sp>
        <p:nvSpPr>
          <p:cNvPr id="1187" name="Text 2"/>
          <p:cNvSpPr txBox="1"/>
          <p:nvPr/>
        </p:nvSpPr>
        <p:spPr>
          <a:xfrm>
            <a:off x="1281708" y="9529166"/>
            <a:ext cx="21820586" cy="282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45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      Цель работы: Свести все предыдущие наработки в единый, реалистичный план действий с конкретными сроками, бюджетом и измеримыми показателями.       </a:t>
            </a:r>
          </a:p>
          <a:p>
            <a:pPr defTabSz="1524000">
              <a:lnSpc>
                <a:spcPts val="45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      Период планирования: 6 месяцев (Июль 2026 - Декабрь 2026)       </a:t>
            </a:r>
          </a:p>
          <a:p>
            <a:pPr defTabSz="1524000">
              <a:lnSpc>
                <a:spcPts val="45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      Целевой рынок: Беларусь (Минск, крупные города)       </a:t>
            </a:r>
          </a:p>
          <a:p>
            <a:pPr defTabSz="1524000">
              <a:lnSpc>
                <a:spcPts val="4500"/>
              </a:lnSpc>
              <a:spcBef>
                <a:spcPts val="0"/>
              </a:spcBef>
              <a:defRPr sz="2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       Целевые сегменты: Молодые специалисты (18-30 лет), МСБ, Корпорации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Text 0"/>
          <p:cNvSpPr txBox="1"/>
          <p:nvPr/>
        </p:nvSpPr>
        <p:spPr>
          <a:xfrm>
            <a:off x="1215019" y="1396258"/>
            <a:ext cx="12087003" cy="721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600"/>
              </a:lnSpc>
              <a:spcBef>
                <a:spcPts val="0"/>
              </a:spcBef>
              <a:defRPr b="1" sz="5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1. SMART-цели маркетингового плана</a:t>
            </a:r>
          </a:p>
        </p:txBody>
      </p:sp>
      <p:sp>
        <p:nvSpPr>
          <p:cNvPr id="1190" name="Text 1"/>
          <p:cNvSpPr txBox="1"/>
          <p:nvPr/>
        </p:nvSpPr>
        <p:spPr>
          <a:xfrm>
            <a:off x="1215018" y="2186038"/>
            <a:ext cx="22923241" cy="117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500"/>
              </a:lnSpc>
              <a:spcBef>
                <a:spcPts val="0"/>
              </a:spcBef>
              <a:defRPr b="1" sz="5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Конкретные, измеримые, достижимые, релевантные, ограниченные по времени</a:t>
            </a:r>
          </a:p>
        </p:txBody>
      </p:sp>
      <p:sp>
        <p:nvSpPr>
          <p:cNvPr id="1191" name="Shape 2"/>
          <p:cNvSpPr/>
          <p:nvPr/>
        </p:nvSpPr>
        <p:spPr>
          <a:xfrm>
            <a:off x="1261070" y="5521920"/>
            <a:ext cx="7190582" cy="3978474"/>
          </a:xfrm>
          <a:prstGeom prst="roundRect">
            <a:avLst>
              <a:gd name="adj" fmla="val 2473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2" name="Text 3"/>
          <p:cNvSpPr txBox="1"/>
          <p:nvPr/>
        </p:nvSpPr>
        <p:spPr>
          <a:xfrm>
            <a:off x="1507926" y="5768776"/>
            <a:ext cx="5521947" cy="346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ЦЕЛЬ 1: Привлечение пользователей (B2C)</a:t>
            </a:r>
          </a:p>
        </p:txBody>
      </p:sp>
      <p:sp>
        <p:nvSpPr>
          <p:cNvPr id="1193" name="Text 4"/>
          <p:cNvSpPr txBox="1"/>
          <p:nvPr/>
        </p:nvSpPr>
        <p:spPr>
          <a:xfrm>
            <a:off x="1507926" y="6221413"/>
            <a:ext cx="6696870" cy="2956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Привлечь 5000 зарегистрированных пользователей в бесплатный тариф Light за 6 месяцев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Целевой сегмент: Молодые специалисты и студенты (18-30 лет)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Метрика: 5000 активных пользователей (минимум 1 действие в неделю)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CAC (Customer Acquisition Cost): не выше 50 BYN на пользователя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Сроки: Июль 2026 - Декабрь 2026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Ответственный: Отдел маркетинга</a:t>
            </a:r>
          </a:p>
        </p:txBody>
      </p:sp>
      <p:sp>
        <p:nvSpPr>
          <p:cNvPr id="1194" name="Shape 5"/>
          <p:cNvSpPr/>
          <p:nvPr/>
        </p:nvSpPr>
        <p:spPr>
          <a:xfrm>
            <a:off x="8596709" y="5521920"/>
            <a:ext cx="7190583" cy="3978474"/>
          </a:xfrm>
          <a:prstGeom prst="roundRect">
            <a:avLst>
              <a:gd name="adj" fmla="val 2473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5" name="Text 6"/>
          <p:cNvSpPr txBox="1"/>
          <p:nvPr/>
        </p:nvSpPr>
        <p:spPr>
          <a:xfrm>
            <a:off x="8843564" y="5768776"/>
            <a:ext cx="5676852" cy="346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ЦЕЛЬ 2: Конверсия в платные тарифы (B2C)</a:t>
            </a:r>
          </a:p>
        </p:txBody>
      </p:sp>
      <p:sp>
        <p:nvSpPr>
          <p:cNvPr id="1196" name="Text 7"/>
          <p:cNvSpPr txBox="1"/>
          <p:nvPr/>
        </p:nvSpPr>
        <p:spPr>
          <a:xfrm>
            <a:off x="8843564" y="6221413"/>
            <a:ext cx="6696870" cy="26603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Достичь конверсии 8% пользователей с Light на Student Pro за 6 месяцев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Целевой показатель: 400 платящих пользователей (5000 × 8%)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Средний ARPU (Average Revenue Per User): 5,99 BYN/месяц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Ежемесячный доход B2C: 400 × 5,99 = 2396 BYN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Сроки: Сентябрь 2026 - Декабрь 2026 (после 2 месяцев использования)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Ответственный: Отдел маркетинга + Product</a:t>
            </a:r>
          </a:p>
        </p:txBody>
      </p:sp>
      <p:sp>
        <p:nvSpPr>
          <p:cNvPr id="1197" name="Shape 8"/>
          <p:cNvSpPr/>
          <p:nvPr/>
        </p:nvSpPr>
        <p:spPr>
          <a:xfrm>
            <a:off x="15932347" y="5521920"/>
            <a:ext cx="7190583" cy="3978474"/>
          </a:xfrm>
          <a:prstGeom prst="roundRect">
            <a:avLst>
              <a:gd name="adj" fmla="val 2473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98" name="Text 9"/>
          <p:cNvSpPr txBox="1"/>
          <p:nvPr/>
        </p:nvSpPr>
        <p:spPr>
          <a:xfrm>
            <a:off x="16179204" y="5768776"/>
            <a:ext cx="4170587" cy="346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ЦЕЛЬ 3: Привлечение МСБ (B2B)</a:t>
            </a:r>
          </a:p>
        </p:txBody>
      </p:sp>
      <p:sp>
        <p:nvSpPr>
          <p:cNvPr id="1199" name="Text 10"/>
          <p:cNvSpPr txBox="1"/>
          <p:nvPr/>
        </p:nvSpPr>
        <p:spPr>
          <a:xfrm>
            <a:off x="16179204" y="6221413"/>
            <a:ext cx="6696870" cy="236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Привлечь 50 компаний МСБ на тариф Business за 6 месяцев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Целевой сегмент: ИП и МСБ (до 50 человек) в Минске и крупных городах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Цена: 49 BYN/месяц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Ежемесячный доход B2B: 50 × 49 = 2450 BYN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CAC для B2B: не выше 500 BYN на клиента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Сроки: Август 2026 - Декабрь 2026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Ответственный: Отдел B2B продаж</a:t>
            </a:r>
          </a:p>
        </p:txBody>
      </p:sp>
      <p:sp>
        <p:nvSpPr>
          <p:cNvPr id="1200" name="Shape 11"/>
          <p:cNvSpPr/>
          <p:nvPr/>
        </p:nvSpPr>
        <p:spPr>
          <a:xfrm>
            <a:off x="1261070" y="9645451"/>
            <a:ext cx="21861860" cy="3068838"/>
          </a:xfrm>
          <a:prstGeom prst="roundRect">
            <a:avLst>
              <a:gd name="adj" fmla="val 3205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1" name="Text 12"/>
          <p:cNvSpPr txBox="1"/>
          <p:nvPr/>
        </p:nvSpPr>
        <p:spPr>
          <a:xfrm>
            <a:off x="1507926" y="9892308"/>
            <a:ext cx="4235699" cy="346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8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ЦЕЛЬ 4: Финансовые показатели</a:t>
            </a:r>
          </a:p>
        </p:txBody>
      </p:sp>
      <p:sp>
        <p:nvSpPr>
          <p:cNvPr id="1202" name="Text 13"/>
          <p:cNvSpPr txBox="1"/>
          <p:nvPr/>
        </p:nvSpPr>
        <p:spPr>
          <a:xfrm>
            <a:off x="1507926" y="10344943"/>
            <a:ext cx="21368148" cy="206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Достичь ROMI (Return on Marketing Investment) ≥ 300% за 6 месяцев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Общий маркетинговый бюджет: 15000 BYN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Прогнозируемый доход (6 месяцев): (2396 + 2450) × 6 = 28476 BYN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Прибыль (доход - бюджет): 28476 - 15000 = 13476 BYN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ROMI: (13476 / 15000) × 100% = 90% (за 6 месяцев)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Окупаемость инвестиций: 4-5 месяцев           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1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Сроки: Июль 2026 - Декабрь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Text 0"/>
          <p:cNvSpPr txBox="1"/>
          <p:nvPr/>
        </p:nvSpPr>
        <p:spPr>
          <a:xfrm>
            <a:off x="1116409" y="942181"/>
            <a:ext cx="10318553" cy="624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2. Календарный план (Диаграмма Ганта)</a:t>
            </a:r>
          </a:p>
        </p:txBody>
      </p:sp>
      <p:sp>
        <p:nvSpPr>
          <p:cNvPr id="1205" name="Text 1"/>
          <p:cNvSpPr txBox="1"/>
          <p:nvPr/>
        </p:nvSpPr>
        <p:spPr>
          <a:xfrm>
            <a:off x="1116410" y="1635521"/>
            <a:ext cx="11344102" cy="49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Основные этапы работ на 6 месяцев (Июль - Декабрь 2026)</a:t>
            </a:r>
          </a:p>
        </p:txBody>
      </p:sp>
      <p:sp>
        <p:nvSpPr>
          <p:cNvPr id="1206" name="Shape 2"/>
          <p:cNvSpPr/>
          <p:nvPr/>
        </p:nvSpPr>
        <p:spPr>
          <a:xfrm>
            <a:off x="1116410" y="2324298"/>
            <a:ext cx="22151183" cy="10064751"/>
          </a:xfrm>
          <a:prstGeom prst="roundRect">
            <a:avLst>
              <a:gd name="adj" fmla="val 865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7" name="Shape 3"/>
          <p:cNvSpPr/>
          <p:nvPr/>
        </p:nvSpPr>
        <p:spPr>
          <a:xfrm>
            <a:off x="1129110" y="2336998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8" name="Text 4"/>
          <p:cNvSpPr txBox="1"/>
          <p:nvPr/>
        </p:nvSpPr>
        <p:spPr>
          <a:xfrm>
            <a:off x="1336278" y="2417761"/>
            <a:ext cx="1713000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Этап / Мероприятие</a:t>
            </a:r>
          </a:p>
        </p:txBody>
      </p:sp>
      <p:sp>
        <p:nvSpPr>
          <p:cNvPr id="1209" name="Text 5"/>
          <p:cNvSpPr txBox="1"/>
          <p:nvPr/>
        </p:nvSpPr>
        <p:spPr>
          <a:xfrm>
            <a:off x="7980363" y="2417761"/>
            <a:ext cx="470310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Июль</a:t>
            </a:r>
          </a:p>
        </p:txBody>
      </p:sp>
      <p:sp>
        <p:nvSpPr>
          <p:cNvPr id="1210" name="Text 6"/>
          <p:cNvSpPr txBox="1"/>
          <p:nvPr/>
        </p:nvSpPr>
        <p:spPr>
          <a:xfrm>
            <a:off x="9750424" y="2417761"/>
            <a:ext cx="56902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Август</a:t>
            </a:r>
          </a:p>
        </p:txBody>
      </p:sp>
      <p:sp>
        <p:nvSpPr>
          <p:cNvPr id="1211" name="Text 7"/>
          <p:cNvSpPr txBox="1"/>
          <p:nvPr/>
        </p:nvSpPr>
        <p:spPr>
          <a:xfrm>
            <a:off x="11520488" y="2417761"/>
            <a:ext cx="813582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Сентябрь</a:t>
            </a:r>
          </a:p>
        </p:txBody>
      </p:sp>
      <p:sp>
        <p:nvSpPr>
          <p:cNvPr id="1212" name="Text 8"/>
          <p:cNvSpPr txBox="1"/>
          <p:nvPr/>
        </p:nvSpPr>
        <p:spPr>
          <a:xfrm>
            <a:off x="13290550" y="2417761"/>
            <a:ext cx="723120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Октябрь</a:t>
            </a:r>
          </a:p>
        </p:txBody>
      </p:sp>
      <p:sp>
        <p:nvSpPr>
          <p:cNvPr id="1213" name="Text 9"/>
          <p:cNvSpPr txBox="1"/>
          <p:nvPr/>
        </p:nvSpPr>
        <p:spPr>
          <a:xfrm>
            <a:off x="15060612" y="2417761"/>
            <a:ext cx="62579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Ноябрь</a:t>
            </a:r>
          </a:p>
        </p:txBody>
      </p:sp>
      <p:sp>
        <p:nvSpPr>
          <p:cNvPr id="1214" name="Text 10"/>
          <p:cNvSpPr txBox="1"/>
          <p:nvPr/>
        </p:nvSpPr>
        <p:spPr>
          <a:xfrm>
            <a:off x="16830675" y="2417761"/>
            <a:ext cx="719126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Декабрь</a:t>
            </a:r>
          </a:p>
        </p:txBody>
      </p:sp>
      <p:sp>
        <p:nvSpPr>
          <p:cNvPr id="1215" name="Text 11"/>
          <p:cNvSpPr txBox="1"/>
          <p:nvPr/>
        </p:nvSpPr>
        <p:spPr>
          <a:xfrm>
            <a:off x="18600737" y="2417761"/>
            <a:ext cx="132909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Ответственный</a:t>
            </a:r>
          </a:p>
        </p:txBody>
      </p:sp>
      <p:sp>
        <p:nvSpPr>
          <p:cNvPr id="1216" name="Shape 12"/>
          <p:cNvSpPr/>
          <p:nvPr/>
        </p:nvSpPr>
        <p:spPr>
          <a:xfrm>
            <a:off x="1129110" y="2755305"/>
            <a:ext cx="22125782" cy="41830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7" name="Text 13"/>
          <p:cNvSpPr txBox="1"/>
          <p:nvPr/>
        </p:nvSpPr>
        <p:spPr>
          <a:xfrm>
            <a:off x="1336278" y="2836068"/>
            <a:ext cx="3880372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1. РАЗРАБОТКА И ДОРАБОТКА ПРОДУКТА</a:t>
            </a:r>
          </a:p>
        </p:txBody>
      </p:sp>
      <p:sp>
        <p:nvSpPr>
          <p:cNvPr id="1218" name="Shape 21"/>
          <p:cNvSpPr/>
          <p:nvPr/>
        </p:nvSpPr>
        <p:spPr>
          <a:xfrm>
            <a:off x="1129110" y="3173611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9" name="Text 22"/>
          <p:cNvSpPr txBox="1"/>
          <p:nvPr/>
        </p:nvSpPr>
        <p:spPr>
          <a:xfrm>
            <a:off x="1336278" y="3254375"/>
            <a:ext cx="1981437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Финализация MVP v1.0</a:t>
            </a:r>
          </a:p>
        </p:txBody>
      </p:sp>
      <p:sp>
        <p:nvSpPr>
          <p:cNvPr id="1220" name="Text 23"/>
          <p:cNvSpPr txBox="1"/>
          <p:nvPr/>
        </p:nvSpPr>
        <p:spPr>
          <a:xfrm>
            <a:off x="7980363" y="325437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21" name="Text 29"/>
          <p:cNvSpPr txBox="1"/>
          <p:nvPr/>
        </p:nvSpPr>
        <p:spPr>
          <a:xfrm>
            <a:off x="18600737" y="3254375"/>
            <a:ext cx="11065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Team</a:t>
            </a:r>
          </a:p>
        </p:txBody>
      </p:sp>
      <p:sp>
        <p:nvSpPr>
          <p:cNvPr id="1222" name="Shape 30"/>
          <p:cNvSpPr/>
          <p:nvPr/>
        </p:nvSpPr>
        <p:spPr>
          <a:xfrm>
            <a:off x="1129110" y="3591916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3" name="Text 31"/>
          <p:cNvSpPr txBox="1"/>
          <p:nvPr/>
        </p:nvSpPr>
        <p:spPr>
          <a:xfrm>
            <a:off x="1336278" y="3672681"/>
            <a:ext cx="2278956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Интеграция с 1С (для B2B)</a:t>
            </a:r>
          </a:p>
        </p:txBody>
      </p:sp>
      <p:sp>
        <p:nvSpPr>
          <p:cNvPr id="1224" name="Text 33"/>
          <p:cNvSpPr txBox="1"/>
          <p:nvPr/>
        </p:nvSpPr>
        <p:spPr>
          <a:xfrm>
            <a:off x="9750424" y="367268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25" name="Text 34"/>
          <p:cNvSpPr txBox="1"/>
          <p:nvPr/>
        </p:nvSpPr>
        <p:spPr>
          <a:xfrm>
            <a:off x="11520488" y="367268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26" name="Text 38"/>
          <p:cNvSpPr txBox="1"/>
          <p:nvPr/>
        </p:nvSpPr>
        <p:spPr>
          <a:xfrm>
            <a:off x="18600737" y="3672681"/>
            <a:ext cx="11065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Team</a:t>
            </a:r>
          </a:p>
        </p:txBody>
      </p:sp>
      <p:sp>
        <p:nvSpPr>
          <p:cNvPr id="1227" name="Shape 39"/>
          <p:cNvSpPr/>
          <p:nvPr/>
        </p:nvSpPr>
        <p:spPr>
          <a:xfrm>
            <a:off x="1129110" y="4010223"/>
            <a:ext cx="22125782" cy="4183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8" name="Text 40"/>
          <p:cNvSpPr txBox="1"/>
          <p:nvPr/>
        </p:nvSpPr>
        <p:spPr>
          <a:xfrm>
            <a:off x="1336278" y="4090988"/>
            <a:ext cx="1656743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Тестирование и QA</a:t>
            </a:r>
          </a:p>
        </p:txBody>
      </p:sp>
      <p:sp>
        <p:nvSpPr>
          <p:cNvPr id="1229" name="Text 41"/>
          <p:cNvSpPr txBox="1"/>
          <p:nvPr/>
        </p:nvSpPr>
        <p:spPr>
          <a:xfrm>
            <a:off x="7980363" y="4090988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30" name="Text 42"/>
          <p:cNvSpPr txBox="1"/>
          <p:nvPr/>
        </p:nvSpPr>
        <p:spPr>
          <a:xfrm>
            <a:off x="9750424" y="4090988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31" name="Text 47"/>
          <p:cNvSpPr txBox="1"/>
          <p:nvPr/>
        </p:nvSpPr>
        <p:spPr>
          <a:xfrm>
            <a:off x="18600737" y="4090988"/>
            <a:ext cx="740917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QA Team</a:t>
            </a:r>
          </a:p>
        </p:txBody>
      </p:sp>
      <p:sp>
        <p:nvSpPr>
          <p:cNvPr id="1232" name="Shape 48"/>
          <p:cNvSpPr/>
          <p:nvPr/>
        </p:nvSpPr>
        <p:spPr>
          <a:xfrm>
            <a:off x="1129110" y="4428530"/>
            <a:ext cx="22125782" cy="41830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3" name="Text 49"/>
          <p:cNvSpPr txBox="1"/>
          <p:nvPr/>
        </p:nvSpPr>
        <p:spPr>
          <a:xfrm>
            <a:off x="1336278" y="4509293"/>
            <a:ext cx="168982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 бета-версии</a:t>
            </a:r>
          </a:p>
        </p:txBody>
      </p:sp>
      <p:sp>
        <p:nvSpPr>
          <p:cNvPr id="1234" name="Text 52"/>
          <p:cNvSpPr txBox="1"/>
          <p:nvPr/>
        </p:nvSpPr>
        <p:spPr>
          <a:xfrm>
            <a:off x="11520488" y="450929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35" name="Text 56"/>
          <p:cNvSpPr txBox="1"/>
          <p:nvPr/>
        </p:nvSpPr>
        <p:spPr>
          <a:xfrm>
            <a:off x="18600737" y="4509293"/>
            <a:ext cx="11065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Team</a:t>
            </a:r>
          </a:p>
        </p:txBody>
      </p:sp>
      <p:sp>
        <p:nvSpPr>
          <p:cNvPr id="1236" name="Shape 57"/>
          <p:cNvSpPr/>
          <p:nvPr/>
        </p:nvSpPr>
        <p:spPr>
          <a:xfrm>
            <a:off x="1129110" y="4846836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7" name="Text 58"/>
          <p:cNvSpPr txBox="1"/>
          <p:nvPr/>
        </p:nvSpPr>
        <p:spPr>
          <a:xfrm>
            <a:off x="1336278" y="4927600"/>
            <a:ext cx="2970276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2. МАРКЕТИНГОВЫЕ КАМПАНИИ</a:t>
            </a:r>
          </a:p>
        </p:txBody>
      </p:sp>
      <p:sp>
        <p:nvSpPr>
          <p:cNvPr id="1238" name="Shape 66"/>
          <p:cNvSpPr/>
          <p:nvPr/>
        </p:nvSpPr>
        <p:spPr>
          <a:xfrm>
            <a:off x="1129110" y="5265141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9" name="Text 67"/>
          <p:cNvSpPr txBox="1"/>
          <p:nvPr/>
        </p:nvSpPr>
        <p:spPr>
          <a:xfrm>
            <a:off x="1336278" y="5345906"/>
            <a:ext cx="298894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Подготовка маркетинг-материалов</a:t>
            </a:r>
          </a:p>
        </p:txBody>
      </p:sp>
      <p:sp>
        <p:nvSpPr>
          <p:cNvPr id="1240" name="Text 68"/>
          <p:cNvSpPr txBox="1"/>
          <p:nvPr/>
        </p:nvSpPr>
        <p:spPr>
          <a:xfrm>
            <a:off x="7980363" y="5345906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41" name="Text 74"/>
          <p:cNvSpPr txBox="1"/>
          <p:nvPr/>
        </p:nvSpPr>
        <p:spPr>
          <a:xfrm>
            <a:off x="18600737" y="5345906"/>
            <a:ext cx="793354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242" name="Shape 75"/>
          <p:cNvSpPr/>
          <p:nvPr/>
        </p:nvSpPr>
        <p:spPr>
          <a:xfrm>
            <a:off x="1129110" y="5683448"/>
            <a:ext cx="22125782" cy="4183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43" name="Text 76"/>
          <p:cNvSpPr txBox="1"/>
          <p:nvPr/>
        </p:nvSpPr>
        <p:spPr>
          <a:xfrm>
            <a:off x="1336278" y="5764213"/>
            <a:ext cx="3453496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 рекламы в Instagram/TikTok (B2C)</a:t>
            </a:r>
          </a:p>
        </p:txBody>
      </p:sp>
      <p:sp>
        <p:nvSpPr>
          <p:cNvPr id="1244" name="Text 78"/>
          <p:cNvSpPr txBox="1"/>
          <p:nvPr/>
        </p:nvSpPr>
        <p:spPr>
          <a:xfrm>
            <a:off x="9750424" y="576421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45" name="Text 79"/>
          <p:cNvSpPr txBox="1"/>
          <p:nvPr/>
        </p:nvSpPr>
        <p:spPr>
          <a:xfrm>
            <a:off x="11520488" y="576421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46" name="Text 80"/>
          <p:cNvSpPr txBox="1"/>
          <p:nvPr/>
        </p:nvSpPr>
        <p:spPr>
          <a:xfrm>
            <a:off x="13290550" y="576421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47" name="Text 81"/>
          <p:cNvSpPr txBox="1"/>
          <p:nvPr/>
        </p:nvSpPr>
        <p:spPr>
          <a:xfrm>
            <a:off x="15060612" y="576421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48" name="Text 82"/>
          <p:cNvSpPr txBox="1"/>
          <p:nvPr/>
        </p:nvSpPr>
        <p:spPr>
          <a:xfrm>
            <a:off x="16830675" y="576421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49" name="Text 83"/>
          <p:cNvSpPr txBox="1"/>
          <p:nvPr/>
        </p:nvSpPr>
        <p:spPr>
          <a:xfrm>
            <a:off x="18600737" y="5764213"/>
            <a:ext cx="793354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250" name="Shape 84"/>
          <p:cNvSpPr/>
          <p:nvPr/>
        </p:nvSpPr>
        <p:spPr>
          <a:xfrm>
            <a:off x="1129110" y="6101754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1" name="Text 85"/>
          <p:cNvSpPr txBox="1"/>
          <p:nvPr/>
        </p:nvSpPr>
        <p:spPr>
          <a:xfrm>
            <a:off x="1336278" y="6182518"/>
            <a:ext cx="2768775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 рекламы в LinkedIn (B2B)</a:t>
            </a:r>
          </a:p>
        </p:txBody>
      </p:sp>
      <p:sp>
        <p:nvSpPr>
          <p:cNvPr id="1252" name="Text 88"/>
          <p:cNvSpPr txBox="1"/>
          <p:nvPr/>
        </p:nvSpPr>
        <p:spPr>
          <a:xfrm>
            <a:off x="11520488" y="6182518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53" name="Text 89"/>
          <p:cNvSpPr txBox="1"/>
          <p:nvPr/>
        </p:nvSpPr>
        <p:spPr>
          <a:xfrm>
            <a:off x="13290550" y="6182518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54" name="Text 90"/>
          <p:cNvSpPr txBox="1"/>
          <p:nvPr/>
        </p:nvSpPr>
        <p:spPr>
          <a:xfrm>
            <a:off x="15060612" y="6182518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55" name="Text 91"/>
          <p:cNvSpPr txBox="1"/>
          <p:nvPr/>
        </p:nvSpPr>
        <p:spPr>
          <a:xfrm>
            <a:off x="16830675" y="6182518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56" name="Text 92"/>
          <p:cNvSpPr txBox="1"/>
          <p:nvPr/>
        </p:nvSpPr>
        <p:spPr>
          <a:xfrm>
            <a:off x="18600737" y="6182518"/>
            <a:ext cx="793354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257" name="Shape 93"/>
          <p:cNvSpPr/>
          <p:nvPr/>
        </p:nvSpPr>
        <p:spPr>
          <a:xfrm>
            <a:off x="1129110" y="6520061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58" name="Text 94"/>
          <p:cNvSpPr txBox="1"/>
          <p:nvPr/>
        </p:nvSpPr>
        <p:spPr>
          <a:xfrm>
            <a:off x="1336278" y="6600825"/>
            <a:ext cx="2260378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Email-маркетинг кампании</a:t>
            </a:r>
          </a:p>
        </p:txBody>
      </p:sp>
      <p:sp>
        <p:nvSpPr>
          <p:cNvPr id="1259" name="Text 96"/>
          <p:cNvSpPr txBox="1"/>
          <p:nvPr/>
        </p:nvSpPr>
        <p:spPr>
          <a:xfrm>
            <a:off x="9750424" y="660082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0" name="Text 97"/>
          <p:cNvSpPr txBox="1"/>
          <p:nvPr/>
        </p:nvSpPr>
        <p:spPr>
          <a:xfrm>
            <a:off x="11520488" y="660082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1" name="Text 98"/>
          <p:cNvSpPr txBox="1"/>
          <p:nvPr/>
        </p:nvSpPr>
        <p:spPr>
          <a:xfrm>
            <a:off x="13290550" y="660082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2" name="Text 99"/>
          <p:cNvSpPr txBox="1"/>
          <p:nvPr/>
        </p:nvSpPr>
        <p:spPr>
          <a:xfrm>
            <a:off x="15060612" y="660082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3" name="Text 100"/>
          <p:cNvSpPr txBox="1"/>
          <p:nvPr/>
        </p:nvSpPr>
        <p:spPr>
          <a:xfrm>
            <a:off x="16830675" y="660082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4" name="Text 101"/>
          <p:cNvSpPr txBox="1"/>
          <p:nvPr/>
        </p:nvSpPr>
        <p:spPr>
          <a:xfrm>
            <a:off x="18600737" y="6600825"/>
            <a:ext cx="793354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265" name="Shape 102"/>
          <p:cNvSpPr/>
          <p:nvPr/>
        </p:nvSpPr>
        <p:spPr>
          <a:xfrm>
            <a:off x="1129110" y="6938366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66" name="Text 103"/>
          <p:cNvSpPr txBox="1"/>
          <p:nvPr/>
        </p:nvSpPr>
        <p:spPr>
          <a:xfrm>
            <a:off x="1336278" y="7019131"/>
            <a:ext cx="1616808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 и пресс-релизы</a:t>
            </a:r>
          </a:p>
        </p:txBody>
      </p:sp>
      <p:sp>
        <p:nvSpPr>
          <p:cNvPr id="1267" name="Text 106"/>
          <p:cNvSpPr txBox="1"/>
          <p:nvPr/>
        </p:nvSpPr>
        <p:spPr>
          <a:xfrm>
            <a:off x="11520488" y="701913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8" name="Text 108"/>
          <p:cNvSpPr txBox="1"/>
          <p:nvPr/>
        </p:nvSpPr>
        <p:spPr>
          <a:xfrm>
            <a:off x="15060612" y="701913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69" name="Text 110"/>
          <p:cNvSpPr txBox="1"/>
          <p:nvPr/>
        </p:nvSpPr>
        <p:spPr>
          <a:xfrm>
            <a:off x="18600737" y="7019131"/>
            <a:ext cx="740744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 Team</a:t>
            </a:r>
          </a:p>
        </p:txBody>
      </p:sp>
      <p:sp>
        <p:nvSpPr>
          <p:cNvPr id="1270" name="Shape 111"/>
          <p:cNvSpPr/>
          <p:nvPr/>
        </p:nvSpPr>
        <p:spPr>
          <a:xfrm>
            <a:off x="1129110" y="7356673"/>
            <a:ext cx="22125782" cy="4183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1" name="Text 112"/>
          <p:cNvSpPr txBox="1"/>
          <p:nvPr/>
        </p:nvSpPr>
        <p:spPr>
          <a:xfrm>
            <a:off x="1336278" y="7437438"/>
            <a:ext cx="2880507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3. КОНТЕНТ И КОММУНИКАЦИЯ</a:t>
            </a:r>
          </a:p>
        </p:txBody>
      </p:sp>
      <p:sp>
        <p:nvSpPr>
          <p:cNvPr id="1272" name="Shape 120"/>
          <p:cNvSpPr/>
          <p:nvPr/>
        </p:nvSpPr>
        <p:spPr>
          <a:xfrm>
            <a:off x="1129110" y="7774980"/>
            <a:ext cx="22125782" cy="41830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73" name="Text 121"/>
          <p:cNvSpPr txBox="1"/>
          <p:nvPr/>
        </p:nvSpPr>
        <p:spPr>
          <a:xfrm>
            <a:off x="1336278" y="7855743"/>
            <a:ext cx="280081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Создание контента (блог, видео)</a:t>
            </a:r>
          </a:p>
        </p:txBody>
      </p:sp>
      <p:sp>
        <p:nvSpPr>
          <p:cNvPr id="1274" name="Text 122"/>
          <p:cNvSpPr txBox="1"/>
          <p:nvPr/>
        </p:nvSpPr>
        <p:spPr>
          <a:xfrm>
            <a:off x="7980363" y="785574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75" name="Text 123"/>
          <p:cNvSpPr txBox="1"/>
          <p:nvPr/>
        </p:nvSpPr>
        <p:spPr>
          <a:xfrm>
            <a:off x="9750424" y="785574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76" name="Text 124"/>
          <p:cNvSpPr txBox="1"/>
          <p:nvPr/>
        </p:nvSpPr>
        <p:spPr>
          <a:xfrm>
            <a:off x="11520488" y="785574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77" name="Text 125"/>
          <p:cNvSpPr txBox="1"/>
          <p:nvPr/>
        </p:nvSpPr>
        <p:spPr>
          <a:xfrm>
            <a:off x="13290550" y="785574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78" name="Text 126"/>
          <p:cNvSpPr txBox="1"/>
          <p:nvPr/>
        </p:nvSpPr>
        <p:spPr>
          <a:xfrm>
            <a:off x="15060612" y="785574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79" name="Text 127"/>
          <p:cNvSpPr txBox="1"/>
          <p:nvPr/>
        </p:nvSpPr>
        <p:spPr>
          <a:xfrm>
            <a:off x="16830675" y="785574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80" name="Text 128"/>
          <p:cNvSpPr txBox="1"/>
          <p:nvPr/>
        </p:nvSpPr>
        <p:spPr>
          <a:xfrm>
            <a:off x="18600737" y="7855743"/>
            <a:ext cx="1116485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Content Team</a:t>
            </a:r>
          </a:p>
        </p:txBody>
      </p:sp>
      <p:sp>
        <p:nvSpPr>
          <p:cNvPr id="1281" name="Shape 129"/>
          <p:cNvSpPr/>
          <p:nvPr/>
        </p:nvSpPr>
        <p:spPr>
          <a:xfrm>
            <a:off x="1129110" y="8193286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2" name="Text 130"/>
          <p:cNvSpPr txBox="1"/>
          <p:nvPr/>
        </p:nvSpPr>
        <p:spPr>
          <a:xfrm>
            <a:off x="1336278" y="8274049"/>
            <a:ext cx="20034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 YouTube-канала</a:t>
            </a:r>
          </a:p>
        </p:txBody>
      </p:sp>
      <p:sp>
        <p:nvSpPr>
          <p:cNvPr id="1283" name="Text 132"/>
          <p:cNvSpPr txBox="1"/>
          <p:nvPr/>
        </p:nvSpPr>
        <p:spPr>
          <a:xfrm>
            <a:off x="9750424" y="827404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84" name="Text 133"/>
          <p:cNvSpPr txBox="1"/>
          <p:nvPr/>
        </p:nvSpPr>
        <p:spPr>
          <a:xfrm>
            <a:off x="11520488" y="827404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85" name="Text 134"/>
          <p:cNvSpPr txBox="1"/>
          <p:nvPr/>
        </p:nvSpPr>
        <p:spPr>
          <a:xfrm>
            <a:off x="13290550" y="827404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86" name="Text 135"/>
          <p:cNvSpPr txBox="1"/>
          <p:nvPr/>
        </p:nvSpPr>
        <p:spPr>
          <a:xfrm>
            <a:off x="15060612" y="827404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87" name="Text 136"/>
          <p:cNvSpPr txBox="1"/>
          <p:nvPr/>
        </p:nvSpPr>
        <p:spPr>
          <a:xfrm>
            <a:off x="16830675" y="827404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88" name="Text 137"/>
          <p:cNvSpPr txBox="1"/>
          <p:nvPr/>
        </p:nvSpPr>
        <p:spPr>
          <a:xfrm>
            <a:off x="18600737" y="8274049"/>
            <a:ext cx="1116485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Content Team</a:t>
            </a:r>
          </a:p>
        </p:txBody>
      </p:sp>
      <p:sp>
        <p:nvSpPr>
          <p:cNvPr id="1289" name="Shape 138"/>
          <p:cNvSpPr/>
          <p:nvPr/>
        </p:nvSpPr>
        <p:spPr>
          <a:xfrm>
            <a:off x="1129110" y="8611591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0" name="Text 139"/>
          <p:cNvSpPr txBox="1"/>
          <p:nvPr/>
        </p:nvSpPr>
        <p:spPr>
          <a:xfrm>
            <a:off x="1336278" y="8692356"/>
            <a:ext cx="211661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Вебинары и демо-сессии</a:t>
            </a:r>
          </a:p>
        </p:txBody>
      </p:sp>
      <p:sp>
        <p:nvSpPr>
          <p:cNvPr id="1291" name="Text 142"/>
          <p:cNvSpPr txBox="1"/>
          <p:nvPr/>
        </p:nvSpPr>
        <p:spPr>
          <a:xfrm>
            <a:off x="11520488" y="869235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92" name="Text 143"/>
          <p:cNvSpPr txBox="1"/>
          <p:nvPr/>
        </p:nvSpPr>
        <p:spPr>
          <a:xfrm>
            <a:off x="13290550" y="869235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93" name="Text 144"/>
          <p:cNvSpPr txBox="1"/>
          <p:nvPr/>
        </p:nvSpPr>
        <p:spPr>
          <a:xfrm>
            <a:off x="15060612" y="869235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94" name="Text 145"/>
          <p:cNvSpPr txBox="1"/>
          <p:nvPr/>
        </p:nvSpPr>
        <p:spPr>
          <a:xfrm>
            <a:off x="16830675" y="869235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295" name="Text 146"/>
          <p:cNvSpPr txBox="1"/>
          <p:nvPr/>
        </p:nvSpPr>
        <p:spPr>
          <a:xfrm>
            <a:off x="18600737" y="8692356"/>
            <a:ext cx="938512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Sales Team</a:t>
            </a:r>
          </a:p>
        </p:txBody>
      </p:sp>
      <p:sp>
        <p:nvSpPr>
          <p:cNvPr id="1296" name="Shape 147"/>
          <p:cNvSpPr/>
          <p:nvPr/>
        </p:nvSpPr>
        <p:spPr>
          <a:xfrm>
            <a:off x="1129110" y="9029898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7" name="Text 148"/>
          <p:cNvSpPr txBox="1"/>
          <p:nvPr/>
        </p:nvSpPr>
        <p:spPr>
          <a:xfrm>
            <a:off x="1336278" y="9110663"/>
            <a:ext cx="2709305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4. ПАРТНЕРСТВА И СОБЫТИЯ</a:t>
            </a:r>
          </a:p>
        </p:txBody>
      </p:sp>
      <p:sp>
        <p:nvSpPr>
          <p:cNvPr id="1298" name="Shape 156"/>
          <p:cNvSpPr/>
          <p:nvPr/>
        </p:nvSpPr>
        <p:spPr>
          <a:xfrm>
            <a:off x="1129110" y="9448204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9" name="Text 157"/>
          <p:cNvSpPr txBox="1"/>
          <p:nvPr/>
        </p:nvSpPr>
        <p:spPr>
          <a:xfrm>
            <a:off x="1336278" y="9528968"/>
            <a:ext cx="2222786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Переговоры с партнерами</a:t>
            </a:r>
          </a:p>
        </p:txBody>
      </p:sp>
      <p:sp>
        <p:nvSpPr>
          <p:cNvPr id="1300" name="Text 158"/>
          <p:cNvSpPr txBox="1"/>
          <p:nvPr/>
        </p:nvSpPr>
        <p:spPr>
          <a:xfrm>
            <a:off x="7980363" y="9528968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01" name="Text 159"/>
          <p:cNvSpPr txBox="1"/>
          <p:nvPr/>
        </p:nvSpPr>
        <p:spPr>
          <a:xfrm>
            <a:off x="9750424" y="9528968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02" name="Text 160"/>
          <p:cNvSpPr txBox="1"/>
          <p:nvPr/>
        </p:nvSpPr>
        <p:spPr>
          <a:xfrm>
            <a:off x="11520488" y="9528968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03" name="Text 164"/>
          <p:cNvSpPr txBox="1"/>
          <p:nvPr/>
        </p:nvSpPr>
        <p:spPr>
          <a:xfrm>
            <a:off x="18600737" y="9528968"/>
            <a:ext cx="109973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Business Dev</a:t>
            </a:r>
          </a:p>
        </p:txBody>
      </p:sp>
      <p:sp>
        <p:nvSpPr>
          <p:cNvPr id="1304" name="Shape 165"/>
          <p:cNvSpPr/>
          <p:nvPr/>
        </p:nvSpPr>
        <p:spPr>
          <a:xfrm>
            <a:off x="1129110" y="9866511"/>
            <a:ext cx="22125782" cy="41830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05" name="Text 166"/>
          <p:cNvSpPr txBox="1"/>
          <p:nvPr/>
        </p:nvSpPr>
        <p:spPr>
          <a:xfrm>
            <a:off x="1336278" y="9947275"/>
            <a:ext cx="3068986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Участие в выставках/конференциях</a:t>
            </a:r>
          </a:p>
        </p:txBody>
      </p:sp>
      <p:sp>
        <p:nvSpPr>
          <p:cNvPr id="1306" name="Text 170"/>
          <p:cNvSpPr txBox="1"/>
          <p:nvPr/>
        </p:nvSpPr>
        <p:spPr>
          <a:xfrm>
            <a:off x="13290550" y="994727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07" name="Text 171"/>
          <p:cNvSpPr txBox="1"/>
          <p:nvPr/>
        </p:nvSpPr>
        <p:spPr>
          <a:xfrm>
            <a:off x="15060612" y="9947275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08" name="Text 173"/>
          <p:cNvSpPr txBox="1"/>
          <p:nvPr/>
        </p:nvSpPr>
        <p:spPr>
          <a:xfrm>
            <a:off x="18600737" y="9947275"/>
            <a:ext cx="793354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309" name="Shape 174"/>
          <p:cNvSpPr/>
          <p:nvPr/>
        </p:nvSpPr>
        <p:spPr>
          <a:xfrm>
            <a:off x="1129110" y="10284816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0" name="Text 175"/>
          <p:cNvSpPr txBox="1"/>
          <p:nvPr/>
        </p:nvSpPr>
        <p:spPr>
          <a:xfrm>
            <a:off x="1336278" y="10365581"/>
            <a:ext cx="2673797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 программы реферралов</a:t>
            </a:r>
          </a:p>
        </p:txBody>
      </p:sp>
      <p:sp>
        <p:nvSpPr>
          <p:cNvPr id="1311" name="Text 178"/>
          <p:cNvSpPr txBox="1"/>
          <p:nvPr/>
        </p:nvSpPr>
        <p:spPr>
          <a:xfrm>
            <a:off x="11520488" y="1036558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12" name="Text 179"/>
          <p:cNvSpPr txBox="1"/>
          <p:nvPr/>
        </p:nvSpPr>
        <p:spPr>
          <a:xfrm>
            <a:off x="13290550" y="1036558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13" name="Text 180"/>
          <p:cNvSpPr txBox="1"/>
          <p:nvPr/>
        </p:nvSpPr>
        <p:spPr>
          <a:xfrm>
            <a:off x="15060612" y="1036558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14" name="Text 181"/>
          <p:cNvSpPr txBox="1"/>
          <p:nvPr/>
        </p:nvSpPr>
        <p:spPr>
          <a:xfrm>
            <a:off x="16830675" y="10365581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15" name="Text 182"/>
          <p:cNvSpPr txBox="1"/>
          <p:nvPr/>
        </p:nvSpPr>
        <p:spPr>
          <a:xfrm>
            <a:off x="18600737" y="10365581"/>
            <a:ext cx="793354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316" name="Shape 183"/>
          <p:cNvSpPr/>
          <p:nvPr/>
        </p:nvSpPr>
        <p:spPr>
          <a:xfrm>
            <a:off x="1129110" y="10703123"/>
            <a:ext cx="22125782" cy="4183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7" name="Text 184"/>
          <p:cNvSpPr txBox="1"/>
          <p:nvPr/>
        </p:nvSpPr>
        <p:spPr>
          <a:xfrm>
            <a:off x="1336278" y="10783888"/>
            <a:ext cx="299007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5. АНАЛИТИКА И ОПТИМИЗАЦИЯ</a:t>
            </a:r>
          </a:p>
        </p:txBody>
      </p:sp>
      <p:sp>
        <p:nvSpPr>
          <p:cNvPr id="1318" name="Shape 192"/>
          <p:cNvSpPr/>
          <p:nvPr/>
        </p:nvSpPr>
        <p:spPr>
          <a:xfrm>
            <a:off x="1129110" y="11121429"/>
            <a:ext cx="22125782" cy="418308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19" name="Text 193"/>
          <p:cNvSpPr txBox="1"/>
          <p:nvPr/>
        </p:nvSpPr>
        <p:spPr>
          <a:xfrm>
            <a:off x="1336278" y="11202193"/>
            <a:ext cx="3096333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Настройка аналитики (GA, Mixpanel)</a:t>
            </a:r>
          </a:p>
        </p:txBody>
      </p:sp>
      <p:sp>
        <p:nvSpPr>
          <p:cNvPr id="1320" name="Text 194"/>
          <p:cNvSpPr txBox="1"/>
          <p:nvPr/>
        </p:nvSpPr>
        <p:spPr>
          <a:xfrm>
            <a:off x="7980363" y="11202193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21" name="Text 200"/>
          <p:cNvSpPr txBox="1"/>
          <p:nvPr/>
        </p:nvSpPr>
        <p:spPr>
          <a:xfrm>
            <a:off x="18600737" y="11202193"/>
            <a:ext cx="724162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Analytics</a:t>
            </a:r>
          </a:p>
        </p:txBody>
      </p:sp>
      <p:sp>
        <p:nvSpPr>
          <p:cNvPr id="1322" name="Shape 201"/>
          <p:cNvSpPr/>
          <p:nvPr/>
        </p:nvSpPr>
        <p:spPr>
          <a:xfrm>
            <a:off x="1129110" y="11539736"/>
            <a:ext cx="22125782" cy="418307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23" name="Text 202"/>
          <p:cNvSpPr txBox="1"/>
          <p:nvPr/>
        </p:nvSpPr>
        <p:spPr>
          <a:xfrm>
            <a:off x="1336278" y="11620499"/>
            <a:ext cx="2522477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Еженедельные отчеты по KPI</a:t>
            </a:r>
          </a:p>
        </p:txBody>
      </p:sp>
      <p:sp>
        <p:nvSpPr>
          <p:cNvPr id="1324" name="Text 204"/>
          <p:cNvSpPr txBox="1"/>
          <p:nvPr/>
        </p:nvSpPr>
        <p:spPr>
          <a:xfrm>
            <a:off x="9750424" y="1162049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25" name="Text 205"/>
          <p:cNvSpPr txBox="1"/>
          <p:nvPr/>
        </p:nvSpPr>
        <p:spPr>
          <a:xfrm>
            <a:off x="11520488" y="1162049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26" name="Text 206"/>
          <p:cNvSpPr txBox="1"/>
          <p:nvPr/>
        </p:nvSpPr>
        <p:spPr>
          <a:xfrm>
            <a:off x="13290550" y="1162049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27" name="Text 207"/>
          <p:cNvSpPr txBox="1"/>
          <p:nvPr/>
        </p:nvSpPr>
        <p:spPr>
          <a:xfrm>
            <a:off x="15060612" y="1162049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28" name="Text 208"/>
          <p:cNvSpPr txBox="1"/>
          <p:nvPr/>
        </p:nvSpPr>
        <p:spPr>
          <a:xfrm>
            <a:off x="16830675" y="11620499"/>
            <a:ext cx="723901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29" name="Text 209"/>
          <p:cNvSpPr txBox="1"/>
          <p:nvPr/>
        </p:nvSpPr>
        <p:spPr>
          <a:xfrm>
            <a:off x="18600737" y="11620499"/>
            <a:ext cx="724162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Analytics</a:t>
            </a:r>
          </a:p>
        </p:txBody>
      </p:sp>
      <p:sp>
        <p:nvSpPr>
          <p:cNvPr id="1330" name="Shape 210"/>
          <p:cNvSpPr/>
          <p:nvPr/>
        </p:nvSpPr>
        <p:spPr>
          <a:xfrm>
            <a:off x="1129110" y="11958041"/>
            <a:ext cx="22125782" cy="418307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1" name="Text 211"/>
          <p:cNvSpPr txBox="1"/>
          <p:nvPr/>
        </p:nvSpPr>
        <p:spPr>
          <a:xfrm>
            <a:off x="1336278" y="12038806"/>
            <a:ext cx="2381834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A/B тестирование кампаний</a:t>
            </a:r>
          </a:p>
        </p:txBody>
      </p:sp>
      <p:sp>
        <p:nvSpPr>
          <p:cNvPr id="1332" name="Text 214"/>
          <p:cNvSpPr txBox="1"/>
          <p:nvPr/>
        </p:nvSpPr>
        <p:spPr>
          <a:xfrm>
            <a:off x="11520488" y="1203880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33" name="Text 215"/>
          <p:cNvSpPr txBox="1"/>
          <p:nvPr/>
        </p:nvSpPr>
        <p:spPr>
          <a:xfrm>
            <a:off x="13290550" y="1203880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34" name="Text 216"/>
          <p:cNvSpPr txBox="1"/>
          <p:nvPr/>
        </p:nvSpPr>
        <p:spPr>
          <a:xfrm>
            <a:off x="15060612" y="1203880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35" name="Text 217"/>
          <p:cNvSpPr txBox="1"/>
          <p:nvPr/>
        </p:nvSpPr>
        <p:spPr>
          <a:xfrm>
            <a:off x="16830675" y="12038806"/>
            <a:ext cx="723901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████</a:t>
            </a:r>
          </a:p>
        </p:txBody>
      </p:sp>
      <p:sp>
        <p:nvSpPr>
          <p:cNvPr id="1336" name="Text 218"/>
          <p:cNvSpPr txBox="1"/>
          <p:nvPr/>
        </p:nvSpPr>
        <p:spPr>
          <a:xfrm>
            <a:off x="18600737" y="12038806"/>
            <a:ext cx="793354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</a:t>
            </a:r>
          </a:p>
        </p:txBody>
      </p:sp>
      <p:sp>
        <p:nvSpPr>
          <p:cNvPr id="1337" name="Text 219"/>
          <p:cNvSpPr txBox="1"/>
          <p:nvPr/>
        </p:nvSpPr>
        <p:spPr>
          <a:xfrm>
            <a:off x="1116410" y="12516841"/>
            <a:ext cx="372991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Легенда: ████ = активный период работ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2063751"/>
          </a:xfrm>
          <a:prstGeom prst="rect">
            <a:avLst/>
          </a:prstGeom>
          <a:ln w="12700">
            <a:miter lim="400000"/>
          </a:ln>
        </p:spPr>
      </p:pic>
      <p:sp>
        <p:nvSpPr>
          <p:cNvPr id="1340" name="Text 0"/>
          <p:cNvSpPr txBox="1"/>
          <p:nvPr/>
        </p:nvSpPr>
        <p:spPr>
          <a:xfrm>
            <a:off x="889000" y="2835473"/>
            <a:ext cx="6425147" cy="494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3. Бюджет маркетингового плана</a:t>
            </a:r>
          </a:p>
        </p:txBody>
      </p:sp>
      <p:sp>
        <p:nvSpPr>
          <p:cNvPr id="1341" name="Text 1"/>
          <p:cNvSpPr txBox="1"/>
          <p:nvPr/>
        </p:nvSpPr>
        <p:spPr>
          <a:xfrm>
            <a:off x="889000" y="3380185"/>
            <a:ext cx="8390385" cy="391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Примерные расходы на реализацию плана (6 месяцев)</a:t>
            </a:r>
          </a:p>
        </p:txBody>
      </p:sp>
      <p:sp>
        <p:nvSpPr>
          <p:cNvPr id="1342" name="Shape 2"/>
          <p:cNvSpPr/>
          <p:nvPr/>
        </p:nvSpPr>
        <p:spPr>
          <a:xfrm>
            <a:off x="889000" y="3901083"/>
            <a:ext cx="22606000" cy="8772526"/>
          </a:xfrm>
          <a:prstGeom prst="roundRect">
            <a:avLst>
              <a:gd name="adj" fmla="val 790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3" name="Shape 3"/>
          <p:cNvSpPr/>
          <p:nvPr/>
        </p:nvSpPr>
        <p:spPr>
          <a:xfrm>
            <a:off x="901700" y="391378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4" name="Text 4"/>
          <p:cNvSpPr txBox="1"/>
          <p:nvPr/>
        </p:nvSpPr>
        <p:spPr>
          <a:xfrm>
            <a:off x="1067196" y="3969741"/>
            <a:ext cx="1129210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Статья расходов</a:t>
            </a:r>
          </a:p>
        </p:txBody>
      </p:sp>
      <p:sp>
        <p:nvSpPr>
          <p:cNvPr id="1345" name="Text 5"/>
          <p:cNvSpPr txBox="1"/>
          <p:nvPr/>
        </p:nvSpPr>
        <p:spPr>
          <a:xfrm>
            <a:off x="8976717" y="3969741"/>
            <a:ext cx="86631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Сумма (BYN)</a:t>
            </a:r>
          </a:p>
        </p:txBody>
      </p:sp>
      <p:sp>
        <p:nvSpPr>
          <p:cNvPr id="1346" name="Text 6"/>
          <p:cNvSpPr txBox="1"/>
          <p:nvPr/>
        </p:nvSpPr>
        <p:spPr>
          <a:xfrm>
            <a:off x="12363648" y="3969741"/>
            <a:ext cx="967272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% от бюджета</a:t>
            </a:r>
          </a:p>
        </p:txBody>
      </p:sp>
      <p:sp>
        <p:nvSpPr>
          <p:cNvPr id="1347" name="Text 7"/>
          <p:cNvSpPr txBox="1"/>
          <p:nvPr/>
        </p:nvSpPr>
        <p:spPr>
          <a:xfrm>
            <a:off x="15750579" y="3969741"/>
            <a:ext cx="66502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Описание</a:t>
            </a:r>
          </a:p>
        </p:txBody>
      </p:sp>
      <p:sp>
        <p:nvSpPr>
          <p:cNvPr id="1348" name="Shape 8"/>
          <p:cNvSpPr/>
          <p:nvPr/>
        </p:nvSpPr>
        <p:spPr>
          <a:xfrm>
            <a:off x="901700" y="421540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9" name="Text 9"/>
          <p:cNvSpPr txBox="1"/>
          <p:nvPr/>
        </p:nvSpPr>
        <p:spPr>
          <a:xfrm>
            <a:off x="1067196" y="4271366"/>
            <a:ext cx="289626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РАЗРАБОТКА И ДОРАБОТКА ПРОДУКТА</a:t>
            </a:r>
          </a:p>
        </p:txBody>
      </p:sp>
      <p:sp>
        <p:nvSpPr>
          <p:cNvPr id="1350" name="Shape 13"/>
          <p:cNvSpPr/>
          <p:nvPr/>
        </p:nvSpPr>
        <p:spPr>
          <a:xfrm>
            <a:off x="901700" y="451703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1" name="Text 14"/>
          <p:cNvSpPr txBox="1"/>
          <p:nvPr/>
        </p:nvSpPr>
        <p:spPr>
          <a:xfrm>
            <a:off x="1067196" y="4572991"/>
            <a:ext cx="155956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Финализация MVP v1.0</a:t>
            </a:r>
          </a:p>
        </p:txBody>
      </p:sp>
      <p:sp>
        <p:nvSpPr>
          <p:cNvPr id="1352" name="Text 15"/>
          <p:cNvSpPr txBox="1"/>
          <p:nvPr/>
        </p:nvSpPr>
        <p:spPr>
          <a:xfrm>
            <a:off x="8976717" y="457299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8000</a:t>
            </a:r>
          </a:p>
        </p:txBody>
      </p:sp>
      <p:sp>
        <p:nvSpPr>
          <p:cNvPr id="1353" name="Text 16"/>
          <p:cNvSpPr txBox="1"/>
          <p:nvPr/>
        </p:nvSpPr>
        <p:spPr>
          <a:xfrm>
            <a:off x="12363648" y="4572991"/>
            <a:ext cx="29230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20%</a:t>
            </a:r>
          </a:p>
        </p:txBody>
      </p:sp>
      <p:sp>
        <p:nvSpPr>
          <p:cNvPr id="1354" name="Text 17"/>
          <p:cNvSpPr txBox="1"/>
          <p:nvPr/>
        </p:nvSpPr>
        <p:spPr>
          <a:xfrm>
            <a:off x="15750579" y="4572991"/>
            <a:ext cx="240076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Зарплата разработчиков (2 месяца)</a:t>
            </a:r>
          </a:p>
        </p:txBody>
      </p:sp>
      <p:sp>
        <p:nvSpPr>
          <p:cNvPr id="1355" name="Shape 18"/>
          <p:cNvSpPr/>
          <p:nvPr/>
        </p:nvSpPr>
        <p:spPr>
          <a:xfrm>
            <a:off x="901700" y="481865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56" name="Text 19"/>
          <p:cNvSpPr txBox="1"/>
          <p:nvPr/>
        </p:nvSpPr>
        <p:spPr>
          <a:xfrm>
            <a:off x="1067196" y="4874616"/>
            <a:ext cx="1115772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Интеграция с 1С</a:t>
            </a:r>
          </a:p>
        </p:txBody>
      </p:sp>
      <p:sp>
        <p:nvSpPr>
          <p:cNvPr id="1357" name="Text 20"/>
          <p:cNvSpPr txBox="1"/>
          <p:nvPr/>
        </p:nvSpPr>
        <p:spPr>
          <a:xfrm>
            <a:off x="8976717" y="487461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5000</a:t>
            </a:r>
          </a:p>
        </p:txBody>
      </p:sp>
      <p:sp>
        <p:nvSpPr>
          <p:cNvPr id="1358" name="Text 21"/>
          <p:cNvSpPr txBox="1"/>
          <p:nvPr/>
        </p:nvSpPr>
        <p:spPr>
          <a:xfrm>
            <a:off x="12363648" y="4874616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12,5%</a:t>
            </a:r>
          </a:p>
        </p:txBody>
      </p:sp>
      <p:sp>
        <p:nvSpPr>
          <p:cNvPr id="1359" name="Text 22"/>
          <p:cNvSpPr txBox="1"/>
          <p:nvPr/>
        </p:nvSpPr>
        <p:spPr>
          <a:xfrm>
            <a:off x="15750579" y="4874616"/>
            <a:ext cx="266270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Разработка и тестирование интеграции</a:t>
            </a:r>
          </a:p>
        </p:txBody>
      </p:sp>
      <p:sp>
        <p:nvSpPr>
          <p:cNvPr id="1360" name="Shape 23"/>
          <p:cNvSpPr/>
          <p:nvPr/>
        </p:nvSpPr>
        <p:spPr>
          <a:xfrm>
            <a:off x="901700" y="512028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1" name="Text 24"/>
          <p:cNvSpPr txBox="1"/>
          <p:nvPr/>
        </p:nvSpPr>
        <p:spPr>
          <a:xfrm>
            <a:off x="1067196" y="5176241"/>
            <a:ext cx="130444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Тестирование и QA</a:t>
            </a:r>
          </a:p>
        </p:txBody>
      </p:sp>
      <p:sp>
        <p:nvSpPr>
          <p:cNvPr id="1362" name="Text 25"/>
          <p:cNvSpPr txBox="1"/>
          <p:nvPr/>
        </p:nvSpPr>
        <p:spPr>
          <a:xfrm>
            <a:off x="8976717" y="517624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3000</a:t>
            </a:r>
          </a:p>
        </p:txBody>
      </p:sp>
      <p:sp>
        <p:nvSpPr>
          <p:cNvPr id="1363" name="Text 26"/>
          <p:cNvSpPr txBox="1"/>
          <p:nvPr/>
        </p:nvSpPr>
        <p:spPr>
          <a:xfrm>
            <a:off x="12363648" y="5176241"/>
            <a:ext cx="33111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7,5%</a:t>
            </a:r>
          </a:p>
        </p:txBody>
      </p:sp>
      <p:sp>
        <p:nvSpPr>
          <p:cNvPr id="1364" name="Text 27"/>
          <p:cNvSpPr txBox="1"/>
          <p:nvPr/>
        </p:nvSpPr>
        <p:spPr>
          <a:xfrm>
            <a:off x="15750579" y="5176241"/>
            <a:ext cx="16646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Зарплата QA-инженеров</a:t>
            </a:r>
          </a:p>
        </p:txBody>
      </p:sp>
      <p:sp>
        <p:nvSpPr>
          <p:cNvPr id="1365" name="Shape 28"/>
          <p:cNvSpPr/>
          <p:nvPr/>
        </p:nvSpPr>
        <p:spPr>
          <a:xfrm>
            <a:off x="901700" y="542190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66" name="Text 29"/>
          <p:cNvSpPr txBox="1"/>
          <p:nvPr/>
        </p:nvSpPr>
        <p:spPr>
          <a:xfrm>
            <a:off x="1067196" y="5477866"/>
            <a:ext cx="1514340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ИТОГО РАЗРАБОТКА</a:t>
            </a:r>
          </a:p>
        </p:txBody>
      </p:sp>
      <p:sp>
        <p:nvSpPr>
          <p:cNvPr id="1367" name="Text 30"/>
          <p:cNvSpPr txBox="1"/>
          <p:nvPr/>
        </p:nvSpPr>
        <p:spPr>
          <a:xfrm>
            <a:off x="8976717" y="5477866"/>
            <a:ext cx="40117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16000</a:t>
            </a:r>
          </a:p>
        </p:txBody>
      </p:sp>
      <p:sp>
        <p:nvSpPr>
          <p:cNvPr id="1368" name="Text 31"/>
          <p:cNvSpPr txBox="1"/>
          <p:nvPr/>
        </p:nvSpPr>
        <p:spPr>
          <a:xfrm>
            <a:off x="12363648" y="5477866"/>
            <a:ext cx="29230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1369" name="Shape 33"/>
          <p:cNvSpPr/>
          <p:nvPr/>
        </p:nvSpPr>
        <p:spPr>
          <a:xfrm>
            <a:off x="901700" y="572353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0" name="Text 34"/>
          <p:cNvSpPr txBox="1"/>
          <p:nvPr/>
        </p:nvSpPr>
        <p:spPr>
          <a:xfrm>
            <a:off x="1067196" y="5779491"/>
            <a:ext cx="176979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 И РЕКЛАМА</a:t>
            </a:r>
          </a:p>
        </p:txBody>
      </p:sp>
      <p:sp>
        <p:nvSpPr>
          <p:cNvPr id="1371" name="Shape 38"/>
          <p:cNvSpPr/>
          <p:nvPr/>
        </p:nvSpPr>
        <p:spPr>
          <a:xfrm>
            <a:off x="901700" y="602515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2" name="Text 39"/>
          <p:cNvSpPr txBox="1"/>
          <p:nvPr/>
        </p:nvSpPr>
        <p:spPr>
          <a:xfrm>
            <a:off x="1067196" y="6081116"/>
            <a:ext cx="220499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Реклама в Instagram/TikTok (B2C)</a:t>
            </a:r>
          </a:p>
        </p:txBody>
      </p:sp>
      <p:sp>
        <p:nvSpPr>
          <p:cNvPr id="1373" name="Text 40"/>
          <p:cNvSpPr txBox="1"/>
          <p:nvPr/>
        </p:nvSpPr>
        <p:spPr>
          <a:xfrm>
            <a:off x="8976717" y="608111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4000</a:t>
            </a:r>
          </a:p>
        </p:txBody>
      </p:sp>
      <p:sp>
        <p:nvSpPr>
          <p:cNvPr id="1374" name="Text 41"/>
          <p:cNvSpPr txBox="1"/>
          <p:nvPr/>
        </p:nvSpPr>
        <p:spPr>
          <a:xfrm>
            <a:off x="12363648" y="6081116"/>
            <a:ext cx="29230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1375" name="Text 42"/>
          <p:cNvSpPr txBox="1"/>
          <p:nvPr/>
        </p:nvSpPr>
        <p:spPr>
          <a:xfrm>
            <a:off x="15750579" y="6081116"/>
            <a:ext cx="1837192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 месяцев × 800 BYN/месяц</a:t>
            </a:r>
          </a:p>
        </p:txBody>
      </p:sp>
      <p:sp>
        <p:nvSpPr>
          <p:cNvPr id="1376" name="Shape 43"/>
          <p:cNvSpPr/>
          <p:nvPr/>
        </p:nvSpPr>
        <p:spPr>
          <a:xfrm>
            <a:off x="901700" y="632678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77" name="Text 44"/>
          <p:cNvSpPr txBox="1"/>
          <p:nvPr/>
        </p:nvSpPr>
        <p:spPr>
          <a:xfrm>
            <a:off x="1067196" y="6382741"/>
            <a:ext cx="1667000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Реклама в LinkedIn (B2B)</a:t>
            </a:r>
          </a:p>
        </p:txBody>
      </p:sp>
      <p:sp>
        <p:nvSpPr>
          <p:cNvPr id="1378" name="Text 45"/>
          <p:cNvSpPr txBox="1"/>
          <p:nvPr/>
        </p:nvSpPr>
        <p:spPr>
          <a:xfrm>
            <a:off x="8976717" y="638274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1379" name="Text 46"/>
          <p:cNvSpPr txBox="1"/>
          <p:nvPr/>
        </p:nvSpPr>
        <p:spPr>
          <a:xfrm>
            <a:off x="12363648" y="6382741"/>
            <a:ext cx="21461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380" name="Text 47"/>
          <p:cNvSpPr txBox="1"/>
          <p:nvPr/>
        </p:nvSpPr>
        <p:spPr>
          <a:xfrm>
            <a:off x="15750579" y="6382741"/>
            <a:ext cx="176065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 месяца × 500 BYN/месяц</a:t>
            </a:r>
          </a:p>
        </p:txBody>
      </p:sp>
      <p:sp>
        <p:nvSpPr>
          <p:cNvPr id="1381" name="Shape 48"/>
          <p:cNvSpPr/>
          <p:nvPr/>
        </p:nvSpPr>
        <p:spPr>
          <a:xfrm>
            <a:off x="901700" y="662840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2" name="Text 49"/>
          <p:cNvSpPr txBox="1"/>
          <p:nvPr/>
        </p:nvSpPr>
        <p:spPr>
          <a:xfrm>
            <a:off x="1067196" y="6684366"/>
            <a:ext cx="188316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Email-маркетинг платформа</a:t>
            </a:r>
          </a:p>
        </p:txBody>
      </p:sp>
      <p:sp>
        <p:nvSpPr>
          <p:cNvPr id="1383" name="Text 50"/>
          <p:cNvSpPr txBox="1"/>
          <p:nvPr/>
        </p:nvSpPr>
        <p:spPr>
          <a:xfrm>
            <a:off x="8976717" y="668436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1000</a:t>
            </a:r>
          </a:p>
        </p:txBody>
      </p:sp>
      <p:sp>
        <p:nvSpPr>
          <p:cNvPr id="1384" name="Text 51"/>
          <p:cNvSpPr txBox="1"/>
          <p:nvPr/>
        </p:nvSpPr>
        <p:spPr>
          <a:xfrm>
            <a:off x="12363648" y="6684366"/>
            <a:ext cx="33111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2,5%</a:t>
            </a:r>
          </a:p>
        </p:txBody>
      </p:sp>
      <p:sp>
        <p:nvSpPr>
          <p:cNvPr id="1385" name="Text 52"/>
          <p:cNvSpPr txBox="1"/>
          <p:nvPr/>
        </p:nvSpPr>
        <p:spPr>
          <a:xfrm>
            <a:off x="15750579" y="6684366"/>
            <a:ext cx="215690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Mailchimp/SendPulse (6 месяцев)</a:t>
            </a:r>
          </a:p>
        </p:txBody>
      </p:sp>
      <p:sp>
        <p:nvSpPr>
          <p:cNvPr id="1386" name="Shape 53"/>
          <p:cNvSpPr/>
          <p:nvPr/>
        </p:nvSpPr>
        <p:spPr>
          <a:xfrm>
            <a:off x="901700" y="693003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7" name="Text 54"/>
          <p:cNvSpPr txBox="1"/>
          <p:nvPr/>
        </p:nvSpPr>
        <p:spPr>
          <a:xfrm>
            <a:off x="1067196" y="6985991"/>
            <a:ext cx="127307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 и пресс-релизы</a:t>
            </a:r>
          </a:p>
        </p:txBody>
      </p:sp>
      <p:sp>
        <p:nvSpPr>
          <p:cNvPr id="1388" name="Text 55"/>
          <p:cNvSpPr txBox="1"/>
          <p:nvPr/>
        </p:nvSpPr>
        <p:spPr>
          <a:xfrm>
            <a:off x="8976717" y="698599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1500</a:t>
            </a:r>
          </a:p>
        </p:txBody>
      </p:sp>
      <p:sp>
        <p:nvSpPr>
          <p:cNvPr id="1389" name="Text 56"/>
          <p:cNvSpPr txBox="1"/>
          <p:nvPr/>
        </p:nvSpPr>
        <p:spPr>
          <a:xfrm>
            <a:off x="12363648" y="6985991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3,75%</a:t>
            </a:r>
          </a:p>
        </p:txBody>
      </p:sp>
      <p:sp>
        <p:nvSpPr>
          <p:cNvPr id="1390" name="Text 57"/>
          <p:cNvSpPr txBox="1"/>
          <p:nvPr/>
        </p:nvSpPr>
        <p:spPr>
          <a:xfrm>
            <a:off x="15750579" y="6985991"/>
            <a:ext cx="164619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Распространение в СМИ</a:t>
            </a:r>
          </a:p>
        </p:txBody>
      </p:sp>
      <p:sp>
        <p:nvSpPr>
          <p:cNvPr id="1391" name="Shape 58"/>
          <p:cNvSpPr/>
          <p:nvPr/>
        </p:nvSpPr>
        <p:spPr>
          <a:xfrm>
            <a:off x="901700" y="723165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2" name="Text 59"/>
          <p:cNvSpPr txBox="1"/>
          <p:nvPr/>
        </p:nvSpPr>
        <p:spPr>
          <a:xfrm>
            <a:off x="1067196" y="7287616"/>
            <a:ext cx="140847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ИТОГО МАРКЕТИНГ</a:t>
            </a:r>
          </a:p>
        </p:txBody>
      </p:sp>
      <p:sp>
        <p:nvSpPr>
          <p:cNvPr id="1393" name="Text 60"/>
          <p:cNvSpPr txBox="1"/>
          <p:nvPr/>
        </p:nvSpPr>
        <p:spPr>
          <a:xfrm>
            <a:off x="8976717" y="728761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8500</a:t>
            </a:r>
          </a:p>
        </p:txBody>
      </p:sp>
      <p:sp>
        <p:nvSpPr>
          <p:cNvPr id="1394" name="Text 61"/>
          <p:cNvSpPr txBox="1"/>
          <p:nvPr/>
        </p:nvSpPr>
        <p:spPr>
          <a:xfrm>
            <a:off x="12363648" y="7287616"/>
            <a:ext cx="48650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21,25%</a:t>
            </a:r>
          </a:p>
        </p:txBody>
      </p:sp>
      <p:sp>
        <p:nvSpPr>
          <p:cNvPr id="1395" name="Shape 63"/>
          <p:cNvSpPr/>
          <p:nvPr/>
        </p:nvSpPr>
        <p:spPr>
          <a:xfrm>
            <a:off x="901700" y="753328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6" name="Text 64"/>
          <p:cNvSpPr txBox="1"/>
          <p:nvPr/>
        </p:nvSpPr>
        <p:spPr>
          <a:xfrm>
            <a:off x="1067196" y="7589241"/>
            <a:ext cx="211065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КОНТЕНТ И КОММУНИКАЦИЯ</a:t>
            </a:r>
          </a:p>
        </p:txBody>
      </p:sp>
      <p:sp>
        <p:nvSpPr>
          <p:cNvPr id="1397" name="Shape 68"/>
          <p:cNvSpPr/>
          <p:nvPr/>
        </p:nvSpPr>
        <p:spPr>
          <a:xfrm>
            <a:off x="901700" y="783490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8" name="Text 69"/>
          <p:cNvSpPr txBox="1"/>
          <p:nvPr/>
        </p:nvSpPr>
        <p:spPr>
          <a:xfrm>
            <a:off x="1067196" y="7890866"/>
            <a:ext cx="174851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Создание видео-контента</a:t>
            </a:r>
          </a:p>
        </p:txBody>
      </p:sp>
      <p:sp>
        <p:nvSpPr>
          <p:cNvPr id="1399" name="Text 70"/>
          <p:cNvSpPr txBox="1"/>
          <p:nvPr/>
        </p:nvSpPr>
        <p:spPr>
          <a:xfrm>
            <a:off x="8976717" y="789086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1400" name="Text 71"/>
          <p:cNvSpPr txBox="1"/>
          <p:nvPr/>
        </p:nvSpPr>
        <p:spPr>
          <a:xfrm>
            <a:off x="12363648" y="7890866"/>
            <a:ext cx="21461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401" name="Text 72"/>
          <p:cNvSpPr txBox="1"/>
          <p:nvPr/>
        </p:nvSpPr>
        <p:spPr>
          <a:xfrm>
            <a:off x="15750579" y="7890866"/>
            <a:ext cx="214264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Видограф + монтаж (6 месяцев)</a:t>
            </a:r>
          </a:p>
        </p:txBody>
      </p:sp>
      <p:sp>
        <p:nvSpPr>
          <p:cNvPr id="1402" name="Shape 73"/>
          <p:cNvSpPr/>
          <p:nvPr/>
        </p:nvSpPr>
        <p:spPr>
          <a:xfrm>
            <a:off x="901700" y="813653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3" name="Text 74"/>
          <p:cNvSpPr txBox="1"/>
          <p:nvPr/>
        </p:nvSpPr>
        <p:spPr>
          <a:xfrm>
            <a:off x="1067196" y="8192491"/>
            <a:ext cx="175424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Ведение блога и соцсетей</a:t>
            </a:r>
          </a:p>
        </p:txBody>
      </p:sp>
      <p:sp>
        <p:nvSpPr>
          <p:cNvPr id="1404" name="Text 75"/>
          <p:cNvSpPr txBox="1"/>
          <p:nvPr/>
        </p:nvSpPr>
        <p:spPr>
          <a:xfrm>
            <a:off x="8976717" y="819249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1500</a:t>
            </a:r>
          </a:p>
        </p:txBody>
      </p:sp>
      <p:sp>
        <p:nvSpPr>
          <p:cNvPr id="1405" name="Text 76"/>
          <p:cNvSpPr txBox="1"/>
          <p:nvPr/>
        </p:nvSpPr>
        <p:spPr>
          <a:xfrm>
            <a:off x="12363648" y="8192491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3,75%</a:t>
            </a:r>
          </a:p>
        </p:txBody>
      </p:sp>
      <p:sp>
        <p:nvSpPr>
          <p:cNvPr id="1406" name="Text 77"/>
          <p:cNvSpPr txBox="1"/>
          <p:nvPr/>
        </p:nvSpPr>
        <p:spPr>
          <a:xfrm>
            <a:off x="15750579" y="8192491"/>
            <a:ext cx="2078870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Контент-менеджер (6 месяцев)</a:t>
            </a:r>
          </a:p>
        </p:txBody>
      </p:sp>
      <p:sp>
        <p:nvSpPr>
          <p:cNvPr id="1407" name="Shape 78"/>
          <p:cNvSpPr/>
          <p:nvPr/>
        </p:nvSpPr>
        <p:spPr>
          <a:xfrm>
            <a:off x="901700" y="843815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8" name="Text 79"/>
          <p:cNvSpPr txBox="1"/>
          <p:nvPr/>
        </p:nvSpPr>
        <p:spPr>
          <a:xfrm>
            <a:off x="1067196" y="8494116"/>
            <a:ext cx="206406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YouTube-канал (оборудование)</a:t>
            </a:r>
          </a:p>
        </p:txBody>
      </p:sp>
      <p:sp>
        <p:nvSpPr>
          <p:cNvPr id="1409" name="Text 80"/>
          <p:cNvSpPr txBox="1"/>
          <p:nvPr/>
        </p:nvSpPr>
        <p:spPr>
          <a:xfrm>
            <a:off x="8976717" y="8494116"/>
            <a:ext cx="24578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1410" name="Text 81"/>
          <p:cNvSpPr txBox="1"/>
          <p:nvPr/>
        </p:nvSpPr>
        <p:spPr>
          <a:xfrm>
            <a:off x="12363648" y="8494116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1,25%</a:t>
            </a:r>
          </a:p>
        </p:txBody>
      </p:sp>
      <p:sp>
        <p:nvSpPr>
          <p:cNvPr id="1411" name="Text 82"/>
          <p:cNvSpPr txBox="1"/>
          <p:nvPr/>
        </p:nvSpPr>
        <p:spPr>
          <a:xfrm>
            <a:off x="15750579" y="8494116"/>
            <a:ext cx="1518842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Микрофон, освещение</a:t>
            </a:r>
          </a:p>
        </p:txBody>
      </p:sp>
      <p:sp>
        <p:nvSpPr>
          <p:cNvPr id="1412" name="Shape 83"/>
          <p:cNvSpPr/>
          <p:nvPr/>
        </p:nvSpPr>
        <p:spPr>
          <a:xfrm>
            <a:off x="901700" y="873978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3" name="Text 84"/>
          <p:cNvSpPr txBox="1"/>
          <p:nvPr/>
        </p:nvSpPr>
        <p:spPr>
          <a:xfrm>
            <a:off x="1067196" y="8795741"/>
            <a:ext cx="121140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ИТОГО КОНТЕНТ</a:t>
            </a:r>
          </a:p>
        </p:txBody>
      </p:sp>
      <p:sp>
        <p:nvSpPr>
          <p:cNvPr id="1414" name="Text 85"/>
          <p:cNvSpPr txBox="1"/>
          <p:nvPr/>
        </p:nvSpPr>
        <p:spPr>
          <a:xfrm>
            <a:off x="8976717" y="879574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4000</a:t>
            </a:r>
          </a:p>
        </p:txBody>
      </p:sp>
      <p:sp>
        <p:nvSpPr>
          <p:cNvPr id="1415" name="Text 86"/>
          <p:cNvSpPr txBox="1"/>
          <p:nvPr/>
        </p:nvSpPr>
        <p:spPr>
          <a:xfrm>
            <a:off x="12363648" y="8795741"/>
            <a:ext cx="29230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10%</a:t>
            </a:r>
          </a:p>
        </p:txBody>
      </p:sp>
      <p:sp>
        <p:nvSpPr>
          <p:cNvPr id="1416" name="Shape 88"/>
          <p:cNvSpPr/>
          <p:nvPr/>
        </p:nvSpPr>
        <p:spPr>
          <a:xfrm>
            <a:off x="901700" y="9041408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7" name="Text 89"/>
          <p:cNvSpPr txBox="1"/>
          <p:nvPr/>
        </p:nvSpPr>
        <p:spPr>
          <a:xfrm>
            <a:off x="1067196" y="9097366"/>
            <a:ext cx="197614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СОБЫТИЯ И ПАРТНЕРСТВА</a:t>
            </a:r>
          </a:p>
        </p:txBody>
      </p:sp>
      <p:sp>
        <p:nvSpPr>
          <p:cNvPr id="1418" name="Shape 93"/>
          <p:cNvSpPr/>
          <p:nvPr/>
        </p:nvSpPr>
        <p:spPr>
          <a:xfrm>
            <a:off x="901700" y="9343033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19" name="Text 94"/>
          <p:cNvSpPr txBox="1"/>
          <p:nvPr/>
        </p:nvSpPr>
        <p:spPr>
          <a:xfrm>
            <a:off x="1067196" y="9398991"/>
            <a:ext cx="166577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Вебинары и демо-сессии</a:t>
            </a:r>
          </a:p>
        </p:txBody>
      </p:sp>
      <p:sp>
        <p:nvSpPr>
          <p:cNvPr id="1420" name="Text 95"/>
          <p:cNvSpPr txBox="1"/>
          <p:nvPr/>
        </p:nvSpPr>
        <p:spPr>
          <a:xfrm>
            <a:off x="8976717" y="9398991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1000</a:t>
            </a:r>
          </a:p>
        </p:txBody>
      </p:sp>
      <p:sp>
        <p:nvSpPr>
          <p:cNvPr id="1421" name="Text 96"/>
          <p:cNvSpPr txBox="1"/>
          <p:nvPr/>
        </p:nvSpPr>
        <p:spPr>
          <a:xfrm>
            <a:off x="12363648" y="9398991"/>
            <a:ext cx="33111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2,5%</a:t>
            </a:r>
          </a:p>
        </p:txBody>
      </p:sp>
      <p:sp>
        <p:nvSpPr>
          <p:cNvPr id="1422" name="Text 97"/>
          <p:cNvSpPr txBox="1"/>
          <p:nvPr/>
        </p:nvSpPr>
        <p:spPr>
          <a:xfrm>
            <a:off x="15750579" y="9398991"/>
            <a:ext cx="251986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Платформа Zoom/Webinar, модератор</a:t>
            </a:r>
          </a:p>
        </p:txBody>
      </p:sp>
      <p:sp>
        <p:nvSpPr>
          <p:cNvPr id="1423" name="Shape 98"/>
          <p:cNvSpPr/>
          <p:nvPr/>
        </p:nvSpPr>
        <p:spPr>
          <a:xfrm>
            <a:off x="901700" y="9644658"/>
            <a:ext cx="22580602" cy="301625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4" name="Text 99"/>
          <p:cNvSpPr txBox="1"/>
          <p:nvPr/>
        </p:nvSpPr>
        <p:spPr>
          <a:xfrm>
            <a:off x="1067196" y="9700616"/>
            <a:ext cx="1407246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Участие в выставках</a:t>
            </a:r>
          </a:p>
        </p:txBody>
      </p:sp>
      <p:sp>
        <p:nvSpPr>
          <p:cNvPr id="1425" name="Text 100"/>
          <p:cNvSpPr txBox="1"/>
          <p:nvPr/>
        </p:nvSpPr>
        <p:spPr>
          <a:xfrm>
            <a:off x="8976717" y="970061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1426" name="Text 101"/>
          <p:cNvSpPr txBox="1"/>
          <p:nvPr/>
        </p:nvSpPr>
        <p:spPr>
          <a:xfrm>
            <a:off x="12363648" y="9700616"/>
            <a:ext cx="21461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427" name="Text 102"/>
          <p:cNvSpPr txBox="1"/>
          <p:nvPr/>
        </p:nvSpPr>
        <p:spPr>
          <a:xfrm>
            <a:off x="15750579" y="9700616"/>
            <a:ext cx="193125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Стенд, материалы, персонал</a:t>
            </a:r>
          </a:p>
        </p:txBody>
      </p:sp>
      <p:sp>
        <p:nvSpPr>
          <p:cNvPr id="1428" name="Shape 103"/>
          <p:cNvSpPr/>
          <p:nvPr/>
        </p:nvSpPr>
        <p:spPr>
          <a:xfrm>
            <a:off x="901700" y="9946282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29" name="Text 104"/>
          <p:cNvSpPr txBox="1"/>
          <p:nvPr/>
        </p:nvSpPr>
        <p:spPr>
          <a:xfrm>
            <a:off x="1067196" y="10002241"/>
            <a:ext cx="160008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Программа реферралов</a:t>
            </a:r>
          </a:p>
        </p:txBody>
      </p:sp>
      <p:sp>
        <p:nvSpPr>
          <p:cNvPr id="1430" name="Text 105"/>
          <p:cNvSpPr txBox="1"/>
          <p:nvPr/>
        </p:nvSpPr>
        <p:spPr>
          <a:xfrm>
            <a:off x="8976717" y="10002241"/>
            <a:ext cx="24578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1431" name="Text 106"/>
          <p:cNvSpPr txBox="1"/>
          <p:nvPr/>
        </p:nvSpPr>
        <p:spPr>
          <a:xfrm>
            <a:off x="12363648" y="10002241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1,25%</a:t>
            </a:r>
          </a:p>
        </p:txBody>
      </p:sp>
      <p:sp>
        <p:nvSpPr>
          <p:cNvPr id="1432" name="Text 107"/>
          <p:cNvSpPr txBox="1"/>
          <p:nvPr/>
        </p:nvSpPr>
        <p:spPr>
          <a:xfrm>
            <a:off x="15750579" y="10002241"/>
            <a:ext cx="122552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Бонусы и стимулы</a:t>
            </a:r>
          </a:p>
        </p:txBody>
      </p:sp>
      <p:sp>
        <p:nvSpPr>
          <p:cNvPr id="1433" name="Shape 108"/>
          <p:cNvSpPr/>
          <p:nvPr/>
        </p:nvSpPr>
        <p:spPr>
          <a:xfrm>
            <a:off x="901700" y="10247907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4" name="Text 109"/>
          <p:cNvSpPr txBox="1"/>
          <p:nvPr/>
        </p:nvSpPr>
        <p:spPr>
          <a:xfrm>
            <a:off x="1067196" y="10303866"/>
            <a:ext cx="1265090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ИТОГО СОБЫТИЯ</a:t>
            </a:r>
          </a:p>
        </p:txBody>
      </p:sp>
      <p:sp>
        <p:nvSpPr>
          <p:cNvPr id="1435" name="Text 110"/>
          <p:cNvSpPr txBox="1"/>
          <p:nvPr/>
        </p:nvSpPr>
        <p:spPr>
          <a:xfrm>
            <a:off x="8976717" y="10303866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3500</a:t>
            </a:r>
          </a:p>
        </p:txBody>
      </p:sp>
      <p:sp>
        <p:nvSpPr>
          <p:cNvPr id="1436" name="Text 111"/>
          <p:cNvSpPr txBox="1"/>
          <p:nvPr/>
        </p:nvSpPr>
        <p:spPr>
          <a:xfrm>
            <a:off x="12363648" y="10303866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8,75%</a:t>
            </a:r>
          </a:p>
        </p:txBody>
      </p:sp>
      <p:sp>
        <p:nvSpPr>
          <p:cNvPr id="1437" name="Shape 113"/>
          <p:cNvSpPr/>
          <p:nvPr/>
        </p:nvSpPr>
        <p:spPr>
          <a:xfrm>
            <a:off x="901700" y="10549532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8" name="Text 114"/>
          <p:cNvSpPr txBox="1"/>
          <p:nvPr/>
        </p:nvSpPr>
        <p:spPr>
          <a:xfrm>
            <a:off x="1067196" y="10605491"/>
            <a:ext cx="218582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АНАЛИТИКА И ИНСТРУМЕНТЫ</a:t>
            </a:r>
          </a:p>
        </p:txBody>
      </p:sp>
      <p:sp>
        <p:nvSpPr>
          <p:cNvPr id="1439" name="Shape 118"/>
          <p:cNvSpPr/>
          <p:nvPr/>
        </p:nvSpPr>
        <p:spPr>
          <a:xfrm>
            <a:off x="901700" y="10851157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0" name="Text 119"/>
          <p:cNvSpPr txBox="1"/>
          <p:nvPr/>
        </p:nvSpPr>
        <p:spPr>
          <a:xfrm>
            <a:off x="1067196" y="10907117"/>
            <a:ext cx="177163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 + Mixpanel</a:t>
            </a:r>
          </a:p>
        </p:txBody>
      </p:sp>
      <p:sp>
        <p:nvSpPr>
          <p:cNvPr id="1441" name="Text 120"/>
          <p:cNvSpPr txBox="1"/>
          <p:nvPr/>
        </p:nvSpPr>
        <p:spPr>
          <a:xfrm>
            <a:off x="8976717" y="10907117"/>
            <a:ext cx="24578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800</a:t>
            </a:r>
          </a:p>
        </p:txBody>
      </p:sp>
      <p:sp>
        <p:nvSpPr>
          <p:cNvPr id="1442" name="Text 121"/>
          <p:cNvSpPr txBox="1"/>
          <p:nvPr/>
        </p:nvSpPr>
        <p:spPr>
          <a:xfrm>
            <a:off x="12363648" y="10907117"/>
            <a:ext cx="21461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2%</a:t>
            </a:r>
          </a:p>
        </p:txBody>
      </p:sp>
      <p:sp>
        <p:nvSpPr>
          <p:cNvPr id="1443" name="Text 122"/>
          <p:cNvSpPr txBox="1"/>
          <p:nvPr/>
        </p:nvSpPr>
        <p:spPr>
          <a:xfrm>
            <a:off x="15750579" y="10907117"/>
            <a:ext cx="270670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Подписка на аналитические платформы</a:t>
            </a:r>
          </a:p>
        </p:txBody>
      </p:sp>
      <p:sp>
        <p:nvSpPr>
          <p:cNvPr id="1444" name="Shape 123"/>
          <p:cNvSpPr/>
          <p:nvPr/>
        </p:nvSpPr>
        <p:spPr>
          <a:xfrm>
            <a:off x="901700" y="11152782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5" name="Text 124"/>
          <p:cNvSpPr txBox="1"/>
          <p:nvPr/>
        </p:nvSpPr>
        <p:spPr>
          <a:xfrm>
            <a:off x="1067196" y="11208742"/>
            <a:ext cx="90915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CRM система</a:t>
            </a:r>
          </a:p>
        </p:txBody>
      </p:sp>
      <p:sp>
        <p:nvSpPr>
          <p:cNvPr id="1446" name="Text 125"/>
          <p:cNvSpPr txBox="1"/>
          <p:nvPr/>
        </p:nvSpPr>
        <p:spPr>
          <a:xfrm>
            <a:off x="8976717" y="11208742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1200</a:t>
            </a:r>
          </a:p>
        </p:txBody>
      </p:sp>
      <p:sp>
        <p:nvSpPr>
          <p:cNvPr id="1447" name="Text 126"/>
          <p:cNvSpPr txBox="1"/>
          <p:nvPr/>
        </p:nvSpPr>
        <p:spPr>
          <a:xfrm>
            <a:off x="12363648" y="11208742"/>
            <a:ext cx="21461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3%</a:t>
            </a:r>
          </a:p>
        </p:txBody>
      </p:sp>
      <p:sp>
        <p:nvSpPr>
          <p:cNvPr id="1448" name="Text 127"/>
          <p:cNvSpPr txBox="1"/>
          <p:nvPr/>
        </p:nvSpPr>
        <p:spPr>
          <a:xfrm>
            <a:off x="15750579" y="11208742"/>
            <a:ext cx="2507110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Подписка на CRM (Pipedrive/HubSpot)</a:t>
            </a:r>
          </a:p>
        </p:txBody>
      </p:sp>
      <p:sp>
        <p:nvSpPr>
          <p:cNvPr id="1449" name="Shape 128"/>
          <p:cNvSpPr/>
          <p:nvPr/>
        </p:nvSpPr>
        <p:spPr>
          <a:xfrm>
            <a:off x="901700" y="11454407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0" name="Text 129"/>
          <p:cNvSpPr txBox="1"/>
          <p:nvPr/>
        </p:nvSpPr>
        <p:spPr>
          <a:xfrm>
            <a:off x="1067196" y="11510367"/>
            <a:ext cx="239005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Инструменты для A/B тестирования</a:t>
            </a:r>
          </a:p>
        </p:txBody>
      </p:sp>
      <p:sp>
        <p:nvSpPr>
          <p:cNvPr id="1451" name="Text 130"/>
          <p:cNvSpPr txBox="1"/>
          <p:nvPr/>
        </p:nvSpPr>
        <p:spPr>
          <a:xfrm>
            <a:off x="8976717" y="11510367"/>
            <a:ext cx="245784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1452" name="Text 131"/>
          <p:cNvSpPr txBox="1"/>
          <p:nvPr/>
        </p:nvSpPr>
        <p:spPr>
          <a:xfrm>
            <a:off x="12363648" y="11510367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1,25%</a:t>
            </a:r>
          </a:p>
        </p:txBody>
      </p:sp>
      <p:sp>
        <p:nvSpPr>
          <p:cNvPr id="1453" name="Text 132"/>
          <p:cNvSpPr txBox="1"/>
          <p:nvPr/>
        </p:nvSpPr>
        <p:spPr>
          <a:xfrm>
            <a:off x="15750579" y="11510367"/>
            <a:ext cx="1037259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Optimizely/VWO</a:t>
            </a:r>
          </a:p>
        </p:txBody>
      </p:sp>
      <p:sp>
        <p:nvSpPr>
          <p:cNvPr id="1454" name="Shape 133"/>
          <p:cNvSpPr/>
          <p:nvPr/>
        </p:nvSpPr>
        <p:spPr>
          <a:xfrm>
            <a:off x="901700" y="11756032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5" name="Text 134"/>
          <p:cNvSpPr txBox="1"/>
          <p:nvPr/>
        </p:nvSpPr>
        <p:spPr>
          <a:xfrm>
            <a:off x="1067196" y="11811992"/>
            <a:ext cx="142832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ИТОГО АНАЛИТИКА</a:t>
            </a:r>
          </a:p>
        </p:txBody>
      </p:sp>
      <p:sp>
        <p:nvSpPr>
          <p:cNvPr id="1456" name="Text 135"/>
          <p:cNvSpPr txBox="1"/>
          <p:nvPr/>
        </p:nvSpPr>
        <p:spPr>
          <a:xfrm>
            <a:off x="8976717" y="11811992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2500</a:t>
            </a:r>
          </a:p>
        </p:txBody>
      </p:sp>
      <p:sp>
        <p:nvSpPr>
          <p:cNvPr id="1457" name="Text 136"/>
          <p:cNvSpPr txBox="1"/>
          <p:nvPr/>
        </p:nvSpPr>
        <p:spPr>
          <a:xfrm>
            <a:off x="12363648" y="11811992"/>
            <a:ext cx="408813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6,25%</a:t>
            </a:r>
          </a:p>
        </p:txBody>
      </p:sp>
      <p:sp>
        <p:nvSpPr>
          <p:cNvPr id="1458" name="Shape 138"/>
          <p:cNvSpPr/>
          <p:nvPr/>
        </p:nvSpPr>
        <p:spPr>
          <a:xfrm>
            <a:off x="901700" y="12057657"/>
            <a:ext cx="22580602" cy="301626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59" name="Text 139"/>
          <p:cNvSpPr txBox="1"/>
          <p:nvPr/>
        </p:nvSpPr>
        <p:spPr>
          <a:xfrm>
            <a:off x="1067196" y="12113617"/>
            <a:ext cx="2553495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РЕЗЕРВ (непредвиденные расходы)</a:t>
            </a:r>
          </a:p>
        </p:txBody>
      </p:sp>
      <p:sp>
        <p:nvSpPr>
          <p:cNvPr id="1460" name="Text 140"/>
          <p:cNvSpPr txBox="1"/>
          <p:nvPr/>
        </p:nvSpPr>
        <p:spPr>
          <a:xfrm>
            <a:off x="8976717" y="12113617"/>
            <a:ext cx="323478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1461" name="Text 141"/>
          <p:cNvSpPr txBox="1"/>
          <p:nvPr/>
        </p:nvSpPr>
        <p:spPr>
          <a:xfrm>
            <a:off x="12363648" y="12113617"/>
            <a:ext cx="214611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462" name="Text 142"/>
          <p:cNvSpPr txBox="1"/>
          <p:nvPr/>
        </p:nvSpPr>
        <p:spPr>
          <a:xfrm>
            <a:off x="15750579" y="12113617"/>
            <a:ext cx="2655883" cy="167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Буфер на случай дополнительных нужд</a:t>
            </a:r>
          </a:p>
        </p:txBody>
      </p:sp>
      <p:sp>
        <p:nvSpPr>
          <p:cNvPr id="1463" name="Shape 143"/>
          <p:cNvSpPr/>
          <p:nvPr/>
        </p:nvSpPr>
        <p:spPr>
          <a:xfrm>
            <a:off x="901700" y="12359282"/>
            <a:ext cx="22580602" cy="30162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64" name="Text 144"/>
          <p:cNvSpPr txBox="1"/>
          <p:nvPr/>
        </p:nvSpPr>
        <p:spPr>
          <a:xfrm>
            <a:off x="1067196" y="12415242"/>
            <a:ext cx="1257246" cy="167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ОБЩИЙ БЮДЖЕТ</a:t>
            </a:r>
          </a:p>
        </p:txBody>
      </p:sp>
      <p:sp>
        <p:nvSpPr>
          <p:cNvPr id="1465" name="Text 145"/>
          <p:cNvSpPr txBox="1"/>
          <p:nvPr/>
        </p:nvSpPr>
        <p:spPr>
          <a:xfrm>
            <a:off x="8976717" y="12415242"/>
            <a:ext cx="401173" cy="167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40000</a:t>
            </a:r>
          </a:p>
        </p:txBody>
      </p:sp>
      <p:sp>
        <p:nvSpPr>
          <p:cNvPr id="1466" name="Text 146"/>
          <p:cNvSpPr txBox="1"/>
          <p:nvPr/>
        </p:nvSpPr>
        <p:spPr>
          <a:xfrm>
            <a:off x="12363648" y="12415242"/>
            <a:ext cx="370000" cy="167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1467" name="Text 147"/>
          <p:cNvSpPr txBox="1"/>
          <p:nvPr/>
        </p:nvSpPr>
        <p:spPr>
          <a:xfrm>
            <a:off x="15750579" y="12415242"/>
            <a:ext cx="899128" cy="167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На 6 месяцев</a:t>
            </a:r>
          </a:p>
        </p:txBody>
      </p:sp>
      <p:sp>
        <p:nvSpPr>
          <p:cNvPr id="1468" name="Text 148"/>
          <p:cNvSpPr txBox="1"/>
          <p:nvPr/>
        </p:nvSpPr>
        <p:spPr>
          <a:xfrm>
            <a:off x="889000" y="12754570"/>
            <a:ext cx="7124167" cy="1675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3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Примечание: Бюджет рассчитан на команду из 8-10 человек. Зарплаты включены в разработку и контент.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Text 0"/>
          <p:cNvSpPr txBox="1"/>
          <p:nvPr/>
        </p:nvSpPr>
        <p:spPr>
          <a:xfrm>
            <a:off x="930275" y="737790"/>
            <a:ext cx="9483130" cy="516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100"/>
              </a:lnSpc>
              <a:spcBef>
                <a:spcPts val="0"/>
              </a:spcBef>
              <a:defRPr b="1" sz="3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4. Ключевые показатели эффективности (KPI)</a:t>
            </a:r>
          </a:p>
        </p:txBody>
      </p:sp>
      <p:sp>
        <p:nvSpPr>
          <p:cNvPr id="1471" name="Text 1"/>
          <p:cNvSpPr txBox="1"/>
          <p:nvPr/>
        </p:nvSpPr>
        <p:spPr>
          <a:xfrm>
            <a:off x="930275" y="1309290"/>
            <a:ext cx="9722322" cy="41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3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Метрики для отслеживания успеха маркетингового плана</a:t>
            </a:r>
          </a:p>
        </p:txBody>
      </p:sp>
      <p:sp>
        <p:nvSpPr>
          <p:cNvPr id="1472" name="Shape 2"/>
          <p:cNvSpPr/>
          <p:nvPr/>
        </p:nvSpPr>
        <p:spPr>
          <a:xfrm>
            <a:off x="930275" y="1859360"/>
            <a:ext cx="22523450" cy="10828735"/>
          </a:xfrm>
          <a:prstGeom prst="roundRect">
            <a:avLst>
              <a:gd name="adj" fmla="val 670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3" name="Shape 3"/>
          <p:cNvSpPr/>
          <p:nvPr/>
        </p:nvSpPr>
        <p:spPr>
          <a:xfrm>
            <a:off x="942975" y="1872060"/>
            <a:ext cx="22498050" cy="522686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74" name="Text 4"/>
          <p:cNvSpPr txBox="1"/>
          <p:nvPr/>
        </p:nvSpPr>
        <p:spPr>
          <a:xfrm>
            <a:off x="1116013" y="1931988"/>
            <a:ext cx="25834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KPI</a:t>
            </a:r>
          </a:p>
        </p:txBody>
      </p:sp>
      <p:sp>
        <p:nvSpPr>
          <p:cNvPr id="1475" name="Text 5"/>
          <p:cNvSpPr txBox="1"/>
          <p:nvPr/>
        </p:nvSpPr>
        <p:spPr>
          <a:xfrm>
            <a:off x="6746875" y="1931988"/>
            <a:ext cx="134754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Целевое значение</a:t>
            </a:r>
          </a:p>
        </p:txBody>
      </p:sp>
      <p:sp>
        <p:nvSpPr>
          <p:cNvPr id="1476" name="Text 6"/>
          <p:cNvSpPr txBox="1"/>
          <p:nvPr/>
        </p:nvSpPr>
        <p:spPr>
          <a:xfrm>
            <a:off x="8996562" y="1931988"/>
            <a:ext cx="189170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Текущее значение (Июль)</a:t>
            </a:r>
          </a:p>
        </p:txBody>
      </p:sp>
      <p:sp>
        <p:nvSpPr>
          <p:cNvPr id="1477" name="Text 7"/>
          <p:cNvSpPr txBox="1"/>
          <p:nvPr/>
        </p:nvSpPr>
        <p:spPr>
          <a:xfrm>
            <a:off x="11246246" y="1931988"/>
            <a:ext cx="1348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Прогноз (Декабрь)</a:t>
            </a:r>
          </a:p>
        </p:txBody>
      </p:sp>
      <p:sp>
        <p:nvSpPr>
          <p:cNvPr id="1478" name="Text 8"/>
          <p:cNvSpPr txBox="1"/>
          <p:nvPr/>
        </p:nvSpPr>
        <p:spPr>
          <a:xfrm>
            <a:off x="13495933" y="1931988"/>
            <a:ext cx="127833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Формула расчета</a:t>
            </a:r>
          </a:p>
        </p:txBody>
      </p:sp>
      <p:sp>
        <p:nvSpPr>
          <p:cNvPr id="1479" name="Text 9"/>
          <p:cNvSpPr txBox="1"/>
          <p:nvPr/>
        </p:nvSpPr>
        <p:spPr>
          <a:xfrm>
            <a:off x="19120445" y="1931988"/>
            <a:ext cx="195461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Инструмент отслеживания</a:t>
            </a:r>
          </a:p>
        </p:txBody>
      </p:sp>
      <p:sp>
        <p:nvSpPr>
          <p:cNvPr id="1480" name="Shape 10"/>
          <p:cNvSpPr/>
          <p:nvPr/>
        </p:nvSpPr>
        <p:spPr>
          <a:xfrm>
            <a:off x="942975" y="2394743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1" name="Text 11"/>
          <p:cNvSpPr txBox="1"/>
          <p:nvPr/>
        </p:nvSpPr>
        <p:spPr>
          <a:xfrm>
            <a:off x="1116013" y="2454671"/>
            <a:ext cx="307000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ПРИВЛЕЧЕНИЕ ПОЛЬЗОВАТЕЛЕЙ (B2C)</a:t>
            </a:r>
          </a:p>
        </p:txBody>
      </p:sp>
      <p:sp>
        <p:nvSpPr>
          <p:cNvPr id="1482" name="Shape 17"/>
          <p:cNvSpPr/>
          <p:nvPr/>
        </p:nvSpPr>
        <p:spPr>
          <a:xfrm>
            <a:off x="942975" y="2716013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3" name="Text 18"/>
          <p:cNvSpPr txBox="1"/>
          <p:nvPr/>
        </p:nvSpPr>
        <p:spPr>
          <a:xfrm>
            <a:off x="1116013" y="2775941"/>
            <a:ext cx="181188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Количество регистраций</a:t>
            </a:r>
          </a:p>
        </p:txBody>
      </p:sp>
      <p:sp>
        <p:nvSpPr>
          <p:cNvPr id="1484" name="Text 19"/>
          <p:cNvSpPr txBox="1"/>
          <p:nvPr/>
        </p:nvSpPr>
        <p:spPr>
          <a:xfrm>
            <a:off x="6746875" y="2775941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5000</a:t>
            </a:r>
          </a:p>
        </p:txBody>
      </p:sp>
      <p:sp>
        <p:nvSpPr>
          <p:cNvPr id="1485" name="Text 20"/>
          <p:cNvSpPr txBox="1"/>
          <p:nvPr/>
        </p:nvSpPr>
        <p:spPr>
          <a:xfrm>
            <a:off x="8996562" y="2775941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486" name="Text 21"/>
          <p:cNvSpPr txBox="1"/>
          <p:nvPr/>
        </p:nvSpPr>
        <p:spPr>
          <a:xfrm>
            <a:off x="11246246" y="2775941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5000</a:t>
            </a:r>
          </a:p>
        </p:txBody>
      </p:sp>
      <p:sp>
        <p:nvSpPr>
          <p:cNvPr id="1487" name="Text 22"/>
          <p:cNvSpPr txBox="1"/>
          <p:nvPr/>
        </p:nvSpPr>
        <p:spPr>
          <a:xfrm>
            <a:off x="13495933" y="2775941"/>
            <a:ext cx="269785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Сумма новых пользователей в месяц</a:t>
            </a:r>
          </a:p>
        </p:txBody>
      </p:sp>
      <p:sp>
        <p:nvSpPr>
          <p:cNvPr id="1488" name="Text 23"/>
          <p:cNvSpPr txBox="1"/>
          <p:nvPr/>
        </p:nvSpPr>
        <p:spPr>
          <a:xfrm>
            <a:off x="19120445" y="2775941"/>
            <a:ext cx="184254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Analytics, Mixpanel</a:t>
            </a:r>
          </a:p>
        </p:txBody>
      </p:sp>
      <p:sp>
        <p:nvSpPr>
          <p:cNvPr id="1489" name="Shape 24"/>
          <p:cNvSpPr/>
          <p:nvPr/>
        </p:nvSpPr>
        <p:spPr>
          <a:xfrm>
            <a:off x="942975" y="3037284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0" name="Text 25"/>
          <p:cNvSpPr txBox="1"/>
          <p:nvPr/>
        </p:nvSpPr>
        <p:spPr>
          <a:xfrm>
            <a:off x="1116013" y="3097213"/>
            <a:ext cx="226558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CAC (Customer Acquisition Cost)</a:t>
            </a:r>
          </a:p>
        </p:txBody>
      </p:sp>
      <p:sp>
        <p:nvSpPr>
          <p:cNvPr id="1491" name="Text 26"/>
          <p:cNvSpPr txBox="1"/>
          <p:nvPr/>
        </p:nvSpPr>
        <p:spPr>
          <a:xfrm>
            <a:off x="6746875" y="3097213"/>
            <a:ext cx="62155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≤50 BYN</a:t>
            </a:r>
          </a:p>
        </p:txBody>
      </p:sp>
      <p:sp>
        <p:nvSpPr>
          <p:cNvPr id="1492" name="Text 27"/>
          <p:cNvSpPr txBox="1"/>
          <p:nvPr/>
        </p:nvSpPr>
        <p:spPr>
          <a:xfrm>
            <a:off x="8996562" y="3097213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493" name="Text 28"/>
          <p:cNvSpPr txBox="1"/>
          <p:nvPr/>
        </p:nvSpPr>
        <p:spPr>
          <a:xfrm>
            <a:off x="11246246" y="3097213"/>
            <a:ext cx="53791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 BYN</a:t>
            </a:r>
          </a:p>
        </p:txBody>
      </p:sp>
      <p:sp>
        <p:nvSpPr>
          <p:cNvPr id="1494" name="Text 29"/>
          <p:cNvSpPr txBox="1"/>
          <p:nvPr/>
        </p:nvSpPr>
        <p:spPr>
          <a:xfrm>
            <a:off x="13495933" y="3097213"/>
            <a:ext cx="305712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Маркетинг-бюджет / Новые пользователи</a:t>
            </a:r>
          </a:p>
        </p:txBody>
      </p:sp>
      <p:sp>
        <p:nvSpPr>
          <p:cNvPr id="1495" name="Text 30"/>
          <p:cNvSpPr txBox="1"/>
          <p:nvPr/>
        </p:nvSpPr>
        <p:spPr>
          <a:xfrm>
            <a:off x="19120445" y="3097213"/>
            <a:ext cx="105434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Mixpanel, CRM</a:t>
            </a:r>
          </a:p>
        </p:txBody>
      </p:sp>
      <p:sp>
        <p:nvSpPr>
          <p:cNvPr id="1496" name="Shape 31"/>
          <p:cNvSpPr/>
          <p:nvPr/>
        </p:nvSpPr>
        <p:spPr>
          <a:xfrm>
            <a:off x="942975" y="3358555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7" name="Text 32"/>
          <p:cNvSpPr txBox="1"/>
          <p:nvPr/>
        </p:nvSpPr>
        <p:spPr>
          <a:xfrm>
            <a:off x="1116013" y="3418483"/>
            <a:ext cx="184209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Стоимость за клик (CPC)</a:t>
            </a:r>
          </a:p>
        </p:txBody>
      </p:sp>
      <p:sp>
        <p:nvSpPr>
          <p:cNvPr id="1498" name="Text 33"/>
          <p:cNvSpPr txBox="1"/>
          <p:nvPr/>
        </p:nvSpPr>
        <p:spPr>
          <a:xfrm>
            <a:off x="6746875" y="3418483"/>
            <a:ext cx="53679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≤2 BYN</a:t>
            </a:r>
          </a:p>
        </p:txBody>
      </p:sp>
      <p:sp>
        <p:nvSpPr>
          <p:cNvPr id="1499" name="Text 34"/>
          <p:cNvSpPr txBox="1"/>
          <p:nvPr/>
        </p:nvSpPr>
        <p:spPr>
          <a:xfrm>
            <a:off x="8996562" y="3418483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500" name="Text 35"/>
          <p:cNvSpPr txBox="1"/>
          <p:nvPr/>
        </p:nvSpPr>
        <p:spPr>
          <a:xfrm>
            <a:off x="11246246" y="3418483"/>
            <a:ext cx="45315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 BYN</a:t>
            </a:r>
          </a:p>
        </p:txBody>
      </p:sp>
      <p:sp>
        <p:nvSpPr>
          <p:cNvPr id="1501" name="Text 36"/>
          <p:cNvSpPr txBox="1"/>
          <p:nvPr/>
        </p:nvSpPr>
        <p:spPr>
          <a:xfrm>
            <a:off x="13495933" y="3418483"/>
            <a:ext cx="207337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Расходы на рекламу / Клики</a:t>
            </a:r>
          </a:p>
        </p:txBody>
      </p:sp>
      <p:sp>
        <p:nvSpPr>
          <p:cNvPr id="1502" name="Text 37"/>
          <p:cNvSpPr txBox="1"/>
          <p:nvPr/>
        </p:nvSpPr>
        <p:spPr>
          <a:xfrm>
            <a:off x="19120445" y="3418483"/>
            <a:ext cx="185132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Facebook Ads, Google Ads</a:t>
            </a:r>
          </a:p>
        </p:txBody>
      </p:sp>
      <p:sp>
        <p:nvSpPr>
          <p:cNvPr id="1503" name="Shape 38"/>
          <p:cNvSpPr/>
          <p:nvPr/>
        </p:nvSpPr>
        <p:spPr>
          <a:xfrm>
            <a:off x="942975" y="3679825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4" name="Text 39"/>
          <p:cNvSpPr txBox="1"/>
          <p:nvPr/>
        </p:nvSpPr>
        <p:spPr>
          <a:xfrm>
            <a:off x="1116013" y="3739753"/>
            <a:ext cx="268193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Коэффициент отскока (Bounce Rate)</a:t>
            </a:r>
          </a:p>
        </p:txBody>
      </p:sp>
      <p:sp>
        <p:nvSpPr>
          <p:cNvPr id="1505" name="Text 40"/>
          <p:cNvSpPr txBox="1"/>
          <p:nvPr/>
        </p:nvSpPr>
        <p:spPr>
          <a:xfrm>
            <a:off x="6746875" y="3739753"/>
            <a:ext cx="40136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≤40%</a:t>
            </a:r>
          </a:p>
        </p:txBody>
      </p:sp>
      <p:sp>
        <p:nvSpPr>
          <p:cNvPr id="1506" name="Text 41"/>
          <p:cNvSpPr txBox="1"/>
          <p:nvPr/>
        </p:nvSpPr>
        <p:spPr>
          <a:xfrm>
            <a:off x="8996562" y="3739753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507" name="Text 42"/>
          <p:cNvSpPr txBox="1"/>
          <p:nvPr/>
        </p:nvSpPr>
        <p:spPr>
          <a:xfrm>
            <a:off x="11246246" y="3739753"/>
            <a:ext cx="31772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35%</a:t>
            </a:r>
          </a:p>
        </p:txBody>
      </p:sp>
      <p:sp>
        <p:nvSpPr>
          <p:cNvPr id="1508" name="Text 43"/>
          <p:cNvSpPr txBox="1"/>
          <p:nvPr/>
        </p:nvSpPr>
        <p:spPr>
          <a:xfrm>
            <a:off x="13495933" y="3739753"/>
            <a:ext cx="300213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Сессии с одной страницей / Всего сессий</a:t>
            </a:r>
          </a:p>
        </p:txBody>
      </p:sp>
      <p:sp>
        <p:nvSpPr>
          <p:cNvPr id="1509" name="Text 44"/>
          <p:cNvSpPr txBox="1"/>
          <p:nvPr/>
        </p:nvSpPr>
        <p:spPr>
          <a:xfrm>
            <a:off x="19120445" y="3739753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510" name="Shape 45"/>
          <p:cNvSpPr/>
          <p:nvPr/>
        </p:nvSpPr>
        <p:spPr>
          <a:xfrm>
            <a:off x="942975" y="4001094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1" name="Text 46"/>
          <p:cNvSpPr txBox="1"/>
          <p:nvPr/>
        </p:nvSpPr>
        <p:spPr>
          <a:xfrm>
            <a:off x="1116013" y="4061023"/>
            <a:ext cx="220196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КОНВЕРСИЯ И ДОХОД (B2C)</a:t>
            </a:r>
          </a:p>
        </p:txBody>
      </p:sp>
      <p:sp>
        <p:nvSpPr>
          <p:cNvPr id="1512" name="Shape 52"/>
          <p:cNvSpPr/>
          <p:nvPr/>
        </p:nvSpPr>
        <p:spPr>
          <a:xfrm>
            <a:off x="942975" y="4322365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3" name="Text 53"/>
          <p:cNvSpPr txBox="1"/>
          <p:nvPr/>
        </p:nvSpPr>
        <p:spPr>
          <a:xfrm>
            <a:off x="1116013" y="4382293"/>
            <a:ext cx="220181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Конверсия Light → Student Pro</a:t>
            </a:r>
          </a:p>
        </p:txBody>
      </p:sp>
      <p:sp>
        <p:nvSpPr>
          <p:cNvPr id="1514" name="Text 54"/>
          <p:cNvSpPr txBox="1"/>
          <p:nvPr/>
        </p:nvSpPr>
        <p:spPr>
          <a:xfrm>
            <a:off x="6746875" y="4382293"/>
            <a:ext cx="2329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8%</a:t>
            </a:r>
          </a:p>
        </p:txBody>
      </p:sp>
      <p:sp>
        <p:nvSpPr>
          <p:cNvPr id="1515" name="Text 55"/>
          <p:cNvSpPr txBox="1"/>
          <p:nvPr/>
        </p:nvSpPr>
        <p:spPr>
          <a:xfrm>
            <a:off x="8996562" y="4382293"/>
            <a:ext cx="2329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0%</a:t>
            </a:r>
          </a:p>
        </p:txBody>
      </p:sp>
      <p:sp>
        <p:nvSpPr>
          <p:cNvPr id="1516" name="Text 56"/>
          <p:cNvSpPr txBox="1"/>
          <p:nvPr/>
        </p:nvSpPr>
        <p:spPr>
          <a:xfrm>
            <a:off x="11246246" y="4382293"/>
            <a:ext cx="23296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8%</a:t>
            </a:r>
          </a:p>
        </p:txBody>
      </p:sp>
      <p:sp>
        <p:nvSpPr>
          <p:cNvPr id="1517" name="Text 57"/>
          <p:cNvSpPr txBox="1"/>
          <p:nvPr/>
        </p:nvSpPr>
        <p:spPr>
          <a:xfrm>
            <a:off x="13495933" y="4382293"/>
            <a:ext cx="345546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Платящие пользователи / Всего пользователей</a:t>
            </a:r>
          </a:p>
        </p:txBody>
      </p:sp>
      <p:sp>
        <p:nvSpPr>
          <p:cNvPr id="1518" name="Text 58"/>
          <p:cNvSpPr txBox="1"/>
          <p:nvPr/>
        </p:nvSpPr>
        <p:spPr>
          <a:xfrm>
            <a:off x="19120445" y="4382293"/>
            <a:ext cx="8425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CRM, Stripe</a:t>
            </a:r>
          </a:p>
        </p:txBody>
      </p:sp>
      <p:sp>
        <p:nvSpPr>
          <p:cNvPr id="1519" name="Shape 59"/>
          <p:cNvSpPr/>
          <p:nvPr/>
        </p:nvSpPr>
        <p:spPr>
          <a:xfrm>
            <a:off x="942975" y="4643636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0" name="Text 60"/>
          <p:cNvSpPr txBox="1"/>
          <p:nvPr/>
        </p:nvSpPr>
        <p:spPr>
          <a:xfrm>
            <a:off x="1116013" y="4703563"/>
            <a:ext cx="273633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Количество платящих пользователей</a:t>
            </a:r>
          </a:p>
        </p:txBody>
      </p:sp>
      <p:sp>
        <p:nvSpPr>
          <p:cNvPr id="1521" name="Text 61"/>
          <p:cNvSpPr txBox="1"/>
          <p:nvPr/>
        </p:nvSpPr>
        <p:spPr>
          <a:xfrm>
            <a:off x="6746875" y="4703563"/>
            <a:ext cx="26697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</a:t>
            </a:r>
          </a:p>
        </p:txBody>
      </p:sp>
      <p:sp>
        <p:nvSpPr>
          <p:cNvPr id="1522" name="Text 62"/>
          <p:cNvSpPr txBox="1"/>
          <p:nvPr/>
        </p:nvSpPr>
        <p:spPr>
          <a:xfrm>
            <a:off x="8996562" y="4703563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23" name="Text 63"/>
          <p:cNvSpPr txBox="1"/>
          <p:nvPr/>
        </p:nvSpPr>
        <p:spPr>
          <a:xfrm>
            <a:off x="11246246" y="4703563"/>
            <a:ext cx="26697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</a:t>
            </a:r>
          </a:p>
        </p:txBody>
      </p:sp>
      <p:sp>
        <p:nvSpPr>
          <p:cNvPr id="1524" name="Text 64"/>
          <p:cNvSpPr txBox="1"/>
          <p:nvPr/>
        </p:nvSpPr>
        <p:spPr>
          <a:xfrm>
            <a:off x="13495933" y="4703563"/>
            <a:ext cx="230145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Активные подписки Student Pro</a:t>
            </a:r>
          </a:p>
        </p:txBody>
      </p:sp>
      <p:sp>
        <p:nvSpPr>
          <p:cNvPr id="1525" name="Text 65"/>
          <p:cNvSpPr txBox="1"/>
          <p:nvPr/>
        </p:nvSpPr>
        <p:spPr>
          <a:xfrm>
            <a:off x="19120445" y="4703563"/>
            <a:ext cx="8425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Stripe, CRM</a:t>
            </a:r>
          </a:p>
        </p:txBody>
      </p:sp>
      <p:sp>
        <p:nvSpPr>
          <p:cNvPr id="1526" name="Shape 66"/>
          <p:cNvSpPr/>
          <p:nvPr/>
        </p:nvSpPr>
        <p:spPr>
          <a:xfrm>
            <a:off x="942975" y="4964906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7" name="Text 67"/>
          <p:cNvSpPr txBox="1"/>
          <p:nvPr/>
        </p:nvSpPr>
        <p:spPr>
          <a:xfrm>
            <a:off x="1116013" y="5024835"/>
            <a:ext cx="244090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ARPU (Average Revenue Per User)</a:t>
            </a:r>
          </a:p>
        </p:txBody>
      </p:sp>
      <p:sp>
        <p:nvSpPr>
          <p:cNvPr id="1528" name="Text 68"/>
          <p:cNvSpPr txBox="1"/>
          <p:nvPr/>
        </p:nvSpPr>
        <p:spPr>
          <a:xfrm>
            <a:off x="6746875" y="5024835"/>
            <a:ext cx="66501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5,99 BYN</a:t>
            </a:r>
          </a:p>
        </p:txBody>
      </p:sp>
      <p:sp>
        <p:nvSpPr>
          <p:cNvPr id="1529" name="Text 69"/>
          <p:cNvSpPr txBox="1"/>
          <p:nvPr/>
        </p:nvSpPr>
        <p:spPr>
          <a:xfrm>
            <a:off x="8996562" y="5024835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30" name="Text 70"/>
          <p:cNvSpPr txBox="1"/>
          <p:nvPr/>
        </p:nvSpPr>
        <p:spPr>
          <a:xfrm>
            <a:off x="11246246" y="5024835"/>
            <a:ext cx="66501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5,99 BYN</a:t>
            </a:r>
          </a:p>
        </p:txBody>
      </p:sp>
      <p:sp>
        <p:nvSpPr>
          <p:cNvPr id="1531" name="Text 71"/>
          <p:cNvSpPr txBox="1"/>
          <p:nvPr/>
        </p:nvSpPr>
        <p:spPr>
          <a:xfrm>
            <a:off x="13495933" y="5024835"/>
            <a:ext cx="372693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Ежемесячный доход B2C / Активные пользователи</a:t>
            </a:r>
          </a:p>
        </p:txBody>
      </p:sp>
      <p:sp>
        <p:nvSpPr>
          <p:cNvPr id="1532" name="Text 72"/>
          <p:cNvSpPr txBox="1"/>
          <p:nvPr/>
        </p:nvSpPr>
        <p:spPr>
          <a:xfrm>
            <a:off x="19120445" y="5024835"/>
            <a:ext cx="8425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Stripe, CRM</a:t>
            </a:r>
          </a:p>
        </p:txBody>
      </p:sp>
      <p:sp>
        <p:nvSpPr>
          <p:cNvPr id="1533" name="Shape 73"/>
          <p:cNvSpPr/>
          <p:nvPr/>
        </p:nvSpPr>
        <p:spPr>
          <a:xfrm>
            <a:off x="942975" y="5286176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4" name="Text 74"/>
          <p:cNvSpPr txBox="1"/>
          <p:nvPr/>
        </p:nvSpPr>
        <p:spPr>
          <a:xfrm>
            <a:off x="1116013" y="5346104"/>
            <a:ext cx="18427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Ежемесячный доход B2C</a:t>
            </a:r>
          </a:p>
        </p:txBody>
      </p:sp>
      <p:sp>
        <p:nvSpPr>
          <p:cNvPr id="1535" name="Text 75"/>
          <p:cNvSpPr txBox="1"/>
          <p:nvPr/>
        </p:nvSpPr>
        <p:spPr>
          <a:xfrm>
            <a:off x="6746875" y="5346104"/>
            <a:ext cx="70743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2396 BYN</a:t>
            </a:r>
          </a:p>
        </p:txBody>
      </p:sp>
      <p:sp>
        <p:nvSpPr>
          <p:cNvPr id="1536" name="Text 76"/>
          <p:cNvSpPr txBox="1"/>
          <p:nvPr/>
        </p:nvSpPr>
        <p:spPr>
          <a:xfrm>
            <a:off x="8996562" y="5346104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37" name="Text 77"/>
          <p:cNvSpPr txBox="1"/>
          <p:nvPr/>
        </p:nvSpPr>
        <p:spPr>
          <a:xfrm>
            <a:off x="11246246" y="5346104"/>
            <a:ext cx="7074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2396 BYN</a:t>
            </a:r>
          </a:p>
        </p:txBody>
      </p:sp>
      <p:sp>
        <p:nvSpPr>
          <p:cNvPr id="1538" name="Text 78"/>
          <p:cNvSpPr txBox="1"/>
          <p:nvPr/>
        </p:nvSpPr>
        <p:spPr>
          <a:xfrm>
            <a:off x="13495933" y="5346104"/>
            <a:ext cx="221982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 пользователей × 5,99 BYN</a:t>
            </a:r>
          </a:p>
        </p:txBody>
      </p:sp>
      <p:sp>
        <p:nvSpPr>
          <p:cNvPr id="1539" name="Text 79"/>
          <p:cNvSpPr txBox="1"/>
          <p:nvPr/>
        </p:nvSpPr>
        <p:spPr>
          <a:xfrm>
            <a:off x="19120445" y="5346104"/>
            <a:ext cx="41081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Stripe</a:t>
            </a:r>
          </a:p>
        </p:txBody>
      </p:sp>
      <p:sp>
        <p:nvSpPr>
          <p:cNvPr id="1540" name="Shape 80"/>
          <p:cNvSpPr/>
          <p:nvPr/>
        </p:nvSpPr>
        <p:spPr>
          <a:xfrm>
            <a:off x="942975" y="5607446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1" name="Text 81"/>
          <p:cNvSpPr txBox="1"/>
          <p:nvPr/>
        </p:nvSpPr>
        <p:spPr>
          <a:xfrm>
            <a:off x="1116013" y="5667375"/>
            <a:ext cx="152829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ПРИВЛЕЧЕНИЕ B2B</a:t>
            </a:r>
          </a:p>
        </p:txBody>
      </p:sp>
      <p:sp>
        <p:nvSpPr>
          <p:cNvPr id="1542" name="Shape 87"/>
          <p:cNvSpPr/>
          <p:nvPr/>
        </p:nvSpPr>
        <p:spPr>
          <a:xfrm>
            <a:off x="942975" y="5928716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43" name="Text 88"/>
          <p:cNvSpPr txBox="1"/>
          <p:nvPr/>
        </p:nvSpPr>
        <p:spPr>
          <a:xfrm>
            <a:off x="1116013" y="5988644"/>
            <a:ext cx="195944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Количество клиентов МСБ</a:t>
            </a:r>
          </a:p>
        </p:txBody>
      </p:sp>
      <p:sp>
        <p:nvSpPr>
          <p:cNvPr id="1544" name="Text 89"/>
          <p:cNvSpPr txBox="1"/>
          <p:nvPr/>
        </p:nvSpPr>
        <p:spPr>
          <a:xfrm>
            <a:off x="6746875" y="5988644"/>
            <a:ext cx="18221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1545" name="Text 90"/>
          <p:cNvSpPr txBox="1"/>
          <p:nvPr/>
        </p:nvSpPr>
        <p:spPr>
          <a:xfrm>
            <a:off x="8996562" y="5988644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46" name="Text 91"/>
          <p:cNvSpPr txBox="1"/>
          <p:nvPr/>
        </p:nvSpPr>
        <p:spPr>
          <a:xfrm>
            <a:off x="11246246" y="5988644"/>
            <a:ext cx="18221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1547" name="Text 92"/>
          <p:cNvSpPr txBox="1"/>
          <p:nvPr/>
        </p:nvSpPr>
        <p:spPr>
          <a:xfrm>
            <a:off x="13495933" y="5988644"/>
            <a:ext cx="187305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Новые подписки Business</a:t>
            </a:r>
          </a:p>
        </p:txBody>
      </p:sp>
      <p:sp>
        <p:nvSpPr>
          <p:cNvPr id="1548" name="Text 93"/>
          <p:cNvSpPr txBox="1"/>
          <p:nvPr/>
        </p:nvSpPr>
        <p:spPr>
          <a:xfrm>
            <a:off x="19120445" y="5988644"/>
            <a:ext cx="107979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CRM, Pipedrive</a:t>
            </a:r>
          </a:p>
        </p:txBody>
      </p:sp>
      <p:sp>
        <p:nvSpPr>
          <p:cNvPr id="1549" name="Shape 94"/>
          <p:cNvSpPr/>
          <p:nvPr/>
        </p:nvSpPr>
        <p:spPr>
          <a:xfrm>
            <a:off x="942975" y="6249988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0" name="Text 95"/>
          <p:cNvSpPr txBox="1"/>
          <p:nvPr/>
        </p:nvSpPr>
        <p:spPr>
          <a:xfrm>
            <a:off x="1116013" y="6309915"/>
            <a:ext cx="97212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CAC для B2B</a:t>
            </a:r>
          </a:p>
        </p:txBody>
      </p:sp>
      <p:sp>
        <p:nvSpPr>
          <p:cNvPr id="1551" name="Text 96"/>
          <p:cNvSpPr txBox="1"/>
          <p:nvPr/>
        </p:nvSpPr>
        <p:spPr>
          <a:xfrm>
            <a:off x="6746875" y="6309915"/>
            <a:ext cx="70631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≤500 BYN</a:t>
            </a:r>
          </a:p>
        </p:txBody>
      </p:sp>
      <p:sp>
        <p:nvSpPr>
          <p:cNvPr id="1552" name="Text 97"/>
          <p:cNvSpPr txBox="1"/>
          <p:nvPr/>
        </p:nvSpPr>
        <p:spPr>
          <a:xfrm>
            <a:off x="8996562" y="6309915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553" name="Text 98"/>
          <p:cNvSpPr txBox="1"/>
          <p:nvPr/>
        </p:nvSpPr>
        <p:spPr>
          <a:xfrm>
            <a:off x="11246246" y="6309915"/>
            <a:ext cx="62267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 BYN</a:t>
            </a:r>
          </a:p>
        </p:txBody>
      </p:sp>
      <p:sp>
        <p:nvSpPr>
          <p:cNvPr id="1554" name="Text 99"/>
          <p:cNvSpPr txBox="1"/>
          <p:nvPr/>
        </p:nvSpPr>
        <p:spPr>
          <a:xfrm>
            <a:off x="13495933" y="6309915"/>
            <a:ext cx="297802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B2B маркетинг-бюджет / Новые клиенты</a:t>
            </a:r>
          </a:p>
        </p:txBody>
      </p:sp>
      <p:sp>
        <p:nvSpPr>
          <p:cNvPr id="1555" name="Text 100"/>
          <p:cNvSpPr txBox="1"/>
          <p:nvPr/>
        </p:nvSpPr>
        <p:spPr>
          <a:xfrm>
            <a:off x="19120445" y="6309915"/>
            <a:ext cx="107979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CRM, Pipedrive</a:t>
            </a:r>
          </a:p>
        </p:txBody>
      </p:sp>
      <p:sp>
        <p:nvSpPr>
          <p:cNvPr id="1556" name="Shape 101"/>
          <p:cNvSpPr/>
          <p:nvPr/>
        </p:nvSpPr>
        <p:spPr>
          <a:xfrm>
            <a:off x="942975" y="6571258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57" name="Text 102"/>
          <p:cNvSpPr txBox="1"/>
          <p:nvPr/>
        </p:nvSpPr>
        <p:spPr>
          <a:xfrm>
            <a:off x="1116013" y="6631186"/>
            <a:ext cx="1834357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Ежемесячный доход B2B</a:t>
            </a:r>
          </a:p>
        </p:txBody>
      </p:sp>
      <p:sp>
        <p:nvSpPr>
          <p:cNvPr id="1558" name="Text 103"/>
          <p:cNvSpPr txBox="1"/>
          <p:nvPr/>
        </p:nvSpPr>
        <p:spPr>
          <a:xfrm>
            <a:off x="6746875" y="6631186"/>
            <a:ext cx="707430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2450 BYN</a:t>
            </a:r>
          </a:p>
        </p:txBody>
      </p:sp>
      <p:sp>
        <p:nvSpPr>
          <p:cNvPr id="1559" name="Text 104"/>
          <p:cNvSpPr txBox="1"/>
          <p:nvPr/>
        </p:nvSpPr>
        <p:spPr>
          <a:xfrm>
            <a:off x="8996562" y="6631186"/>
            <a:ext cx="127001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60" name="Text 105"/>
          <p:cNvSpPr txBox="1"/>
          <p:nvPr/>
        </p:nvSpPr>
        <p:spPr>
          <a:xfrm>
            <a:off x="11246246" y="6631186"/>
            <a:ext cx="707431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2450 BYN</a:t>
            </a:r>
          </a:p>
        </p:txBody>
      </p:sp>
      <p:sp>
        <p:nvSpPr>
          <p:cNvPr id="1561" name="Text 106"/>
          <p:cNvSpPr txBox="1"/>
          <p:nvPr/>
        </p:nvSpPr>
        <p:spPr>
          <a:xfrm>
            <a:off x="13495933" y="6631186"/>
            <a:ext cx="1597348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 клиентов × 49 BYN</a:t>
            </a:r>
          </a:p>
        </p:txBody>
      </p:sp>
      <p:sp>
        <p:nvSpPr>
          <p:cNvPr id="1562" name="Text 107"/>
          <p:cNvSpPr txBox="1"/>
          <p:nvPr/>
        </p:nvSpPr>
        <p:spPr>
          <a:xfrm>
            <a:off x="19120445" y="6631186"/>
            <a:ext cx="842566" cy="187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Stripe, CRM</a:t>
            </a:r>
          </a:p>
        </p:txBody>
      </p:sp>
      <p:sp>
        <p:nvSpPr>
          <p:cNvPr id="1563" name="Shape 108"/>
          <p:cNvSpPr/>
          <p:nvPr/>
        </p:nvSpPr>
        <p:spPr>
          <a:xfrm>
            <a:off x="942975" y="6892528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4" name="Text 109"/>
          <p:cNvSpPr txBox="1"/>
          <p:nvPr/>
        </p:nvSpPr>
        <p:spPr>
          <a:xfrm>
            <a:off x="1116013" y="6952456"/>
            <a:ext cx="244060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Средний размер контракта (ASP)</a:t>
            </a:r>
          </a:p>
        </p:txBody>
      </p:sp>
      <p:sp>
        <p:nvSpPr>
          <p:cNvPr id="1565" name="Text 110"/>
          <p:cNvSpPr txBox="1"/>
          <p:nvPr/>
        </p:nvSpPr>
        <p:spPr>
          <a:xfrm>
            <a:off x="6746875" y="6952456"/>
            <a:ext cx="53791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49 BYN</a:t>
            </a:r>
          </a:p>
        </p:txBody>
      </p:sp>
      <p:sp>
        <p:nvSpPr>
          <p:cNvPr id="1566" name="Text 111"/>
          <p:cNvSpPr txBox="1"/>
          <p:nvPr/>
        </p:nvSpPr>
        <p:spPr>
          <a:xfrm>
            <a:off x="8996562" y="6952456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67" name="Text 112"/>
          <p:cNvSpPr txBox="1"/>
          <p:nvPr/>
        </p:nvSpPr>
        <p:spPr>
          <a:xfrm>
            <a:off x="11246246" y="6952456"/>
            <a:ext cx="53791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49 BYN</a:t>
            </a:r>
          </a:p>
        </p:txBody>
      </p:sp>
      <p:sp>
        <p:nvSpPr>
          <p:cNvPr id="1568" name="Text 113"/>
          <p:cNvSpPr txBox="1"/>
          <p:nvPr/>
        </p:nvSpPr>
        <p:spPr>
          <a:xfrm>
            <a:off x="13495933" y="6952456"/>
            <a:ext cx="352787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Ежемесячный доход B2B / Количество клиентов</a:t>
            </a:r>
          </a:p>
        </p:txBody>
      </p:sp>
      <p:sp>
        <p:nvSpPr>
          <p:cNvPr id="1569" name="Text 114"/>
          <p:cNvSpPr txBox="1"/>
          <p:nvPr/>
        </p:nvSpPr>
        <p:spPr>
          <a:xfrm>
            <a:off x="19120445" y="6952456"/>
            <a:ext cx="35976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CRM</a:t>
            </a:r>
          </a:p>
        </p:txBody>
      </p:sp>
      <p:sp>
        <p:nvSpPr>
          <p:cNvPr id="1570" name="Shape 115"/>
          <p:cNvSpPr/>
          <p:nvPr/>
        </p:nvSpPr>
        <p:spPr>
          <a:xfrm>
            <a:off x="942975" y="7213798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1" name="Text 116"/>
          <p:cNvSpPr txBox="1"/>
          <p:nvPr/>
        </p:nvSpPr>
        <p:spPr>
          <a:xfrm>
            <a:off x="1116013" y="7273726"/>
            <a:ext cx="228277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ФИНАНСОВЫЕ ПОКАЗАТЕЛИ</a:t>
            </a:r>
          </a:p>
        </p:txBody>
      </p:sp>
      <p:sp>
        <p:nvSpPr>
          <p:cNvPr id="1572" name="Shape 122"/>
          <p:cNvSpPr/>
          <p:nvPr/>
        </p:nvSpPr>
        <p:spPr>
          <a:xfrm>
            <a:off x="942975" y="7535068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3" name="Text 123"/>
          <p:cNvSpPr txBox="1"/>
          <p:nvPr/>
        </p:nvSpPr>
        <p:spPr>
          <a:xfrm>
            <a:off x="1116013" y="7594996"/>
            <a:ext cx="20313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Общий ежемесячный доход</a:t>
            </a:r>
          </a:p>
        </p:txBody>
      </p:sp>
      <p:sp>
        <p:nvSpPr>
          <p:cNvPr id="1574" name="Text 124"/>
          <p:cNvSpPr txBox="1"/>
          <p:nvPr/>
        </p:nvSpPr>
        <p:spPr>
          <a:xfrm>
            <a:off x="6746875" y="7594996"/>
            <a:ext cx="70743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4846 BYN</a:t>
            </a:r>
          </a:p>
        </p:txBody>
      </p:sp>
      <p:sp>
        <p:nvSpPr>
          <p:cNvPr id="1575" name="Text 125"/>
          <p:cNvSpPr txBox="1"/>
          <p:nvPr/>
        </p:nvSpPr>
        <p:spPr>
          <a:xfrm>
            <a:off x="8996562" y="7594996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76" name="Text 126"/>
          <p:cNvSpPr txBox="1"/>
          <p:nvPr/>
        </p:nvSpPr>
        <p:spPr>
          <a:xfrm>
            <a:off x="11246246" y="7594996"/>
            <a:ext cx="7074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4846 BYN</a:t>
            </a:r>
          </a:p>
        </p:txBody>
      </p:sp>
      <p:sp>
        <p:nvSpPr>
          <p:cNvPr id="1577" name="Text 127"/>
          <p:cNvSpPr txBox="1"/>
          <p:nvPr/>
        </p:nvSpPr>
        <p:spPr>
          <a:xfrm>
            <a:off x="13495933" y="7594996"/>
            <a:ext cx="174543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Доход B2C + Доход B2B</a:t>
            </a:r>
          </a:p>
        </p:txBody>
      </p:sp>
      <p:sp>
        <p:nvSpPr>
          <p:cNvPr id="1578" name="Text 128"/>
          <p:cNvSpPr txBox="1"/>
          <p:nvPr/>
        </p:nvSpPr>
        <p:spPr>
          <a:xfrm>
            <a:off x="19120445" y="7594996"/>
            <a:ext cx="8425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Stripe, CRM</a:t>
            </a:r>
          </a:p>
        </p:txBody>
      </p:sp>
      <p:sp>
        <p:nvSpPr>
          <p:cNvPr id="1579" name="Shape 129"/>
          <p:cNvSpPr/>
          <p:nvPr/>
        </p:nvSpPr>
        <p:spPr>
          <a:xfrm>
            <a:off x="942975" y="7856338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0" name="Text 130"/>
          <p:cNvSpPr txBox="1"/>
          <p:nvPr/>
        </p:nvSpPr>
        <p:spPr>
          <a:xfrm>
            <a:off x="1116013" y="7916266"/>
            <a:ext cx="143311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Доход за 6 месяцев</a:t>
            </a:r>
          </a:p>
        </p:txBody>
      </p:sp>
      <p:sp>
        <p:nvSpPr>
          <p:cNvPr id="1581" name="Text 131"/>
          <p:cNvSpPr txBox="1"/>
          <p:nvPr/>
        </p:nvSpPr>
        <p:spPr>
          <a:xfrm>
            <a:off x="6746875" y="7916266"/>
            <a:ext cx="79218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28476 BYN</a:t>
            </a:r>
          </a:p>
        </p:txBody>
      </p:sp>
      <p:sp>
        <p:nvSpPr>
          <p:cNvPr id="1582" name="Text 132"/>
          <p:cNvSpPr txBox="1"/>
          <p:nvPr/>
        </p:nvSpPr>
        <p:spPr>
          <a:xfrm>
            <a:off x="8996562" y="7916266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83" name="Text 133"/>
          <p:cNvSpPr txBox="1"/>
          <p:nvPr/>
        </p:nvSpPr>
        <p:spPr>
          <a:xfrm>
            <a:off x="11246246" y="7916266"/>
            <a:ext cx="79218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28476 BYN</a:t>
            </a:r>
          </a:p>
        </p:txBody>
      </p:sp>
      <p:sp>
        <p:nvSpPr>
          <p:cNvPr id="1584" name="Text 134"/>
          <p:cNvSpPr txBox="1"/>
          <p:nvPr/>
        </p:nvSpPr>
        <p:spPr>
          <a:xfrm>
            <a:off x="13495933" y="7916266"/>
            <a:ext cx="176239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Ежемесячный доход × 6</a:t>
            </a:r>
          </a:p>
        </p:txBody>
      </p:sp>
      <p:sp>
        <p:nvSpPr>
          <p:cNvPr id="1585" name="Text 135"/>
          <p:cNvSpPr txBox="1"/>
          <p:nvPr/>
        </p:nvSpPr>
        <p:spPr>
          <a:xfrm>
            <a:off x="19120445" y="7916266"/>
            <a:ext cx="41081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Stripe</a:t>
            </a:r>
          </a:p>
        </p:txBody>
      </p:sp>
      <p:sp>
        <p:nvSpPr>
          <p:cNvPr id="1586" name="Shape 136"/>
          <p:cNvSpPr/>
          <p:nvPr/>
        </p:nvSpPr>
        <p:spPr>
          <a:xfrm>
            <a:off x="942975" y="8177609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87" name="Text 137"/>
          <p:cNvSpPr txBox="1"/>
          <p:nvPr/>
        </p:nvSpPr>
        <p:spPr>
          <a:xfrm>
            <a:off x="1116013" y="8237538"/>
            <a:ext cx="272293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ROMI (Return on Marketing Investment)</a:t>
            </a:r>
          </a:p>
        </p:txBody>
      </p:sp>
      <p:sp>
        <p:nvSpPr>
          <p:cNvPr id="1588" name="Text 138"/>
          <p:cNvSpPr txBox="1"/>
          <p:nvPr/>
        </p:nvSpPr>
        <p:spPr>
          <a:xfrm>
            <a:off x="6746875" y="8237538"/>
            <a:ext cx="40136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≥90%</a:t>
            </a:r>
          </a:p>
        </p:txBody>
      </p:sp>
      <p:sp>
        <p:nvSpPr>
          <p:cNvPr id="1589" name="Text 139"/>
          <p:cNvSpPr txBox="1"/>
          <p:nvPr/>
        </p:nvSpPr>
        <p:spPr>
          <a:xfrm>
            <a:off x="8996562" y="8237538"/>
            <a:ext cx="2329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0%</a:t>
            </a:r>
          </a:p>
        </p:txBody>
      </p:sp>
      <p:sp>
        <p:nvSpPr>
          <p:cNvPr id="1590" name="Text 140"/>
          <p:cNvSpPr txBox="1"/>
          <p:nvPr/>
        </p:nvSpPr>
        <p:spPr>
          <a:xfrm>
            <a:off x="11246246" y="8237538"/>
            <a:ext cx="31772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90%</a:t>
            </a:r>
          </a:p>
        </p:txBody>
      </p:sp>
      <p:sp>
        <p:nvSpPr>
          <p:cNvPr id="1591" name="Text 141"/>
          <p:cNvSpPr txBox="1"/>
          <p:nvPr/>
        </p:nvSpPr>
        <p:spPr>
          <a:xfrm>
            <a:off x="13495933" y="8237538"/>
            <a:ext cx="256822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(Доход - Бюджет) / Бюджет × 100%</a:t>
            </a:r>
          </a:p>
        </p:txBody>
      </p:sp>
      <p:sp>
        <p:nvSpPr>
          <p:cNvPr id="1592" name="Text 142"/>
          <p:cNvSpPr txBox="1"/>
          <p:nvPr/>
        </p:nvSpPr>
        <p:spPr>
          <a:xfrm>
            <a:off x="19120445" y="8237538"/>
            <a:ext cx="153141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Финансовая система</a:t>
            </a:r>
          </a:p>
        </p:txBody>
      </p:sp>
      <p:sp>
        <p:nvSpPr>
          <p:cNvPr id="1593" name="Shape 143"/>
          <p:cNvSpPr/>
          <p:nvPr/>
        </p:nvSpPr>
        <p:spPr>
          <a:xfrm>
            <a:off x="942975" y="8498879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4" name="Text 144"/>
          <p:cNvSpPr txBox="1"/>
          <p:nvPr/>
        </p:nvSpPr>
        <p:spPr>
          <a:xfrm>
            <a:off x="1116013" y="8558808"/>
            <a:ext cx="306166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Окупаемость инвестиций (Payback Period)</a:t>
            </a:r>
          </a:p>
        </p:txBody>
      </p:sp>
      <p:sp>
        <p:nvSpPr>
          <p:cNvPr id="1595" name="Text 145"/>
          <p:cNvSpPr txBox="1"/>
          <p:nvPr/>
        </p:nvSpPr>
        <p:spPr>
          <a:xfrm>
            <a:off x="6746875" y="8558808"/>
            <a:ext cx="8780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4-5 месяцев</a:t>
            </a:r>
          </a:p>
        </p:txBody>
      </p:sp>
      <p:sp>
        <p:nvSpPr>
          <p:cNvPr id="1596" name="Text 146"/>
          <p:cNvSpPr txBox="1"/>
          <p:nvPr/>
        </p:nvSpPr>
        <p:spPr>
          <a:xfrm>
            <a:off x="8996562" y="8558808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597" name="Text 147"/>
          <p:cNvSpPr txBox="1"/>
          <p:nvPr/>
        </p:nvSpPr>
        <p:spPr>
          <a:xfrm>
            <a:off x="11246246" y="8558808"/>
            <a:ext cx="78616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4,5 месяца</a:t>
            </a:r>
          </a:p>
        </p:txBody>
      </p:sp>
      <p:sp>
        <p:nvSpPr>
          <p:cNvPr id="1598" name="Text 148"/>
          <p:cNvSpPr txBox="1"/>
          <p:nvPr/>
        </p:nvSpPr>
        <p:spPr>
          <a:xfrm>
            <a:off x="13495933" y="8558808"/>
            <a:ext cx="222257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Бюджет / Ежемесячный доход</a:t>
            </a:r>
          </a:p>
        </p:txBody>
      </p:sp>
      <p:sp>
        <p:nvSpPr>
          <p:cNvPr id="1599" name="Text 149"/>
          <p:cNvSpPr txBox="1"/>
          <p:nvPr/>
        </p:nvSpPr>
        <p:spPr>
          <a:xfrm>
            <a:off x="19120445" y="8558808"/>
            <a:ext cx="153141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Финансовая система</a:t>
            </a:r>
          </a:p>
        </p:txBody>
      </p:sp>
      <p:sp>
        <p:nvSpPr>
          <p:cNvPr id="1600" name="Shape 150"/>
          <p:cNvSpPr/>
          <p:nvPr/>
        </p:nvSpPr>
        <p:spPr>
          <a:xfrm>
            <a:off x="942975" y="8820150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1" name="Text 151"/>
          <p:cNvSpPr txBox="1"/>
          <p:nvPr/>
        </p:nvSpPr>
        <p:spPr>
          <a:xfrm>
            <a:off x="1116013" y="8880078"/>
            <a:ext cx="260595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ВОВЛЕЧЕННОСТЬ И УДЕРЖАНИЕ</a:t>
            </a:r>
          </a:p>
        </p:txBody>
      </p:sp>
      <p:sp>
        <p:nvSpPr>
          <p:cNvPr id="1602" name="Shape 157"/>
          <p:cNvSpPr/>
          <p:nvPr/>
        </p:nvSpPr>
        <p:spPr>
          <a:xfrm>
            <a:off x="942975" y="9141419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3" name="Text 158"/>
          <p:cNvSpPr txBox="1"/>
          <p:nvPr/>
        </p:nvSpPr>
        <p:spPr>
          <a:xfrm>
            <a:off x="1116013" y="9201348"/>
            <a:ext cx="223544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Активные пользователи (DAU)</a:t>
            </a:r>
          </a:p>
        </p:txBody>
      </p:sp>
      <p:sp>
        <p:nvSpPr>
          <p:cNvPr id="1604" name="Text 159"/>
          <p:cNvSpPr txBox="1"/>
          <p:nvPr/>
        </p:nvSpPr>
        <p:spPr>
          <a:xfrm>
            <a:off x="6746875" y="9201348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1000</a:t>
            </a:r>
          </a:p>
        </p:txBody>
      </p:sp>
      <p:sp>
        <p:nvSpPr>
          <p:cNvPr id="1605" name="Text 160"/>
          <p:cNvSpPr txBox="1"/>
          <p:nvPr/>
        </p:nvSpPr>
        <p:spPr>
          <a:xfrm>
            <a:off x="8996562" y="9201348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06" name="Text 161"/>
          <p:cNvSpPr txBox="1"/>
          <p:nvPr/>
        </p:nvSpPr>
        <p:spPr>
          <a:xfrm>
            <a:off x="11246246" y="9201348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1000</a:t>
            </a:r>
          </a:p>
        </p:txBody>
      </p:sp>
      <p:sp>
        <p:nvSpPr>
          <p:cNvPr id="1607" name="Text 162"/>
          <p:cNvSpPr txBox="1"/>
          <p:nvPr/>
        </p:nvSpPr>
        <p:spPr>
          <a:xfrm>
            <a:off x="13495933" y="9201348"/>
            <a:ext cx="25711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Пользователи с действиями в день</a:t>
            </a:r>
          </a:p>
        </p:txBody>
      </p:sp>
      <p:sp>
        <p:nvSpPr>
          <p:cNvPr id="1608" name="Text 163"/>
          <p:cNvSpPr txBox="1"/>
          <p:nvPr/>
        </p:nvSpPr>
        <p:spPr>
          <a:xfrm>
            <a:off x="19120445" y="9201348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609" name="Shape 164"/>
          <p:cNvSpPr/>
          <p:nvPr/>
        </p:nvSpPr>
        <p:spPr>
          <a:xfrm>
            <a:off x="942975" y="9462689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0" name="Text 165"/>
          <p:cNvSpPr txBox="1"/>
          <p:nvPr/>
        </p:nvSpPr>
        <p:spPr>
          <a:xfrm>
            <a:off x="1116013" y="9522618"/>
            <a:ext cx="243383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Еженедельная активность (WAU)</a:t>
            </a:r>
          </a:p>
        </p:txBody>
      </p:sp>
      <p:sp>
        <p:nvSpPr>
          <p:cNvPr id="1611" name="Text 166"/>
          <p:cNvSpPr txBox="1"/>
          <p:nvPr/>
        </p:nvSpPr>
        <p:spPr>
          <a:xfrm>
            <a:off x="6746875" y="9522618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2500</a:t>
            </a:r>
          </a:p>
        </p:txBody>
      </p:sp>
      <p:sp>
        <p:nvSpPr>
          <p:cNvPr id="1612" name="Text 167"/>
          <p:cNvSpPr txBox="1"/>
          <p:nvPr/>
        </p:nvSpPr>
        <p:spPr>
          <a:xfrm>
            <a:off x="8996562" y="9522618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13" name="Text 168"/>
          <p:cNvSpPr txBox="1"/>
          <p:nvPr/>
        </p:nvSpPr>
        <p:spPr>
          <a:xfrm>
            <a:off x="11246246" y="9522618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2500</a:t>
            </a:r>
          </a:p>
        </p:txBody>
      </p:sp>
      <p:sp>
        <p:nvSpPr>
          <p:cNvPr id="1614" name="Text 169"/>
          <p:cNvSpPr txBox="1"/>
          <p:nvPr/>
        </p:nvSpPr>
        <p:spPr>
          <a:xfrm>
            <a:off x="13495933" y="9522618"/>
            <a:ext cx="278581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Пользователи с действиями в неделю</a:t>
            </a:r>
          </a:p>
        </p:txBody>
      </p:sp>
      <p:sp>
        <p:nvSpPr>
          <p:cNvPr id="1615" name="Text 170"/>
          <p:cNvSpPr txBox="1"/>
          <p:nvPr/>
        </p:nvSpPr>
        <p:spPr>
          <a:xfrm>
            <a:off x="19120445" y="9522618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616" name="Shape 171"/>
          <p:cNvSpPr/>
          <p:nvPr/>
        </p:nvSpPr>
        <p:spPr>
          <a:xfrm>
            <a:off x="942975" y="9783961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17" name="Text 172"/>
          <p:cNvSpPr txBox="1"/>
          <p:nvPr/>
        </p:nvSpPr>
        <p:spPr>
          <a:xfrm>
            <a:off x="1116013" y="9843888"/>
            <a:ext cx="206199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Месячная активность (MAU)</a:t>
            </a:r>
          </a:p>
        </p:txBody>
      </p:sp>
      <p:sp>
        <p:nvSpPr>
          <p:cNvPr id="1618" name="Text 173"/>
          <p:cNvSpPr txBox="1"/>
          <p:nvPr/>
        </p:nvSpPr>
        <p:spPr>
          <a:xfrm>
            <a:off x="6746875" y="9843888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4000</a:t>
            </a:r>
          </a:p>
        </p:txBody>
      </p:sp>
      <p:sp>
        <p:nvSpPr>
          <p:cNvPr id="1619" name="Text 174"/>
          <p:cNvSpPr txBox="1"/>
          <p:nvPr/>
        </p:nvSpPr>
        <p:spPr>
          <a:xfrm>
            <a:off x="8996562" y="9843888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20" name="Text 175"/>
          <p:cNvSpPr txBox="1"/>
          <p:nvPr/>
        </p:nvSpPr>
        <p:spPr>
          <a:xfrm>
            <a:off x="11246246" y="9843888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4000</a:t>
            </a:r>
          </a:p>
        </p:txBody>
      </p:sp>
      <p:sp>
        <p:nvSpPr>
          <p:cNvPr id="1621" name="Text 176"/>
          <p:cNvSpPr txBox="1"/>
          <p:nvPr/>
        </p:nvSpPr>
        <p:spPr>
          <a:xfrm>
            <a:off x="13495933" y="9843888"/>
            <a:ext cx="266764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Пользователи с действиями в месяц</a:t>
            </a:r>
          </a:p>
        </p:txBody>
      </p:sp>
      <p:sp>
        <p:nvSpPr>
          <p:cNvPr id="1622" name="Text 177"/>
          <p:cNvSpPr txBox="1"/>
          <p:nvPr/>
        </p:nvSpPr>
        <p:spPr>
          <a:xfrm>
            <a:off x="19120445" y="9843888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623" name="Shape 178"/>
          <p:cNvSpPr/>
          <p:nvPr/>
        </p:nvSpPr>
        <p:spPr>
          <a:xfrm>
            <a:off x="942975" y="10105231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4" name="Text 179"/>
          <p:cNvSpPr txBox="1"/>
          <p:nvPr/>
        </p:nvSpPr>
        <p:spPr>
          <a:xfrm>
            <a:off x="1116013" y="10165159"/>
            <a:ext cx="173583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Retention Rate (30 дней)</a:t>
            </a:r>
          </a:p>
        </p:txBody>
      </p:sp>
      <p:sp>
        <p:nvSpPr>
          <p:cNvPr id="1625" name="Text 180"/>
          <p:cNvSpPr txBox="1"/>
          <p:nvPr/>
        </p:nvSpPr>
        <p:spPr>
          <a:xfrm>
            <a:off x="6746875" y="10165159"/>
            <a:ext cx="40136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≥40%</a:t>
            </a:r>
          </a:p>
        </p:txBody>
      </p:sp>
      <p:sp>
        <p:nvSpPr>
          <p:cNvPr id="1626" name="Text 181"/>
          <p:cNvSpPr txBox="1"/>
          <p:nvPr/>
        </p:nvSpPr>
        <p:spPr>
          <a:xfrm>
            <a:off x="8996562" y="10165159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627" name="Text 182"/>
          <p:cNvSpPr txBox="1"/>
          <p:nvPr/>
        </p:nvSpPr>
        <p:spPr>
          <a:xfrm>
            <a:off x="11246246" y="10165159"/>
            <a:ext cx="31772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40%</a:t>
            </a:r>
          </a:p>
        </p:txBody>
      </p:sp>
      <p:sp>
        <p:nvSpPr>
          <p:cNvPr id="1628" name="Text 183"/>
          <p:cNvSpPr txBox="1"/>
          <p:nvPr/>
        </p:nvSpPr>
        <p:spPr>
          <a:xfrm>
            <a:off x="13495933" y="10165159"/>
            <a:ext cx="436250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Пользователи активные на 30-й день / Новые пользователи</a:t>
            </a:r>
          </a:p>
        </p:txBody>
      </p:sp>
      <p:sp>
        <p:nvSpPr>
          <p:cNvPr id="1629" name="Text 184"/>
          <p:cNvSpPr txBox="1"/>
          <p:nvPr/>
        </p:nvSpPr>
        <p:spPr>
          <a:xfrm>
            <a:off x="19120445" y="10165159"/>
            <a:ext cx="62259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Mixpanel</a:t>
            </a:r>
          </a:p>
        </p:txBody>
      </p:sp>
      <p:sp>
        <p:nvSpPr>
          <p:cNvPr id="1630" name="Shape 185"/>
          <p:cNvSpPr/>
          <p:nvPr/>
        </p:nvSpPr>
        <p:spPr>
          <a:xfrm>
            <a:off x="942975" y="10426501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1" name="Text 186"/>
          <p:cNvSpPr txBox="1"/>
          <p:nvPr/>
        </p:nvSpPr>
        <p:spPr>
          <a:xfrm>
            <a:off x="1116013" y="10486429"/>
            <a:ext cx="79204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Churn Rate</a:t>
            </a:r>
          </a:p>
        </p:txBody>
      </p:sp>
      <p:sp>
        <p:nvSpPr>
          <p:cNvPr id="1632" name="Text 187"/>
          <p:cNvSpPr txBox="1"/>
          <p:nvPr/>
        </p:nvSpPr>
        <p:spPr>
          <a:xfrm>
            <a:off x="6746875" y="10486429"/>
            <a:ext cx="31660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≤5%</a:t>
            </a:r>
          </a:p>
        </p:txBody>
      </p:sp>
      <p:sp>
        <p:nvSpPr>
          <p:cNvPr id="1633" name="Text 188"/>
          <p:cNvSpPr txBox="1"/>
          <p:nvPr/>
        </p:nvSpPr>
        <p:spPr>
          <a:xfrm>
            <a:off x="8996562" y="10486429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634" name="Text 189"/>
          <p:cNvSpPr txBox="1"/>
          <p:nvPr/>
        </p:nvSpPr>
        <p:spPr>
          <a:xfrm>
            <a:off x="11246246" y="10486429"/>
            <a:ext cx="232967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5%</a:t>
            </a:r>
          </a:p>
        </p:txBody>
      </p:sp>
      <p:sp>
        <p:nvSpPr>
          <p:cNvPr id="1635" name="Text 190"/>
          <p:cNvSpPr txBox="1"/>
          <p:nvPr/>
        </p:nvSpPr>
        <p:spPr>
          <a:xfrm>
            <a:off x="13495933" y="10486429"/>
            <a:ext cx="378378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Отписавшиеся пользователи / Всего пользователей</a:t>
            </a:r>
          </a:p>
        </p:txBody>
      </p:sp>
      <p:sp>
        <p:nvSpPr>
          <p:cNvPr id="1636" name="Text 191"/>
          <p:cNvSpPr txBox="1"/>
          <p:nvPr/>
        </p:nvSpPr>
        <p:spPr>
          <a:xfrm>
            <a:off x="19120445" y="10486429"/>
            <a:ext cx="35976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CRM</a:t>
            </a:r>
          </a:p>
        </p:txBody>
      </p:sp>
      <p:sp>
        <p:nvSpPr>
          <p:cNvPr id="1637" name="Shape 192"/>
          <p:cNvSpPr/>
          <p:nvPr/>
        </p:nvSpPr>
        <p:spPr>
          <a:xfrm>
            <a:off x="942975" y="10747771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38" name="Text 193"/>
          <p:cNvSpPr txBox="1"/>
          <p:nvPr/>
        </p:nvSpPr>
        <p:spPr>
          <a:xfrm>
            <a:off x="1116013" y="10807700"/>
            <a:ext cx="217487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МАРКЕТИНГОВЫЕ КАНАЛЫ</a:t>
            </a:r>
          </a:p>
        </p:txBody>
      </p:sp>
      <p:sp>
        <p:nvSpPr>
          <p:cNvPr id="1639" name="Shape 199"/>
          <p:cNvSpPr/>
          <p:nvPr/>
        </p:nvSpPr>
        <p:spPr>
          <a:xfrm>
            <a:off x="942975" y="11069041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0" name="Text 200"/>
          <p:cNvSpPr txBox="1"/>
          <p:nvPr/>
        </p:nvSpPr>
        <p:spPr>
          <a:xfrm>
            <a:off x="1116013" y="11128970"/>
            <a:ext cx="197901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Трафик из Instagram/TikTok</a:t>
            </a:r>
          </a:p>
        </p:txBody>
      </p:sp>
      <p:sp>
        <p:nvSpPr>
          <p:cNvPr id="1641" name="Text 201"/>
          <p:cNvSpPr txBox="1"/>
          <p:nvPr/>
        </p:nvSpPr>
        <p:spPr>
          <a:xfrm>
            <a:off x="6746875" y="11128970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1642" name="Text 202"/>
          <p:cNvSpPr txBox="1"/>
          <p:nvPr/>
        </p:nvSpPr>
        <p:spPr>
          <a:xfrm>
            <a:off x="8996562" y="11128970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43" name="Text 203"/>
          <p:cNvSpPr txBox="1"/>
          <p:nvPr/>
        </p:nvSpPr>
        <p:spPr>
          <a:xfrm>
            <a:off x="11246246" y="11128970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2000</a:t>
            </a:r>
          </a:p>
        </p:txBody>
      </p:sp>
      <p:sp>
        <p:nvSpPr>
          <p:cNvPr id="1644" name="Text 204"/>
          <p:cNvSpPr txBox="1"/>
          <p:nvPr/>
        </p:nvSpPr>
        <p:spPr>
          <a:xfrm>
            <a:off x="13495933" y="11128970"/>
            <a:ext cx="2097039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Сессии из социальных сетей</a:t>
            </a:r>
          </a:p>
        </p:txBody>
      </p:sp>
      <p:sp>
        <p:nvSpPr>
          <p:cNvPr id="1645" name="Text 205"/>
          <p:cNvSpPr txBox="1"/>
          <p:nvPr/>
        </p:nvSpPr>
        <p:spPr>
          <a:xfrm>
            <a:off x="19120445" y="11128970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646" name="Shape 206"/>
          <p:cNvSpPr/>
          <p:nvPr/>
        </p:nvSpPr>
        <p:spPr>
          <a:xfrm>
            <a:off x="942975" y="11390313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47" name="Text 207"/>
          <p:cNvSpPr txBox="1"/>
          <p:nvPr/>
        </p:nvSpPr>
        <p:spPr>
          <a:xfrm>
            <a:off x="1116013" y="11450240"/>
            <a:ext cx="140052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Трафик из LinkedIn</a:t>
            </a:r>
          </a:p>
        </p:txBody>
      </p:sp>
      <p:sp>
        <p:nvSpPr>
          <p:cNvPr id="1648" name="Text 208"/>
          <p:cNvSpPr txBox="1"/>
          <p:nvPr/>
        </p:nvSpPr>
        <p:spPr>
          <a:xfrm>
            <a:off x="6746875" y="11450240"/>
            <a:ext cx="26697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1649" name="Text 209"/>
          <p:cNvSpPr txBox="1"/>
          <p:nvPr/>
        </p:nvSpPr>
        <p:spPr>
          <a:xfrm>
            <a:off x="8996562" y="11450240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50" name="Text 210"/>
          <p:cNvSpPr txBox="1"/>
          <p:nvPr/>
        </p:nvSpPr>
        <p:spPr>
          <a:xfrm>
            <a:off x="11246246" y="11450240"/>
            <a:ext cx="26697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500</a:t>
            </a:r>
          </a:p>
        </p:txBody>
      </p:sp>
      <p:sp>
        <p:nvSpPr>
          <p:cNvPr id="1651" name="Text 211"/>
          <p:cNvSpPr txBox="1"/>
          <p:nvPr/>
        </p:nvSpPr>
        <p:spPr>
          <a:xfrm>
            <a:off x="13495933" y="11450240"/>
            <a:ext cx="136376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Сессии из LinkedIn</a:t>
            </a:r>
          </a:p>
        </p:txBody>
      </p:sp>
      <p:sp>
        <p:nvSpPr>
          <p:cNvPr id="1652" name="Text 212"/>
          <p:cNvSpPr txBox="1"/>
          <p:nvPr/>
        </p:nvSpPr>
        <p:spPr>
          <a:xfrm>
            <a:off x="19120445" y="11450240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653" name="Shape 213"/>
          <p:cNvSpPr/>
          <p:nvPr/>
        </p:nvSpPr>
        <p:spPr>
          <a:xfrm>
            <a:off x="942975" y="11711583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4" name="Text 214"/>
          <p:cNvSpPr txBox="1"/>
          <p:nvPr/>
        </p:nvSpPr>
        <p:spPr>
          <a:xfrm>
            <a:off x="1116013" y="11771511"/>
            <a:ext cx="120541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Трафик из Email</a:t>
            </a:r>
          </a:p>
        </p:txBody>
      </p:sp>
      <p:sp>
        <p:nvSpPr>
          <p:cNvPr id="1655" name="Text 215"/>
          <p:cNvSpPr txBox="1"/>
          <p:nvPr/>
        </p:nvSpPr>
        <p:spPr>
          <a:xfrm>
            <a:off x="6746875" y="11771511"/>
            <a:ext cx="26697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800</a:t>
            </a:r>
          </a:p>
        </p:txBody>
      </p:sp>
      <p:sp>
        <p:nvSpPr>
          <p:cNvPr id="1656" name="Text 216"/>
          <p:cNvSpPr txBox="1"/>
          <p:nvPr/>
        </p:nvSpPr>
        <p:spPr>
          <a:xfrm>
            <a:off x="8996562" y="11771511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57" name="Text 217"/>
          <p:cNvSpPr txBox="1"/>
          <p:nvPr/>
        </p:nvSpPr>
        <p:spPr>
          <a:xfrm>
            <a:off x="11246246" y="11771511"/>
            <a:ext cx="26697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800</a:t>
            </a:r>
          </a:p>
        </p:txBody>
      </p:sp>
      <p:sp>
        <p:nvSpPr>
          <p:cNvPr id="1658" name="Text 218"/>
          <p:cNvSpPr txBox="1"/>
          <p:nvPr/>
        </p:nvSpPr>
        <p:spPr>
          <a:xfrm>
            <a:off x="13495933" y="11771511"/>
            <a:ext cx="182981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Клики из email-кампаний</a:t>
            </a:r>
          </a:p>
        </p:txBody>
      </p:sp>
      <p:sp>
        <p:nvSpPr>
          <p:cNvPr id="1659" name="Text 219"/>
          <p:cNvSpPr txBox="1"/>
          <p:nvPr/>
        </p:nvSpPr>
        <p:spPr>
          <a:xfrm>
            <a:off x="19120445" y="11771511"/>
            <a:ext cx="125191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Email платформа</a:t>
            </a:r>
          </a:p>
        </p:txBody>
      </p:sp>
      <p:sp>
        <p:nvSpPr>
          <p:cNvPr id="1660" name="Shape 220"/>
          <p:cNvSpPr/>
          <p:nvPr/>
        </p:nvSpPr>
        <p:spPr>
          <a:xfrm>
            <a:off x="942975" y="12032853"/>
            <a:ext cx="22498050" cy="321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1" name="Text 221"/>
          <p:cNvSpPr txBox="1"/>
          <p:nvPr/>
        </p:nvSpPr>
        <p:spPr>
          <a:xfrm>
            <a:off x="1116013" y="12092781"/>
            <a:ext cx="2416275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Трафик из органического поиска</a:t>
            </a:r>
          </a:p>
        </p:txBody>
      </p:sp>
      <p:sp>
        <p:nvSpPr>
          <p:cNvPr id="1662" name="Text 222"/>
          <p:cNvSpPr txBox="1"/>
          <p:nvPr/>
        </p:nvSpPr>
        <p:spPr>
          <a:xfrm>
            <a:off x="6746875" y="12092781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1000</a:t>
            </a:r>
          </a:p>
        </p:txBody>
      </p:sp>
      <p:sp>
        <p:nvSpPr>
          <p:cNvPr id="1663" name="Text 223"/>
          <p:cNvSpPr txBox="1"/>
          <p:nvPr/>
        </p:nvSpPr>
        <p:spPr>
          <a:xfrm>
            <a:off x="8996562" y="12092781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664" name="Text 224"/>
          <p:cNvSpPr txBox="1"/>
          <p:nvPr/>
        </p:nvSpPr>
        <p:spPr>
          <a:xfrm>
            <a:off x="11246246" y="12092781"/>
            <a:ext cx="35173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1000</a:t>
            </a:r>
          </a:p>
        </p:txBody>
      </p:sp>
      <p:sp>
        <p:nvSpPr>
          <p:cNvPr id="1665" name="Text 225"/>
          <p:cNvSpPr txBox="1"/>
          <p:nvPr/>
        </p:nvSpPr>
        <p:spPr>
          <a:xfrm>
            <a:off x="13495933" y="12092781"/>
            <a:ext cx="2106340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Сессии из поисковых систем</a:t>
            </a:r>
          </a:p>
        </p:txBody>
      </p:sp>
      <p:sp>
        <p:nvSpPr>
          <p:cNvPr id="1666" name="Text 226"/>
          <p:cNvSpPr txBox="1"/>
          <p:nvPr/>
        </p:nvSpPr>
        <p:spPr>
          <a:xfrm>
            <a:off x="19120445" y="12092781"/>
            <a:ext cx="1147962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Google Analytics</a:t>
            </a:r>
          </a:p>
        </p:txBody>
      </p:sp>
      <p:sp>
        <p:nvSpPr>
          <p:cNvPr id="1667" name="Shape 227"/>
          <p:cNvSpPr/>
          <p:nvPr/>
        </p:nvSpPr>
        <p:spPr>
          <a:xfrm>
            <a:off x="942975" y="12354123"/>
            <a:ext cx="22498050" cy="321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68" name="Text 228"/>
          <p:cNvSpPr txBox="1"/>
          <p:nvPr/>
        </p:nvSpPr>
        <p:spPr>
          <a:xfrm>
            <a:off x="1116013" y="12414050"/>
            <a:ext cx="256227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CTR (Click-Through Rate) в рекламе</a:t>
            </a:r>
          </a:p>
        </p:txBody>
      </p:sp>
      <p:sp>
        <p:nvSpPr>
          <p:cNvPr id="1669" name="Text 229"/>
          <p:cNvSpPr txBox="1"/>
          <p:nvPr/>
        </p:nvSpPr>
        <p:spPr>
          <a:xfrm>
            <a:off x="6746875" y="12414050"/>
            <a:ext cx="316608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≥2%</a:t>
            </a:r>
          </a:p>
        </p:txBody>
      </p:sp>
      <p:sp>
        <p:nvSpPr>
          <p:cNvPr id="1670" name="Text 230"/>
          <p:cNvSpPr txBox="1"/>
          <p:nvPr/>
        </p:nvSpPr>
        <p:spPr>
          <a:xfrm>
            <a:off x="8996562" y="12414050"/>
            <a:ext cx="127001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-</a:t>
            </a:r>
          </a:p>
        </p:txBody>
      </p:sp>
      <p:sp>
        <p:nvSpPr>
          <p:cNvPr id="1671" name="Text 231"/>
          <p:cNvSpPr txBox="1"/>
          <p:nvPr/>
        </p:nvSpPr>
        <p:spPr>
          <a:xfrm>
            <a:off x="11246246" y="12414050"/>
            <a:ext cx="36006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2,5%</a:t>
            </a:r>
          </a:p>
        </p:txBody>
      </p:sp>
      <p:sp>
        <p:nvSpPr>
          <p:cNvPr id="1672" name="Text 232"/>
          <p:cNvSpPr txBox="1"/>
          <p:nvPr/>
        </p:nvSpPr>
        <p:spPr>
          <a:xfrm>
            <a:off x="13495933" y="12414050"/>
            <a:ext cx="1703016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Клики / Показы × 100%</a:t>
            </a:r>
          </a:p>
        </p:txBody>
      </p:sp>
      <p:sp>
        <p:nvSpPr>
          <p:cNvPr id="1673" name="Text 233"/>
          <p:cNvSpPr txBox="1"/>
          <p:nvPr/>
        </p:nvSpPr>
        <p:spPr>
          <a:xfrm>
            <a:off x="19120445" y="12414050"/>
            <a:ext cx="1851323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Facebook Ads, Google Ads</a:t>
            </a:r>
          </a:p>
        </p:txBody>
      </p:sp>
      <p:sp>
        <p:nvSpPr>
          <p:cNvPr id="1674" name="Text 234"/>
          <p:cNvSpPr txBox="1"/>
          <p:nvPr/>
        </p:nvSpPr>
        <p:spPr>
          <a:xfrm>
            <a:off x="930275" y="12776794"/>
            <a:ext cx="9894814" cy="187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Примечание: Все KPI отслеживаются еженедельно. Целевые значения пересматриваются ежемесячно на основе фактических данных.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Text 0"/>
          <p:cNvSpPr txBox="1"/>
          <p:nvPr/>
        </p:nvSpPr>
        <p:spPr>
          <a:xfrm>
            <a:off x="1033662" y="931266"/>
            <a:ext cx="20759738" cy="891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7100"/>
              </a:lnSpc>
              <a:spcBef>
                <a:spcPts val="0"/>
              </a:spcBef>
              <a:defRPr b="1" sz="5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5. Бизнес-модель Остервальдера (Business Model Canvas)</a:t>
            </a:r>
          </a:p>
        </p:txBody>
      </p:sp>
      <p:sp>
        <p:nvSpPr>
          <p:cNvPr id="1677" name="Text 1"/>
          <p:cNvSpPr txBox="1"/>
          <p:nvPr/>
        </p:nvSpPr>
        <p:spPr>
          <a:xfrm>
            <a:off x="1033662" y="1946473"/>
            <a:ext cx="15560329" cy="704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600"/>
              </a:lnSpc>
              <a:spcBef>
                <a:spcPts val="0"/>
              </a:spcBef>
              <a:defRPr b="1" sz="4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Визуальное представление бизнес-модели FinHelper AI</a:t>
            </a:r>
          </a:p>
        </p:txBody>
      </p:sp>
      <p:pic>
        <p:nvPicPr>
          <p:cNvPr id="167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75931" y="3030935"/>
            <a:ext cx="17475200" cy="9753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9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33661" y="3030935"/>
            <a:ext cx="17475200" cy="975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Text 0"/>
          <p:cNvSpPr txBox="1"/>
          <p:nvPr/>
        </p:nvSpPr>
        <p:spPr>
          <a:xfrm>
            <a:off x="909638" y="875903"/>
            <a:ext cx="7902638" cy="49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6. Одностраничный план маркетинга (4P)</a:t>
            </a:r>
          </a:p>
        </p:txBody>
      </p:sp>
      <p:sp>
        <p:nvSpPr>
          <p:cNvPr id="1682" name="Text 1"/>
          <p:cNvSpPr txBox="1"/>
          <p:nvPr/>
        </p:nvSpPr>
        <p:spPr>
          <a:xfrm>
            <a:off x="909638" y="1433910"/>
            <a:ext cx="8687595" cy="391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100"/>
              </a:lnSpc>
              <a:spcBef>
                <a:spcPts val="0"/>
              </a:spcBef>
              <a:defRPr b="1" sz="24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Комплекс маркетинга для вывода FinHelper AI на рынок</a:t>
            </a:r>
          </a:p>
        </p:txBody>
      </p:sp>
      <p:sp>
        <p:nvSpPr>
          <p:cNvPr id="1683" name="Shape 2"/>
          <p:cNvSpPr/>
          <p:nvPr/>
        </p:nvSpPr>
        <p:spPr>
          <a:xfrm>
            <a:off x="909638" y="1969293"/>
            <a:ext cx="22564727" cy="10870804"/>
          </a:xfrm>
          <a:prstGeom prst="roundRect">
            <a:avLst>
              <a:gd name="adj" fmla="val 653"/>
            </a:avLst>
          </a:prstGeom>
          <a:ln w="12700">
            <a:solidFill>
              <a:srgbClr val="000000">
                <a:alpha val="8000"/>
              </a:srgbClr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4" name="Shape 3"/>
          <p:cNvSpPr/>
          <p:nvPr/>
        </p:nvSpPr>
        <p:spPr>
          <a:xfrm>
            <a:off x="922338" y="1981993"/>
            <a:ext cx="22539325" cy="50681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5" name="Text 4"/>
          <p:cNvSpPr txBox="1"/>
          <p:nvPr/>
        </p:nvSpPr>
        <p:spPr>
          <a:xfrm>
            <a:off x="1092001" y="2039938"/>
            <a:ext cx="825867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Элемент 4P</a:t>
            </a:r>
          </a:p>
        </p:txBody>
      </p:sp>
      <p:sp>
        <p:nvSpPr>
          <p:cNvPr id="1686" name="Text 5"/>
          <p:cNvSpPr txBox="1"/>
          <p:nvPr/>
        </p:nvSpPr>
        <p:spPr>
          <a:xfrm>
            <a:off x="4479131" y="2039938"/>
            <a:ext cx="734462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Что (What)</a:t>
            </a:r>
          </a:p>
        </p:txBody>
      </p:sp>
      <p:sp>
        <p:nvSpPr>
          <p:cNvPr id="1687" name="Text 6"/>
          <p:cNvSpPr txBox="1"/>
          <p:nvPr/>
        </p:nvSpPr>
        <p:spPr>
          <a:xfrm>
            <a:off x="8986838" y="2039938"/>
            <a:ext cx="959769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Почему (Why)</a:t>
            </a:r>
          </a:p>
        </p:txBody>
      </p:sp>
      <p:sp>
        <p:nvSpPr>
          <p:cNvPr id="1688" name="Text 7"/>
          <p:cNvSpPr txBox="1"/>
          <p:nvPr/>
        </p:nvSpPr>
        <p:spPr>
          <a:xfrm>
            <a:off x="13494543" y="2039938"/>
            <a:ext cx="940123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Когда (When)</a:t>
            </a:r>
          </a:p>
        </p:txBody>
      </p:sp>
      <p:sp>
        <p:nvSpPr>
          <p:cNvPr id="1689" name="Text 8"/>
          <p:cNvSpPr txBox="1"/>
          <p:nvPr/>
        </p:nvSpPr>
        <p:spPr>
          <a:xfrm>
            <a:off x="15748396" y="2039938"/>
            <a:ext cx="703357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Как (How)</a:t>
            </a:r>
          </a:p>
        </p:txBody>
      </p:sp>
      <p:sp>
        <p:nvSpPr>
          <p:cNvPr id="1690" name="Text 9"/>
          <p:cNvSpPr txBox="1"/>
          <p:nvPr/>
        </p:nvSpPr>
        <p:spPr>
          <a:xfrm>
            <a:off x="20256103" y="2039938"/>
            <a:ext cx="1457382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Сколько (How Much)</a:t>
            </a:r>
          </a:p>
        </p:txBody>
      </p:sp>
      <p:sp>
        <p:nvSpPr>
          <p:cNvPr id="1691" name="Text 10"/>
          <p:cNvSpPr txBox="1"/>
          <p:nvPr/>
        </p:nvSpPr>
        <p:spPr>
          <a:xfrm>
            <a:off x="22509956" y="2039938"/>
            <a:ext cx="782838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Кто (Who)</a:t>
            </a:r>
          </a:p>
        </p:txBody>
      </p:sp>
      <p:sp>
        <p:nvSpPr>
          <p:cNvPr id="1692" name="Shape 11"/>
          <p:cNvSpPr/>
          <p:nvPr/>
        </p:nvSpPr>
        <p:spPr>
          <a:xfrm>
            <a:off x="922338" y="2488803"/>
            <a:ext cx="22539325" cy="897733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93" name="Text 12"/>
          <p:cNvSpPr txBox="1"/>
          <p:nvPr/>
        </p:nvSpPr>
        <p:spPr>
          <a:xfrm>
            <a:off x="1092001" y="2546746"/>
            <a:ext cx="1520479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(ПРОДУКТ)</a:t>
            </a:r>
          </a:p>
        </p:txBody>
      </p:sp>
      <p:sp>
        <p:nvSpPr>
          <p:cNvPr id="1694" name="Text 13"/>
          <p:cNvSpPr txBox="1"/>
          <p:nvPr/>
        </p:nvSpPr>
        <p:spPr>
          <a:xfrm>
            <a:off x="4479131" y="2546746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FinHelper AI — персонализированный финансовый помощник на базе ИИ</a:t>
            </a:r>
          </a:p>
        </p:txBody>
      </p:sp>
      <p:sp>
        <p:nvSpPr>
          <p:cNvPr id="1695" name="Text 14"/>
          <p:cNvSpPr txBox="1"/>
          <p:nvPr/>
        </p:nvSpPr>
        <p:spPr>
          <a:xfrm>
            <a:off x="8986838" y="2546746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Решает проблему сложности управления финансами для молодежи и МСБ</a:t>
            </a:r>
          </a:p>
        </p:txBody>
      </p:sp>
      <p:sp>
        <p:nvSpPr>
          <p:cNvPr id="1696" name="Text 15"/>
          <p:cNvSpPr txBox="1"/>
          <p:nvPr/>
        </p:nvSpPr>
        <p:spPr>
          <a:xfrm>
            <a:off x="13494543" y="2546746"/>
            <a:ext cx="1903414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 MVP: Сентябрь 2026</a:t>
            </a:r>
          </a:p>
        </p:txBody>
      </p:sp>
      <p:sp>
        <p:nvSpPr>
          <p:cNvPr id="1697" name="Text 16"/>
          <p:cNvSpPr txBox="1"/>
          <p:nvPr/>
        </p:nvSpPr>
        <p:spPr>
          <a:xfrm>
            <a:off x="15748396" y="2546746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Мобильное приложение (iOS, Android) + веб-версия с AI-ассистентом</a:t>
            </a:r>
          </a:p>
        </p:txBody>
      </p:sp>
      <p:sp>
        <p:nvSpPr>
          <p:cNvPr id="1698" name="Text 17"/>
          <p:cNvSpPr txBox="1"/>
          <p:nvPr/>
        </p:nvSpPr>
        <p:spPr>
          <a:xfrm>
            <a:off x="20256103" y="2546746"/>
            <a:ext cx="1903414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Разработка: 16000 BYN</a:t>
            </a:r>
          </a:p>
        </p:txBody>
      </p:sp>
      <p:sp>
        <p:nvSpPr>
          <p:cNvPr id="1699" name="Text 18"/>
          <p:cNvSpPr txBox="1"/>
          <p:nvPr/>
        </p:nvSpPr>
        <p:spPr>
          <a:xfrm>
            <a:off x="22509956" y="2546746"/>
            <a:ext cx="782838" cy="756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Team (5 разработчиков)</a:t>
            </a:r>
          </a:p>
        </p:txBody>
      </p:sp>
      <p:sp>
        <p:nvSpPr>
          <p:cNvPr id="1700" name="Shape 19"/>
          <p:cNvSpPr/>
          <p:nvPr/>
        </p:nvSpPr>
        <p:spPr>
          <a:xfrm>
            <a:off x="922338" y="3386534"/>
            <a:ext cx="22539325" cy="897733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1" name="Text 20"/>
          <p:cNvSpPr txBox="1"/>
          <p:nvPr/>
        </p:nvSpPr>
        <p:spPr>
          <a:xfrm>
            <a:off x="1092001" y="3444478"/>
            <a:ext cx="3036690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Какие потребности он удовлетворяет?</a:t>
            </a:r>
          </a:p>
        </p:txBody>
      </p:sp>
      <p:sp>
        <p:nvSpPr>
          <p:cNvPr id="1702" name="Text 21"/>
          <p:cNvSpPr txBox="1"/>
          <p:nvPr/>
        </p:nvSpPr>
        <p:spPr>
          <a:xfrm>
            <a:off x="4479131" y="3444478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Управление финансами, аналитика расходов, автоплатежи, интеграция с 1С</a:t>
            </a:r>
          </a:p>
        </p:txBody>
      </p:sp>
      <p:sp>
        <p:nvSpPr>
          <p:cNvPr id="1703" name="Text 22"/>
          <p:cNvSpPr txBox="1"/>
          <p:nvPr/>
        </p:nvSpPr>
        <p:spPr>
          <a:xfrm>
            <a:off x="8986838" y="3444478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87% пользователей недовольны текущим интерфейсом, 92% готовы использовать AI</a:t>
            </a:r>
          </a:p>
        </p:txBody>
      </p:sp>
      <p:sp>
        <p:nvSpPr>
          <p:cNvPr id="1704" name="Text 23"/>
          <p:cNvSpPr txBox="1"/>
          <p:nvPr/>
        </p:nvSpPr>
        <p:spPr>
          <a:xfrm>
            <a:off x="13494543" y="3444478"/>
            <a:ext cx="719727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Постоянно</a:t>
            </a:r>
          </a:p>
        </p:txBody>
      </p:sp>
      <p:sp>
        <p:nvSpPr>
          <p:cNvPr id="1705" name="Text 24"/>
          <p:cNvSpPr txBox="1"/>
          <p:nvPr/>
        </p:nvSpPr>
        <p:spPr>
          <a:xfrm>
            <a:off x="15748396" y="3444478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Функции: переводы, выписки, AI-советы, копилка, автоплатежи</a:t>
            </a:r>
          </a:p>
        </p:txBody>
      </p:sp>
      <p:sp>
        <p:nvSpPr>
          <p:cNvPr id="1706" name="Text 25"/>
          <p:cNvSpPr txBox="1"/>
          <p:nvPr/>
        </p:nvSpPr>
        <p:spPr>
          <a:xfrm>
            <a:off x="20256103" y="3444478"/>
            <a:ext cx="144919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Включено в подписку</a:t>
            </a:r>
          </a:p>
        </p:txBody>
      </p:sp>
      <p:sp>
        <p:nvSpPr>
          <p:cNvPr id="1707" name="Text 26"/>
          <p:cNvSpPr txBox="1"/>
          <p:nvPr/>
        </p:nvSpPr>
        <p:spPr>
          <a:xfrm>
            <a:off x="22509956" y="3444478"/>
            <a:ext cx="782838" cy="56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+ Marketing Team</a:t>
            </a:r>
          </a:p>
        </p:txBody>
      </p:sp>
      <p:sp>
        <p:nvSpPr>
          <p:cNvPr id="1708" name="Shape 27"/>
          <p:cNvSpPr/>
          <p:nvPr/>
        </p:nvSpPr>
        <p:spPr>
          <a:xfrm>
            <a:off x="922338" y="4284265"/>
            <a:ext cx="22539325" cy="702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09" name="Text 28"/>
          <p:cNvSpPr txBox="1"/>
          <p:nvPr/>
        </p:nvSpPr>
        <p:spPr>
          <a:xfrm>
            <a:off x="1092001" y="4342210"/>
            <a:ext cx="1505882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Что входит в тарифы?</a:t>
            </a:r>
          </a:p>
        </p:txBody>
      </p:sp>
      <p:sp>
        <p:nvSpPr>
          <p:cNvPr id="1710" name="Text 29"/>
          <p:cNvSpPr txBox="1"/>
          <p:nvPr/>
        </p:nvSpPr>
        <p:spPr>
          <a:xfrm>
            <a:off x="4479131" y="4342210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Light (0 BYN): базовые функции; Student Pro (5,99 BYN): расширенные; Business (49 BYN): интеграция с 1С</a:t>
            </a:r>
          </a:p>
        </p:txBody>
      </p:sp>
      <p:sp>
        <p:nvSpPr>
          <p:cNvPr id="1711" name="Text 30"/>
          <p:cNvSpPr txBox="1"/>
          <p:nvPr/>
        </p:nvSpPr>
        <p:spPr>
          <a:xfrm>
            <a:off x="8986838" y="4342210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модель создает привыкание, как Spotify и Notion</a:t>
            </a:r>
          </a:p>
        </p:txBody>
      </p:sp>
      <p:sp>
        <p:nvSpPr>
          <p:cNvPr id="1712" name="Text 31"/>
          <p:cNvSpPr txBox="1"/>
          <p:nvPr/>
        </p:nvSpPr>
        <p:spPr>
          <a:xfrm>
            <a:off x="13494543" y="4342210"/>
            <a:ext cx="1323411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Июль-Декабрь 2026</a:t>
            </a:r>
          </a:p>
        </p:txBody>
      </p:sp>
      <p:sp>
        <p:nvSpPr>
          <p:cNvPr id="1713" name="Text 32"/>
          <p:cNvSpPr txBox="1"/>
          <p:nvPr/>
        </p:nvSpPr>
        <p:spPr>
          <a:xfrm>
            <a:off x="15748396" y="4342210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Тарифная сетка с четкими различиями между уровнями</a:t>
            </a:r>
          </a:p>
        </p:txBody>
      </p:sp>
      <p:sp>
        <p:nvSpPr>
          <p:cNvPr id="1714" name="Text 33"/>
          <p:cNvSpPr txBox="1"/>
          <p:nvPr/>
        </p:nvSpPr>
        <p:spPr>
          <a:xfrm>
            <a:off x="20256103" y="4342210"/>
            <a:ext cx="1903414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Маркетинг-бюджет: 8500 BYN</a:t>
            </a:r>
          </a:p>
        </p:txBody>
      </p:sp>
      <p:sp>
        <p:nvSpPr>
          <p:cNvPr id="1715" name="Text 34"/>
          <p:cNvSpPr txBox="1"/>
          <p:nvPr/>
        </p:nvSpPr>
        <p:spPr>
          <a:xfrm>
            <a:off x="22509956" y="4342210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 Team</a:t>
            </a:r>
          </a:p>
        </p:txBody>
      </p:sp>
      <p:sp>
        <p:nvSpPr>
          <p:cNvPr id="1716" name="Shape 35"/>
          <p:cNvSpPr/>
          <p:nvPr/>
        </p:nvSpPr>
        <p:spPr>
          <a:xfrm>
            <a:off x="922338" y="4986536"/>
            <a:ext cx="22539325" cy="897733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17" name="Text 36"/>
          <p:cNvSpPr txBox="1"/>
          <p:nvPr/>
        </p:nvSpPr>
        <p:spPr>
          <a:xfrm>
            <a:off x="1092001" y="5044479"/>
            <a:ext cx="969387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PRICE (ЦЕНА)</a:t>
            </a:r>
          </a:p>
        </p:txBody>
      </p:sp>
      <p:sp>
        <p:nvSpPr>
          <p:cNvPr id="1718" name="Text 37"/>
          <p:cNvSpPr txBox="1"/>
          <p:nvPr/>
        </p:nvSpPr>
        <p:spPr>
          <a:xfrm>
            <a:off x="4479131" y="5044479"/>
            <a:ext cx="415726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для B2C (привлечение), SaaS для B2B (доход)</a:t>
            </a:r>
          </a:p>
        </p:txBody>
      </p:sp>
      <p:sp>
        <p:nvSpPr>
          <p:cNvPr id="1719" name="Text 38"/>
          <p:cNvSpPr txBox="1"/>
          <p:nvPr/>
        </p:nvSpPr>
        <p:spPr>
          <a:xfrm>
            <a:off x="8986838" y="5044479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Низкий CAC (50 BYN), высокий ROMI (90%), окупаемость за 4-5 месяцев</a:t>
            </a:r>
          </a:p>
        </p:txBody>
      </p:sp>
      <p:sp>
        <p:nvSpPr>
          <p:cNvPr id="1720" name="Text 39"/>
          <p:cNvSpPr txBox="1"/>
          <p:nvPr/>
        </p:nvSpPr>
        <p:spPr>
          <a:xfrm>
            <a:off x="13494543" y="5044479"/>
            <a:ext cx="1903414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Сентябрь 2026 - Декабрь 2026</a:t>
            </a:r>
          </a:p>
        </p:txBody>
      </p:sp>
      <p:sp>
        <p:nvSpPr>
          <p:cNvPr id="1721" name="Text 40"/>
          <p:cNvSpPr txBox="1"/>
          <p:nvPr/>
        </p:nvSpPr>
        <p:spPr>
          <a:xfrm>
            <a:off x="15748396" y="5044479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Light (0 BYN) → Student Pro (5,99 BYN) → Business (49 BYN)</a:t>
            </a:r>
          </a:p>
        </p:txBody>
      </p:sp>
      <p:sp>
        <p:nvSpPr>
          <p:cNvPr id="1722" name="Text 41"/>
          <p:cNvSpPr txBox="1"/>
          <p:nvPr/>
        </p:nvSpPr>
        <p:spPr>
          <a:xfrm>
            <a:off x="20256103" y="5044479"/>
            <a:ext cx="1903414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Доход за 6 месяцев: 28476 BYN</a:t>
            </a:r>
          </a:p>
        </p:txBody>
      </p:sp>
      <p:sp>
        <p:nvSpPr>
          <p:cNvPr id="1723" name="Text 42"/>
          <p:cNvSpPr txBox="1"/>
          <p:nvPr/>
        </p:nvSpPr>
        <p:spPr>
          <a:xfrm>
            <a:off x="22509956" y="5044479"/>
            <a:ext cx="782838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Sales Team + Marketing</a:t>
            </a:r>
          </a:p>
        </p:txBody>
      </p:sp>
      <p:sp>
        <p:nvSpPr>
          <p:cNvPr id="1724" name="Shape 43"/>
          <p:cNvSpPr/>
          <p:nvPr/>
        </p:nvSpPr>
        <p:spPr>
          <a:xfrm>
            <a:off x="922338" y="5884266"/>
            <a:ext cx="22539325" cy="50681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25" name="Text 44"/>
          <p:cNvSpPr txBox="1"/>
          <p:nvPr/>
        </p:nvSpPr>
        <p:spPr>
          <a:xfrm>
            <a:off x="1092001" y="5942211"/>
            <a:ext cx="2393331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Сколько эта цена будет актуальна?</a:t>
            </a:r>
          </a:p>
        </p:txBody>
      </p:sp>
      <p:sp>
        <p:nvSpPr>
          <p:cNvPr id="1726" name="Text 45"/>
          <p:cNvSpPr txBox="1"/>
          <p:nvPr/>
        </p:nvSpPr>
        <p:spPr>
          <a:xfrm>
            <a:off x="4479131" y="594221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Цены фиксированные на 12 месяцев, затем пересмотр</a:t>
            </a:r>
          </a:p>
        </p:txBody>
      </p:sp>
      <p:sp>
        <p:nvSpPr>
          <p:cNvPr id="1727" name="Text 46"/>
          <p:cNvSpPr txBox="1"/>
          <p:nvPr/>
        </p:nvSpPr>
        <p:spPr>
          <a:xfrm>
            <a:off x="8986838" y="594221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Конкурентные цены (Приорбанк 4,99 BYN, но без AI)</a:t>
            </a:r>
          </a:p>
        </p:txBody>
      </p:sp>
      <p:sp>
        <p:nvSpPr>
          <p:cNvPr id="1728" name="Text 47"/>
          <p:cNvSpPr txBox="1"/>
          <p:nvPr/>
        </p:nvSpPr>
        <p:spPr>
          <a:xfrm>
            <a:off x="13494543" y="5942211"/>
            <a:ext cx="1508950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Ежегодный пересмотр</a:t>
            </a:r>
          </a:p>
        </p:txBody>
      </p:sp>
      <p:sp>
        <p:nvSpPr>
          <p:cNvPr id="1729" name="Text 48"/>
          <p:cNvSpPr txBox="1"/>
          <p:nvPr/>
        </p:nvSpPr>
        <p:spPr>
          <a:xfrm>
            <a:off x="15748396" y="5942211"/>
            <a:ext cx="3135010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Динамическое ценообразование для Enterprise</a:t>
            </a:r>
          </a:p>
        </p:txBody>
      </p:sp>
      <p:sp>
        <p:nvSpPr>
          <p:cNvPr id="1730" name="Text 49"/>
          <p:cNvSpPr txBox="1"/>
          <p:nvPr/>
        </p:nvSpPr>
        <p:spPr>
          <a:xfrm>
            <a:off x="20256103" y="5942211"/>
            <a:ext cx="1903414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Резерв на скидки: 500 BYN</a:t>
            </a:r>
          </a:p>
        </p:txBody>
      </p:sp>
      <p:sp>
        <p:nvSpPr>
          <p:cNvPr id="1731" name="Text 50"/>
          <p:cNvSpPr txBox="1"/>
          <p:nvPr/>
        </p:nvSpPr>
        <p:spPr>
          <a:xfrm>
            <a:off x="22509956" y="594221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Finance Team</a:t>
            </a:r>
          </a:p>
        </p:txBody>
      </p:sp>
      <p:sp>
        <p:nvSpPr>
          <p:cNvPr id="1732" name="Shape 51"/>
          <p:cNvSpPr/>
          <p:nvPr/>
        </p:nvSpPr>
        <p:spPr>
          <a:xfrm>
            <a:off x="922338" y="6391076"/>
            <a:ext cx="22539325" cy="702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3" name="Text 52"/>
          <p:cNvSpPr txBox="1"/>
          <p:nvPr/>
        </p:nvSpPr>
        <p:spPr>
          <a:xfrm>
            <a:off x="1092001" y="6449019"/>
            <a:ext cx="3036690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Какой будет объем продаж и прибыль?</a:t>
            </a:r>
          </a:p>
        </p:txBody>
      </p:sp>
      <p:sp>
        <p:nvSpPr>
          <p:cNvPr id="1734" name="Text 53"/>
          <p:cNvSpPr txBox="1"/>
          <p:nvPr/>
        </p:nvSpPr>
        <p:spPr>
          <a:xfrm>
            <a:off x="4479131" y="6449019"/>
            <a:ext cx="415726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B2C: 400 платящих пользователей; B2B: 50 клиентов МСБ</a:t>
            </a:r>
          </a:p>
        </p:txBody>
      </p:sp>
      <p:sp>
        <p:nvSpPr>
          <p:cNvPr id="1735" name="Text 54"/>
          <p:cNvSpPr txBox="1"/>
          <p:nvPr/>
        </p:nvSpPr>
        <p:spPr>
          <a:xfrm>
            <a:off x="8986838" y="6449019"/>
            <a:ext cx="415726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Конверсия 8% (Light → Student Pro), CAC ≤50 BYN</a:t>
            </a:r>
          </a:p>
        </p:txBody>
      </p:sp>
      <p:sp>
        <p:nvSpPr>
          <p:cNvPr id="1736" name="Text 55"/>
          <p:cNvSpPr txBox="1"/>
          <p:nvPr/>
        </p:nvSpPr>
        <p:spPr>
          <a:xfrm>
            <a:off x="13494543" y="6449019"/>
            <a:ext cx="1903414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Сентябрь-Декабрь 2026</a:t>
            </a:r>
          </a:p>
        </p:txBody>
      </p:sp>
      <p:sp>
        <p:nvSpPr>
          <p:cNvPr id="1737" name="Text 56"/>
          <p:cNvSpPr txBox="1"/>
          <p:nvPr/>
        </p:nvSpPr>
        <p:spPr>
          <a:xfrm>
            <a:off x="15748396" y="6449019"/>
            <a:ext cx="415726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Ежемесячный доход: 4846 BYN (2396 B2C + 2450 B2B)</a:t>
            </a:r>
          </a:p>
        </p:txBody>
      </p:sp>
      <p:sp>
        <p:nvSpPr>
          <p:cNvPr id="1738" name="Text 57"/>
          <p:cNvSpPr txBox="1"/>
          <p:nvPr/>
        </p:nvSpPr>
        <p:spPr>
          <a:xfrm>
            <a:off x="20256103" y="6449019"/>
            <a:ext cx="1903414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Прибыль за 6 месяцев: 13476 BYN</a:t>
            </a:r>
          </a:p>
        </p:txBody>
      </p:sp>
      <p:sp>
        <p:nvSpPr>
          <p:cNvPr id="1739" name="Text 58"/>
          <p:cNvSpPr txBox="1"/>
          <p:nvPr/>
        </p:nvSpPr>
        <p:spPr>
          <a:xfrm>
            <a:off x="22509956" y="6449019"/>
            <a:ext cx="782838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Finance + Sales Team</a:t>
            </a:r>
          </a:p>
        </p:txBody>
      </p:sp>
      <p:sp>
        <p:nvSpPr>
          <p:cNvPr id="1740" name="Shape 59"/>
          <p:cNvSpPr/>
          <p:nvPr/>
        </p:nvSpPr>
        <p:spPr>
          <a:xfrm>
            <a:off x="922338" y="7093346"/>
            <a:ext cx="22539325" cy="897733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1" name="Text 60"/>
          <p:cNvSpPr txBox="1"/>
          <p:nvPr/>
        </p:nvSpPr>
        <p:spPr>
          <a:xfrm>
            <a:off x="1092001" y="7151290"/>
            <a:ext cx="1885145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PLACE (РАСПРЕДЕЛЕНИЕ)</a:t>
            </a:r>
          </a:p>
        </p:txBody>
      </p:sp>
      <p:sp>
        <p:nvSpPr>
          <p:cNvPr id="1742" name="Text 61"/>
          <p:cNvSpPr txBox="1"/>
          <p:nvPr/>
        </p:nvSpPr>
        <p:spPr>
          <a:xfrm>
            <a:off x="4479131" y="7151290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Мобильное приложение (iOS, Android), веб-приложение, партнерские программы</a:t>
            </a:r>
          </a:p>
        </p:txBody>
      </p:sp>
      <p:sp>
        <p:nvSpPr>
          <p:cNvPr id="1743" name="Text 62"/>
          <p:cNvSpPr txBox="1"/>
          <p:nvPr/>
        </p:nvSpPr>
        <p:spPr>
          <a:xfrm>
            <a:off x="8986838" y="7151290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Молодежь активна в мобильных приложениях, МСБ предпочитает веб</a:t>
            </a:r>
          </a:p>
        </p:txBody>
      </p:sp>
      <p:sp>
        <p:nvSpPr>
          <p:cNvPr id="1744" name="Text 63"/>
          <p:cNvSpPr txBox="1"/>
          <p:nvPr/>
        </p:nvSpPr>
        <p:spPr>
          <a:xfrm>
            <a:off x="13494543" y="7151290"/>
            <a:ext cx="1903414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Август 2026 - запуск в App Store и Google Play</a:t>
            </a:r>
          </a:p>
        </p:txBody>
      </p:sp>
      <p:sp>
        <p:nvSpPr>
          <p:cNvPr id="1745" name="Text 64"/>
          <p:cNvSpPr txBox="1"/>
          <p:nvPr/>
        </p:nvSpPr>
        <p:spPr>
          <a:xfrm>
            <a:off x="15748396" y="7151290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App Store, Google Play, веб-сайт, партнерские каналы</a:t>
            </a:r>
          </a:p>
        </p:txBody>
      </p:sp>
      <p:sp>
        <p:nvSpPr>
          <p:cNvPr id="1746" name="Text 65"/>
          <p:cNvSpPr txBox="1"/>
          <p:nvPr/>
        </p:nvSpPr>
        <p:spPr>
          <a:xfrm>
            <a:off x="20256103" y="7151290"/>
            <a:ext cx="1502743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Разработка: 3000 BYN</a:t>
            </a:r>
          </a:p>
        </p:txBody>
      </p:sp>
      <p:sp>
        <p:nvSpPr>
          <p:cNvPr id="1747" name="Text 66"/>
          <p:cNvSpPr txBox="1"/>
          <p:nvPr/>
        </p:nvSpPr>
        <p:spPr>
          <a:xfrm>
            <a:off x="22509956" y="7151290"/>
            <a:ext cx="782838" cy="565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+ Marketing Team</a:t>
            </a:r>
          </a:p>
        </p:txBody>
      </p:sp>
      <p:sp>
        <p:nvSpPr>
          <p:cNvPr id="1748" name="Shape 67"/>
          <p:cNvSpPr/>
          <p:nvPr/>
        </p:nvSpPr>
        <p:spPr>
          <a:xfrm>
            <a:off x="922338" y="7991078"/>
            <a:ext cx="22539325" cy="50681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9" name="Text 68"/>
          <p:cNvSpPr txBox="1"/>
          <p:nvPr/>
        </p:nvSpPr>
        <p:spPr>
          <a:xfrm>
            <a:off x="1092001" y="8049021"/>
            <a:ext cx="2003563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Почему выбраны эти каналы?</a:t>
            </a:r>
          </a:p>
        </p:txBody>
      </p:sp>
      <p:sp>
        <p:nvSpPr>
          <p:cNvPr id="1750" name="Text 69"/>
          <p:cNvSpPr txBox="1"/>
          <p:nvPr/>
        </p:nvSpPr>
        <p:spPr>
          <a:xfrm>
            <a:off x="4479131" y="804902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Мобильные приложения — основной канал для целевой аудитории</a:t>
            </a:r>
          </a:p>
        </p:txBody>
      </p:sp>
      <p:sp>
        <p:nvSpPr>
          <p:cNvPr id="1751" name="Text 70"/>
          <p:cNvSpPr txBox="1"/>
          <p:nvPr/>
        </p:nvSpPr>
        <p:spPr>
          <a:xfrm>
            <a:off x="8986838" y="804902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92% молодежи используют смартфоны, МСБ работает через браузер</a:t>
            </a:r>
          </a:p>
        </p:txBody>
      </p:sp>
      <p:sp>
        <p:nvSpPr>
          <p:cNvPr id="1752" name="Text 71"/>
          <p:cNvSpPr txBox="1"/>
          <p:nvPr/>
        </p:nvSpPr>
        <p:spPr>
          <a:xfrm>
            <a:off x="13494543" y="8049021"/>
            <a:ext cx="719727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Постоянно</a:t>
            </a:r>
          </a:p>
        </p:txBody>
      </p:sp>
      <p:sp>
        <p:nvSpPr>
          <p:cNvPr id="1753" name="Text 72"/>
          <p:cNvSpPr txBox="1"/>
          <p:nvPr/>
        </p:nvSpPr>
        <p:spPr>
          <a:xfrm>
            <a:off x="15748396" y="804902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Оптимизация для мобильных устройств, быстрая загрузка</a:t>
            </a:r>
          </a:p>
        </p:txBody>
      </p:sp>
      <p:sp>
        <p:nvSpPr>
          <p:cNvPr id="1754" name="Text 73"/>
          <p:cNvSpPr txBox="1"/>
          <p:nvPr/>
        </p:nvSpPr>
        <p:spPr>
          <a:xfrm>
            <a:off x="20256103" y="8049021"/>
            <a:ext cx="1903414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Включено в разработку</a:t>
            </a:r>
          </a:p>
        </p:txBody>
      </p:sp>
      <p:sp>
        <p:nvSpPr>
          <p:cNvPr id="1755" name="Text 74"/>
          <p:cNvSpPr txBox="1"/>
          <p:nvPr/>
        </p:nvSpPr>
        <p:spPr>
          <a:xfrm>
            <a:off x="22509956" y="804902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Product Team</a:t>
            </a:r>
          </a:p>
        </p:txBody>
      </p:sp>
      <p:sp>
        <p:nvSpPr>
          <p:cNvPr id="1756" name="Shape 75"/>
          <p:cNvSpPr/>
          <p:nvPr/>
        </p:nvSpPr>
        <p:spPr>
          <a:xfrm>
            <a:off x="922338" y="8497888"/>
            <a:ext cx="22539325" cy="50681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57" name="Text 76"/>
          <p:cNvSpPr txBox="1"/>
          <p:nvPr/>
        </p:nvSpPr>
        <p:spPr>
          <a:xfrm>
            <a:off x="1092001" y="8555831"/>
            <a:ext cx="3036690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Когда покупатели будут выбирать канал?</a:t>
            </a:r>
          </a:p>
        </p:txBody>
      </p:sp>
      <p:sp>
        <p:nvSpPr>
          <p:cNvPr id="1758" name="Text 77"/>
          <p:cNvSpPr txBox="1"/>
          <p:nvPr/>
        </p:nvSpPr>
        <p:spPr>
          <a:xfrm>
            <a:off x="4479131" y="8555831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Молодежь: через App Store/Google Play; МСБ: через веб-сайт и LinkedIn</a:t>
            </a:r>
          </a:p>
        </p:txBody>
      </p:sp>
      <p:sp>
        <p:nvSpPr>
          <p:cNvPr id="1759" name="Text 78"/>
          <p:cNvSpPr txBox="1"/>
          <p:nvPr/>
        </p:nvSpPr>
        <p:spPr>
          <a:xfrm>
            <a:off x="8986838" y="8555831"/>
            <a:ext cx="227709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Удобство, скорость, безопасность</a:t>
            </a:r>
          </a:p>
        </p:txBody>
      </p:sp>
      <p:sp>
        <p:nvSpPr>
          <p:cNvPr id="1760" name="Text 79"/>
          <p:cNvSpPr txBox="1"/>
          <p:nvPr/>
        </p:nvSpPr>
        <p:spPr>
          <a:xfrm>
            <a:off x="13494543" y="8555831"/>
            <a:ext cx="1903414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Сентябрь 2026 - Декабрь 2026</a:t>
            </a:r>
          </a:p>
        </p:txBody>
      </p:sp>
      <p:sp>
        <p:nvSpPr>
          <p:cNvPr id="1761" name="Text 80"/>
          <p:cNvSpPr txBox="1"/>
          <p:nvPr/>
        </p:nvSpPr>
        <p:spPr>
          <a:xfrm>
            <a:off x="15748396" y="8555831"/>
            <a:ext cx="415726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 в Instagram/TikTok (B2C), LinkedIn (B2B)</a:t>
            </a:r>
          </a:p>
        </p:txBody>
      </p:sp>
      <p:sp>
        <p:nvSpPr>
          <p:cNvPr id="1762" name="Text 81"/>
          <p:cNvSpPr txBox="1"/>
          <p:nvPr/>
        </p:nvSpPr>
        <p:spPr>
          <a:xfrm>
            <a:off x="20256103" y="8555831"/>
            <a:ext cx="1903414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Маркетинг-бюджет: 6000 BYN</a:t>
            </a:r>
          </a:p>
        </p:txBody>
      </p:sp>
      <p:sp>
        <p:nvSpPr>
          <p:cNvPr id="1763" name="Text 82"/>
          <p:cNvSpPr txBox="1"/>
          <p:nvPr/>
        </p:nvSpPr>
        <p:spPr>
          <a:xfrm>
            <a:off x="22509956" y="8555831"/>
            <a:ext cx="782838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 Team</a:t>
            </a:r>
          </a:p>
        </p:txBody>
      </p:sp>
      <p:sp>
        <p:nvSpPr>
          <p:cNvPr id="1764" name="Shape 83"/>
          <p:cNvSpPr/>
          <p:nvPr/>
        </p:nvSpPr>
        <p:spPr>
          <a:xfrm>
            <a:off x="922338" y="9004696"/>
            <a:ext cx="22539325" cy="897733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65" name="Text 84"/>
          <p:cNvSpPr txBox="1"/>
          <p:nvPr/>
        </p:nvSpPr>
        <p:spPr>
          <a:xfrm>
            <a:off x="1092001" y="9062639"/>
            <a:ext cx="2416183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Какая стоимость и отдача каналов?</a:t>
            </a:r>
          </a:p>
        </p:txBody>
      </p:sp>
      <p:sp>
        <p:nvSpPr>
          <p:cNvPr id="1766" name="Text 85"/>
          <p:cNvSpPr txBox="1"/>
          <p:nvPr/>
        </p:nvSpPr>
        <p:spPr>
          <a:xfrm>
            <a:off x="4479131" y="9062639"/>
            <a:ext cx="4157266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CAC через Instagram: 40 BYN; через LinkedIn: 400 BYN</a:t>
            </a:r>
          </a:p>
        </p:txBody>
      </p:sp>
      <p:sp>
        <p:nvSpPr>
          <p:cNvPr id="1767" name="Text 86"/>
          <p:cNvSpPr txBox="1"/>
          <p:nvPr/>
        </p:nvSpPr>
        <p:spPr>
          <a:xfrm>
            <a:off x="8986838" y="9062639"/>
            <a:ext cx="4157266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Instagram/TikTok дешевле, LinkedIn дороже, но выше конверсия</a:t>
            </a:r>
          </a:p>
        </p:txBody>
      </p:sp>
      <p:sp>
        <p:nvSpPr>
          <p:cNvPr id="1768" name="Text 87"/>
          <p:cNvSpPr txBox="1"/>
          <p:nvPr/>
        </p:nvSpPr>
        <p:spPr>
          <a:xfrm>
            <a:off x="13494543" y="9062639"/>
            <a:ext cx="1400969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Август-Декабрь 2026</a:t>
            </a:r>
          </a:p>
        </p:txBody>
      </p:sp>
      <p:sp>
        <p:nvSpPr>
          <p:cNvPr id="1769" name="Text 88"/>
          <p:cNvSpPr txBox="1"/>
          <p:nvPr/>
        </p:nvSpPr>
        <p:spPr>
          <a:xfrm>
            <a:off x="15748396" y="9062639"/>
            <a:ext cx="3318298" cy="184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A/B тестирование каналов, оптимизация по ROMI</a:t>
            </a:r>
          </a:p>
        </p:txBody>
      </p:sp>
      <p:sp>
        <p:nvSpPr>
          <p:cNvPr id="1770" name="Text 89"/>
          <p:cNvSpPr txBox="1"/>
          <p:nvPr/>
        </p:nvSpPr>
        <p:spPr>
          <a:xfrm>
            <a:off x="20256103" y="9062639"/>
            <a:ext cx="1903414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Бюджет на тестирование: 1000 BYN</a:t>
            </a:r>
          </a:p>
        </p:txBody>
      </p:sp>
      <p:sp>
        <p:nvSpPr>
          <p:cNvPr id="1771" name="Text 90"/>
          <p:cNvSpPr txBox="1"/>
          <p:nvPr/>
        </p:nvSpPr>
        <p:spPr>
          <a:xfrm>
            <a:off x="22509956" y="9062639"/>
            <a:ext cx="782838" cy="565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 + Analytics Team</a:t>
            </a:r>
          </a:p>
        </p:txBody>
      </p:sp>
      <p:sp>
        <p:nvSpPr>
          <p:cNvPr id="1772" name="Shape 91"/>
          <p:cNvSpPr/>
          <p:nvPr/>
        </p:nvSpPr>
        <p:spPr>
          <a:xfrm>
            <a:off x="922338" y="9902428"/>
            <a:ext cx="22539325" cy="70227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73" name="Text 92"/>
          <p:cNvSpPr txBox="1"/>
          <p:nvPr/>
        </p:nvSpPr>
        <p:spPr>
          <a:xfrm>
            <a:off x="1092001" y="9960371"/>
            <a:ext cx="2141285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PROMOTION (ПРОДВИЖЕНИЕ)</a:t>
            </a:r>
          </a:p>
        </p:txBody>
      </p:sp>
      <p:sp>
        <p:nvSpPr>
          <p:cNvPr id="1774" name="Text 93"/>
          <p:cNvSpPr txBox="1"/>
          <p:nvPr/>
        </p:nvSpPr>
        <p:spPr>
          <a:xfrm>
            <a:off x="4479131" y="996037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Социальные сети (Instagram, TikTok, LinkedIn), email-маркетинг, контент, PR</a:t>
            </a:r>
          </a:p>
        </p:txBody>
      </p:sp>
      <p:sp>
        <p:nvSpPr>
          <p:cNvPr id="1775" name="Text 94"/>
          <p:cNvSpPr txBox="1"/>
          <p:nvPr/>
        </p:nvSpPr>
        <p:spPr>
          <a:xfrm>
            <a:off x="8986838" y="996037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Молодежь в соцсетях, МСБ в LinkedIn, все читают email</a:t>
            </a:r>
          </a:p>
        </p:txBody>
      </p:sp>
      <p:sp>
        <p:nvSpPr>
          <p:cNvPr id="1776" name="Text 95"/>
          <p:cNvSpPr txBox="1"/>
          <p:nvPr/>
        </p:nvSpPr>
        <p:spPr>
          <a:xfrm>
            <a:off x="13494543" y="9960371"/>
            <a:ext cx="1903414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Август 2026 - Декабрь 2026</a:t>
            </a:r>
          </a:p>
        </p:txBody>
      </p:sp>
      <p:sp>
        <p:nvSpPr>
          <p:cNvPr id="1777" name="Text 96"/>
          <p:cNvSpPr txBox="1"/>
          <p:nvPr/>
        </p:nvSpPr>
        <p:spPr>
          <a:xfrm>
            <a:off x="15748396" y="996037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Реклама в соцсетях (4000 BYN), email-кампании (1000 BYN), PR (1500 BYN)</a:t>
            </a:r>
          </a:p>
        </p:txBody>
      </p:sp>
      <p:sp>
        <p:nvSpPr>
          <p:cNvPr id="1778" name="Text 97"/>
          <p:cNvSpPr txBox="1"/>
          <p:nvPr/>
        </p:nvSpPr>
        <p:spPr>
          <a:xfrm>
            <a:off x="20256103" y="9960371"/>
            <a:ext cx="1903414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Маркетинг-бюджет: 8500 BYN</a:t>
            </a:r>
          </a:p>
        </p:txBody>
      </p:sp>
      <p:sp>
        <p:nvSpPr>
          <p:cNvPr id="1779" name="Text 98"/>
          <p:cNvSpPr txBox="1"/>
          <p:nvPr/>
        </p:nvSpPr>
        <p:spPr>
          <a:xfrm>
            <a:off x="22509956" y="996037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 + PR Team</a:t>
            </a:r>
          </a:p>
        </p:txBody>
      </p:sp>
      <p:sp>
        <p:nvSpPr>
          <p:cNvPr id="1780" name="Shape 99"/>
          <p:cNvSpPr/>
          <p:nvPr/>
        </p:nvSpPr>
        <p:spPr>
          <a:xfrm>
            <a:off x="922338" y="10604698"/>
            <a:ext cx="22539325" cy="50681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1" name="Text 100"/>
          <p:cNvSpPr txBox="1"/>
          <p:nvPr/>
        </p:nvSpPr>
        <p:spPr>
          <a:xfrm>
            <a:off x="1092001" y="10662641"/>
            <a:ext cx="3036690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Почему выбраны эти виды рекламы?</a:t>
            </a:r>
          </a:p>
        </p:txBody>
      </p:sp>
      <p:sp>
        <p:nvSpPr>
          <p:cNvPr id="1782" name="Text 101"/>
          <p:cNvSpPr txBox="1"/>
          <p:nvPr/>
        </p:nvSpPr>
        <p:spPr>
          <a:xfrm>
            <a:off x="4479131" y="1066264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Низкая стоимость, высокая целевая аудитория, измеримость</a:t>
            </a:r>
          </a:p>
        </p:txBody>
      </p:sp>
      <p:sp>
        <p:nvSpPr>
          <p:cNvPr id="1783" name="Text 102"/>
          <p:cNvSpPr txBox="1"/>
          <p:nvPr/>
        </p:nvSpPr>
        <p:spPr>
          <a:xfrm>
            <a:off x="8986838" y="1066264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Социальные сети дают 2000+ трафика в месяц, email — 800+</a:t>
            </a:r>
          </a:p>
        </p:txBody>
      </p:sp>
      <p:sp>
        <p:nvSpPr>
          <p:cNvPr id="1784" name="Text 103"/>
          <p:cNvSpPr txBox="1"/>
          <p:nvPr/>
        </p:nvSpPr>
        <p:spPr>
          <a:xfrm>
            <a:off x="13494543" y="10662641"/>
            <a:ext cx="719727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Постоянно</a:t>
            </a:r>
          </a:p>
        </p:txBody>
      </p:sp>
      <p:sp>
        <p:nvSpPr>
          <p:cNvPr id="1785" name="Text 104"/>
          <p:cNvSpPr txBox="1"/>
          <p:nvPr/>
        </p:nvSpPr>
        <p:spPr>
          <a:xfrm>
            <a:off x="15748396" y="1066264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Таргетированная реклама, ретаргетинг, программа реферралов</a:t>
            </a:r>
          </a:p>
        </p:txBody>
      </p:sp>
      <p:sp>
        <p:nvSpPr>
          <p:cNvPr id="1786" name="Text 105"/>
          <p:cNvSpPr txBox="1"/>
          <p:nvPr/>
        </p:nvSpPr>
        <p:spPr>
          <a:xfrm>
            <a:off x="20256103" y="10662641"/>
            <a:ext cx="1903414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Включено в маркетинг-бюджет</a:t>
            </a:r>
          </a:p>
        </p:txBody>
      </p:sp>
      <p:sp>
        <p:nvSpPr>
          <p:cNvPr id="1787" name="Text 106"/>
          <p:cNvSpPr txBox="1"/>
          <p:nvPr/>
        </p:nvSpPr>
        <p:spPr>
          <a:xfrm>
            <a:off x="22509956" y="1066264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Marketing Team</a:t>
            </a:r>
          </a:p>
        </p:txBody>
      </p:sp>
      <p:sp>
        <p:nvSpPr>
          <p:cNvPr id="1788" name="Shape 107"/>
          <p:cNvSpPr/>
          <p:nvPr/>
        </p:nvSpPr>
        <p:spPr>
          <a:xfrm>
            <a:off x="922338" y="11111507"/>
            <a:ext cx="22539325" cy="50681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89" name="Text 108"/>
          <p:cNvSpPr txBox="1"/>
          <p:nvPr/>
        </p:nvSpPr>
        <p:spPr>
          <a:xfrm>
            <a:off x="1092001" y="11169451"/>
            <a:ext cx="3036690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Временные рамки: запуск, жизнение, цикл</a:t>
            </a:r>
          </a:p>
        </p:txBody>
      </p:sp>
      <p:sp>
        <p:nvSpPr>
          <p:cNvPr id="1790" name="Text 109"/>
          <p:cNvSpPr txBox="1"/>
          <p:nvPr/>
        </p:nvSpPr>
        <p:spPr>
          <a:xfrm>
            <a:off x="4479131" y="1116945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Запуск: Август 2026; Жизненный цикл: 6+ месяцев; Цикл: ежемесячная оптимизация</a:t>
            </a:r>
          </a:p>
        </p:txBody>
      </p:sp>
      <p:sp>
        <p:nvSpPr>
          <p:cNvPr id="1791" name="Text 110"/>
          <p:cNvSpPr txBox="1"/>
          <p:nvPr/>
        </p:nvSpPr>
        <p:spPr>
          <a:xfrm>
            <a:off x="8986838" y="1116945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Freemium модель требует постоянного привлечения новых пользователей</a:t>
            </a:r>
          </a:p>
        </p:txBody>
      </p:sp>
      <p:sp>
        <p:nvSpPr>
          <p:cNvPr id="1792" name="Text 111"/>
          <p:cNvSpPr txBox="1"/>
          <p:nvPr/>
        </p:nvSpPr>
        <p:spPr>
          <a:xfrm>
            <a:off x="13494543" y="11169451"/>
            <a:ext cx="1903414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Июль 2026 - Декабрь 2026</a:t>
            </a:r>
          </a:p>
        </p:txBody>
      </p:sp>
      <p:sp>
        <p:nvSpPr>
          <p:cNvPr id="1793" name="Text 112"/>
          <p:cNvSpPr txBox="1"/>
          <p:nvPr/>
        </p:nvSpPr>
        <p:spPr>
          <a:xfrm>
            <a:off x="15748396" y="11169451"/>
            <a:ext cx="415726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Еженедельные отчеты по KPI, ежемесячная оптимизация</a:t>
            </a:r>
          </a:p>
        </p:txBody>
      </p:sp>
      <p:sp>
        <p:nvSpPr>
          <p:cNvPr id="1794" name="Text 113"/>
          <p:cNvSpPr txBox="1"/>
          <p:nvPr/>
        </p:nvSpPr>
        <p:spPr>
          <a:xfrm>
            <a:off x="20256103" y="11169451"/>
            <a:ext cx="1444626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Аналитика: 2500 BYN</a:t>
            </a:r>
          </a:p>
        </p:txBody>
      </p:sp>
      <p:sp>
        <p:nvSpPr>
          <p:cNvPr id="1795" name="Text 114"/>
          <p:cNvSpPr txBox="1"/>
          <p:nvPr/>
        </p:nvSpPr>
        <p:spPr>
          <a:xfrm>
            <a:off x="22509956" y="1116945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Analytics Team</a:t>
            </a:r>
          </a:p>
        </p:txBody>
      </p:sp>
      <p:sp>
        <p:nvSpPr>
          <p:cNvPr id="1796" name="Shape 115"/>
          <p:cNvSpPr/>
          <p:nvPr/>
        </p:nvSpPr>
        <p:spPr>
          <a:xfrm>
            <a:off x="922338" y="11618316"/>
            <a:ext cx="22539325" cy="702271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7" name="Text 116"/>
          <p:cNvSpPr txBox="1"/>
          <p:nvPr/>
        </p:nvSpPr>
        <p:spPr>
          <a:xfrm>
            <a:off x="1092001" y="11676261"/>
            <a:ext cx="3036690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Как эти виды рекламы будут выполнены?</a:t>
            </a:r>
          </a:p>
        </p:txBody>
      </p:sp>
      <p:sp>
        <p:nvSpPr>
          <p:cNvPr id="1798" name="Text 117"/>
          <p:cNvSpPr txBox="1"/>
          <p:nvPr/>
        </p:nvSpPr>
        <p:spPr>
          <a:xfrm>
            <a:off x="4479131" y="1167626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Контент-маркетинг (блог, видео), вебинары, демо-сессии, программа реферралов</a:t>
            </a:r>
          </a:p>
        </p:txBody>
      </p:sp>
      <p:sp>
        <p:nvSpPr>
          <p:cNvPr id="1799" name="Text 118"/>
          <p:cNvSpPr txBox="1"/>
          <p:nvPr/>
        </p:nvSpPr>
        <p:spPr>
          <a:xfrm>
            <a:off x="8986838" y="1167626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Контент создает доверие, вебинары — конверсию, реферралы — органический рост</a:t>
            </a:r>
          </a:p>
        </p:txBody>
      </p:sp>
      <p:sp>
        <p:nvSpPr>
          <p:cNvPr id="1800" name="Text 119"/>
          <p:cNvSpPr txBox="1"/>
          <p:nvPr/>
        </p:nvSpPr>
        <p:spPr>
          <a:xfrm>
            <a:off x="13494543" y="11676261"/>
            <a:ext cx="1903414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Сентябрь-Декабрь 2026</a:t>
            </a:r>
          </a:p>
        </p:txBody>
      </p:sp>
      <p:sp>
        <p:nvSpPr>
          <p:cNvPr id="1801" name="Text 120"/>
          <p:cNvSpPr txBox="1"/>
          <p:nvPr/>
        </p:nvSpPr>
        <p:spPr>
          <a:xfrm>
            <a:off x="15748396" y="1167626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YouTube-канал (2000 BYN), вебинары (1000 BYN), реферралы (500 BYN)</a:t>
            </a:r>
          </a:p>
        </p:txBody>
      </p:sp>
      <p:sp>
        <p:nvSpPr>
          <p:cNvPr id="1802" name="Text 121"/>
          <p:cNvSpPr txBox="1"/>
          <p:nvPr/>
        </p:nvSpPr>
        <p:spPr>
          <a:xfrm>
            <a:off x="20256103" y="11676261"/>
            <a:ext cx="1903414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Контент-бюджет: 4000 BYN</a:t>
            </a:r>
          </a:p>
        </p:txBody>
      </p:sp>
      <p:sp>
        <p:nvSpPr>
          <p:cNvPr id="1803" name="Text 122"/>
          <p:cNvSpPr txBox="1"/>
          <p:nvPr/>
        </p:nvSpPr>
        <p:spPr>
          <a:xfrm>
            <a:off x="22509956" y="1167626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Content + Sales Team</a:t>
            </a:r>
          </a:p>
        </p:txBody>
      </p:sp>
      <p:sp>
        <p:nvSpPr>
          <p:cNvPr id="1804" name="Shape 123"/>
          <p:cNvSpPr/>
          <p:nvPr/>
        </p:nvSpPr>
        <p:spPr>
          <a:xfrm>
            <a:off x="922338" y="12320587"/>
            <a:ext cx="22539325" cy="506811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5" name="Text 124"/>
          <p:cNvSpPr txBox="1"/>
          <p:nvPr/>
        </p:nvSpPr>
        <p:spPr>
          <a:xfrm>
            <a:off x="1092001" y="12378531"/>
            <a:ext cx="584735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Почему?</a:t>
            </a:r>
          </a:p>
        </p:txBody>
      </p:sp>
      <p:sp>
        <p:nvSpPr>
          <p:cNvPr id="1806" name="Text 125"/>
          <p:cNvSpPr txBox="1"/>
          <p:nvPr/>
        </p:nvSpPr>
        <p:spPr>
          <a:xfrm>
            <a:off x="4479131" y="1237853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Контент-маркетинг дает долгосрочный результат, вебинары — высокую конверсию</a:t>
            </a:r>
          </a:p>
        </p:txBody>
      </p:sp>
      <p:sp>
        <p:nvSpPr>
          <p:cNvPr id="1807" name="Text 126"/>
          <p:cNvSpPr txBox="1"/>
          <p:nvPr/>
        </p:nvSpPr>
        <p:spPr>
          <a:xfrm>
            <a:off x="8986838" y="1237853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Органический трафик дешевле платной рекламы, реферралы — самые дешевые</a:t>
            </a:r>
          </a:p>
        </p:txBody>
      </p:sp>
      <p:sp>
        <p:nvSpPr>
          <p:cNvPr id="1808" name="Text 127"/>
          <p:cNvSpPr txBox="1"/>
          <p:nvPr/>
        </p:nvSpPr>
        <p:spPr>
          <a:xfrm>
            <a:off x="13494543" y="12378531"/>
            <a:ext cx="719727" cy="184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Постоянно</a:t>
            </a:r>
          </a:p>
        </p:txBody>
      </p:sp>
      <p:sp>
        <p:nvSpPr>
          <p:cNvPr id="1809" name="Text 128"/>
          <p:cNvSpPr txBox="1"/>
          <p:nvPr/>
        </p:nvSpPr>
        <p:spPr>
          <a:xfrm>
            <a:off x="15748396" y="12378531"/>
            <a:ext cx="4157266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Создание 4 видео в месяц, 2 вебинара в месяц, программа реферралов</a:t>
            </a:r>
          </a:p>
        </p:txBody>
      </p:sp>
      <p:sp>
        <p:nvSpPr>
          <p:cNvPr id="1810" name="Text 129"/>
          <p:cNvSpPr txBox="1"/>
          <p:nvPr/>
        </p:nvSpPr>
        <p:spPr>
          <a:xfrm>
            <a:off x="20256103" y="12378531"/>
            <a:ext cx="1903414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Включено в контент-бюджет</a:t>
            </a:r>
          </a:p>
        </p:txBody>
      </p:sp>
      <p:sp>
        <p:nvSpPr>
          <p:cNvPr id="1811" name="Text 130"/>
          <p:cNvSpPr txBox="1"/>
          <p:nvPr/>
        </p:nvSpPr>
        <p:spPr>
          <a:xfrm>
            <a:off x="22509956" y="12378531"/>
            <a:ext cx="782838" cy="375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1500"/>
              </a:lnSpc>
              <a:spcBef>
                <a:spcPts val="0"/>
              </a:spcBef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Content Team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Text 0"/>
          <p:cNvSpPr txBox="1"/>
          <p:nvPr/>
        </p:nvSpPr>
        <p:spPr>
          <a:xfrm>
            <a:off x="1281708" y="1139031"/>
            <a:ext cx="11223179" cy="72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800"/>
              </a:lnSpc>
              <a:spcBef>
                <a:spcPts val="0"/>
              </a:spcBef>
              <a:defRPr b="1" sz="4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7. Ключевые выводы и рекомендации</a:t>
            </a:r>
          </a:p>
        </p:txBody>
      </p:sp>
      <p:sp>
        <p:nvSpPr>
          <p:cNvPr id="1814" name="Text 1"/>
          <p:cNvSpPr txBox="1"/>
          <p:nvPr/>
        </p:nvSpPr>
        <p:spPr>
          <a:xfrm>
            <a:off x="1281708" y="1942703"/>
            <a:ext cx="12098587" cy="579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600"/>
              </a:lnSpc>
              <a:spcBef>
                <a:spcPts val="0"/>
              </a:spcBef>
              <a:defRPr b="1" sz="3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Итоговый анализ маркетингового плана FinHelper AI</a:t>
            </a:r>
          </a:p>
        </p:txBody>
      </p:sp>
      <p:sp>
        <p:nvSpPr>
          <p:cNvPr id="1815" name="Text 2"/>
          <p:cNvSpPr txBox="1"/>
          <p:nvPr/>
        </p:nvSpPr>
        <p:spPr>
          <a:xfrm>
            <a:off x="1281708" y="2912268"/>
            <a:ext cx="3832251" cy="43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5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КЛЮЧЕВЫЕ ВЫВОДЫ:</a:t>
            </a:r>
          </a:p>
        </p:txBody>
      </p:sp>
      <p:sp>
        <p:nvSpPr>
          <p:cNvPr id="1816" name="Text 3"/>
          <p:cNvSpPr txBox="1"/>
          <p:nvPr/>
        </p:nvSpPr>
        <p:spPr>
          <a:xfrm>
            <a:off x="1281708" y="3508176"/>
            <a:ext cx="10619979" cy="2965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Маркетинговый план реалистичен и достижим за 6 месяцев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Бюджет 40000 BYN обеспечивает ROMI 90% и окупаемость за 4-5 месяцев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Freemium + SaaS модель оптимальна для B2C и B2B сегментов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Целевые KPI: 5000 пользователей (B2C) + 50 клиентов (B2B)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Ежемесячный доход: 4846 BYN (к концу периода)</a:t>
            </a: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Критические факторы успеха: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Качество MVP (финализация к сентябрю)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Эффективность маркетинга (CAC ≤50 BYN)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Удержание пользователей (Retention ≥40%)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Конверсия в платные тарифы (≥8%)</a:t>
            </a:r>
          </a:p>
        </p:txBody>
      </p:sp>
      <p:sp>
        <p:nvSpPr>
          <p:cNvPr id="1817" name="Text 4"/>
          <p:cNvSpPr txBox="1"/>
          <p:nvPr/>
        </p:nvSpPr>
        <p:spPr>
          <a:xfrm>
            <a:off x="12495013" y="2912268"/>
            <a:ext cx="2994175" cy="431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3500"/>
              </a:lnSpc>
              <a:spcBef>
                <a:spcPts val="0"/>
              </a:spcBef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РЕКОМЕНДАЦИИ:</a:t>
            </a:r>
          </a:p>
        </p:txBody>
      </p:sp>
      <p:sp>
        <p:nvSpPr>
          <p:cNvPr id="1818" name="Text 5"/>
          <p:cNvSpPr txBox="1"/>
          <p:nvPr/>
        </p:nvSpPr>
        <p:spPr>
          <a:xfrm>
            <a:off x="12495013" y="3508176"/>
            <a:ext cx="10619979" cy="8889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Приоритет 1: Завершить разработку MVP к сентябрю 2026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Критический путь: финализация, QA, интеграция с 1С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Риск: задержка разработки → задержка запуска → потеря времени на рынке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Приоритет 2: Запустить маркетинг-кампании в августе (за месяц до запуска)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Создать базу заинтересованных пользователей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Достичь 1000+ регистраций к сентябрю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Приоритет 3: Отслеживать KPI еженедельно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Если CAC &gt; 50 BYN → оптимизировать каналы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Если Retention &lt; 40% → улучшить UX/функции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Если конверсия &lt; 8% → пересмотреть ценообразование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Приоритет 4: Подготовить B2B продажи параллельно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Начать переговоры с МСБ в августе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Предложить бесплатный триал (14 дней) для тестирования интеграции с 1С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Риски и способы их снижения: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Риск: Конкуренция от Приорбанка и Альфа-Банка                 </a:t>
            </a:r>
          </a:p>
          <a:p>
            <a:pPr lvl="2" marL="1246909" indent="-561109" defTabSz="1524000">
              <a:lnSpc>
                <a:spcPts val="2300"/>
              </a:lnSpc>
              <a:spcBef>
                <a:spcPts val="0"/>
              </a:spcBef>
              <a:buSzPct val="100000"/>
              <a:buFont typeface="Helvetica"/>
              <a:buChar char="￭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Решение: Фокус на AI-функциях, которых нет у конкурентов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Риск: Низкая конверсия в платные тарифы                 </a:t>
            </a:r>
          </a:p>
          <a:p>
            <a:pPr lvl="2" marL="1246909" indent="-561109" defTabSz="1524000">
              <a:lnSpc>
                <a:spcPts val="2300"/>
              </a:lnSpc>
              <a:spcBef>
                <a:spcPts val="0"/>
              </a:spcBef>
              <a:buSzPct val="100000"/>
              <a:buFont typeface="Helvetica"/>
              <a:buChar char="￭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Решение: A/B тестирование ценообразования, улучшение UX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Риск: Высокий Churn Rate                 </a:t>
            </a:r>
          </a:p>
          <a:p>
            <a:pPr lvl="2" marL="1246909" indent="-561109" defTabSz="1524000">
              <a:lnSpc>
                <a:spcPts val="2300"/>
              </a:lnSpc>
              <a:spcBef>
                <a:spcPts val="0"/>
              </a:spcBef>
              <a:buSzPct val="100000"/>
              <a:buFont typeface="Helvetica"/>
              <a:buChar char="￭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Решение: Email-маркетинг, push-уведомления, вебинары</a:t>
            </a:r>
          </a:p>
          <a:p>
            <a:pPr defTabSz="1524000">
              <a:lnSpc>
                <a:spcPts val="2300"/>
              </a:lnSpc>
              <a:spcBef>
                <a:spcPts val="0"/>
              </a:spcBef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</a:p>
          <a:p>
            <a:pPr marL="5611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•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Возможности для масштабирования (после 6 месяцев):             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Расширение на соседние страны (Россия, Украина)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Добавление новых функций (инвестиции, кредиты)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Партнерства с банками и финтех-компаниями</a:t>
            </a:r>
          </a:p>
          <a:p>
            <a:pPr lvl="1" marL="904009" indent="-561109" defTabSz="1524000">
              <a:lnSpc>
                <a:spcPts val="2300"/>
              </a:lnSpc>
              <a:spcBef>
                <a:spcPts val="0"/>
              </a:spcBef>
              <a:buSzPct val="100000"/>
              <a:buChar char="◦"/>
              <a:defRPr sz="2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Корпоративные решения (Enterprise)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Text 0"/>
          <p:cNvSpPr txBox="1"/>
          <p:nvPr/>
        </p:nvSpPr>
        <p:spPr>
          <a:xfrm>
            <a:off x="1116410" y="897930"/>
            <a:ext cx="15274777" cy="624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8. Расширенная модель пятиэтапного процесса маркетинга</a:t>
            </a:r>
          </a:p>
        </p:txBody>
      </p:sp>
      <p:sp>
        <p:nvSpPr>
          <p:cNvPr id="1821" name="Text 1"/>
          <p:cNvSpPr txBox="1"/>
          <p:nvPr/>
        </p:nvSpPr>
        <p:spPr>
          <a:xfrm>
            <a:off x="1116410" y="1591270"/>
            <a:ext cx="13358305" cy="494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Интеграция всех элементов маркетингового плана в единый процесс</a:t>
            </a:r>
          </a:p>
        </p:txBody>
      </p:sp>
      <p:sp>
        <p:nvSpPr>
          <p:cNvPr id="1822" name="Text 2"/>
          <p:cNvSpPr txBox="1"/>
          <p:nvPr/>
        </p:nvSpPr>
        <p:spPr>
          <a:xfrm>
            <a:off x="1116410" y="2287581"/>
            <a:ext cx="21046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823" name="Shape 3"/>
          <p:cNvSpPr/>
          <p:nvPr/>
        </p:nvSpPr>
        <p:spPr>
          <a:xfrm>
            <a:off x="1116410" y="2606873"/>
            <a:ext cx="7307859" cy="254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24" name="Text 4"/>
          <p:cNvSpPr txBox="1"/>
          <p:nvPr/>
        </p:nvSpPr>
        <p:spPr>
          <a:xfrm>
            <a:off x="1116410" y="2761258"/>
            <a:ext cx="7307859" cy="62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1: УСВОИТЬ ОСОБЕННОСТИ РЫНКА И ПОТРЕБНОСТИ КЛИЕНТОВ</a:t>
            </a:r>
          </a:p>
        </p:txBody>
      </p:sp>
      <p:sp>
        <p:nvSpPr>
          <p:cNvPr id="1825" name="Text 5"/>
          <p:cNvSpPr txBox="1"/>
          <p:nvPr/>
        </p:nvSpPr>
        <p:spPr>
          <a:xfrm>
            <a:off x="1116410" y="3477021"/>
            <a:ext cx="921408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Действия:</a:t>
            </a:r>
          </a:p>
        </p:txBody>
      </p:sp>
      <p:sp>
        <p:nvSpPr>
          <p:cNvPr id="1826" name="Text 6"/>
          <p:cNvSpPr txBox="1"/>
          <p:nvPr/>
        </p:nvSpPr>
        <p:spPr>
          <a:xfrm>
            <a:off x="1116410" y="3801863"/>
            <a:ext cx="7307859" cy="151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Исследование рынка: PEST-анализ, анализ 5 сил Портера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Анализ целевой аудитории: 3 сегмента (молодежь, МСБ, корпорации)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Опрос пользователей: 92% готовы использовать AI, 87% недовольны текущим интерфейсом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Анализ конкурентов: Приорбанк (4,99 BYN), Альфа-Банк (5,99 BYN), ChatGPT (20 USD)</a:t>
            </a:r>
          </a:p>
        </p:txBody>
      </p:sp>
      <p:sp>
        <p:nvSpPr>
          <p:cNvPr id="1827" name="Text 7"/>
          <p:cNvSpPr txBox="1"/>
          <p:nvPr/>
        </p:nvSpPr>
        <p:spPr>
          <a:xfrm>
            <a:off x="1116410" y="5786438"/>
            <a:ext cx="111553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Результаты:</a:t>
            </a:r>
          </a:p>
        </p:txBody>
      </p:sp>
      <p:sp>
        <p:nvSpPr>
          <p:cNvPr id="1828" name="Text 8"/>
          <p:cNvSpPr txBox="1"/>
          <p:nvPr/>
        </p:nvSpPr>
        <p:spPr>
          <a:xfrm>
            <a:off x="1116410" y="6111280"/>
            <a:ext cx="7307859" cy="100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Выявлена потребность в AI-помощнике для управления финансами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Определены 3 целевых сегмента с разными потребностями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Выявлены болевые точки: сложность интерфейса, нехватка времени, отсутствие интеграции с 1С</a:t>
            </a:r>
          </a:p>
        </p:txBody>
      </p:sp>
      <p:sp>
        <p:nvSpPr>
          <p:cNvPr id="1829" name="Text 9"/>
          <p:cNvSpPr txBox="1"/>
          <p:nvPr/>
        </p:nvSpPr>
        <p:spPr>
          <a:xfrm>
            <a:off x="8537971" y="2287581"/>
            <a:ext cx="21046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30" name="Shape 10"/>
          <p:cNvSpPr/>
          <p:nvPr/>
        </p:nvSpPr>
        <p:spPr>
          <a:xfrm>
            <a:off x="8537971" y="2606873"/>
            <a:ext cx="7307859" cy="254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1" name="Text 11"/>
          <p:cNvSpPr txBox="1"/>
          <p:nvPr/>
        </p:nvSpPr>
        <p:spPr>
          <a:xfrm>
            <a:off x="8537971" y="2761258"/>
            <a:ext cx="7307859" cy="62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2: РАЗРАБОТАТЬ МАРКЕТИНГОВУЮ СТРАТЕГИЮ И ПОЗИЦИОНИРОВАНИЕ</a:t>
            </a:r>
          </a:p>
        </p:txBody>
      </p:sp>
      <p:sp>
        <p:nvSpPr>
          <p:cNvPr id="1832" name="Text 12"/>
          <p:cNvSpPr txBox="1"/>
          <p:nvPr/>
        </p:nvSpPr>
        <p:spPr>
          <a:xfrm>
            <a:off x="8537971" y="3477021"/>
            <a:ext cx="92140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Действия:</a:t>
            </a:r>
          </a:p>
        </p:txBody>
      </p:sp>
      <p:sp>
        <p:nvSpPr>
          <p:cNvPr id="1833" name="Text 13"/>
          <p:cNvSpPr txBox="1"/>
          <p:nvPr/>
        </p:nvSpPr>
        <p:spPr>
          <a:xfrm>
            <a:off x="8537971" y="3801863"/>
            <a:ext cx="7307859" cy="12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Выбор модели монетизации: Freemium (B2C) + SaaS (B2B)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Определение ценовой стратегии: Light (0 BYN), Student Pro (5,99 BYN), Business (49 BYN)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Позиционирование: «Управляй финансами как профессионал»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Выбор каналов: мобильное приложение, Instagram/TikTok (B2C), LinkedIn (B2B)</a:t>
            </a:r>
          </a:p>
        </p:txBody>
      </p:sp>
      <p:sp>
        <p:nvSpPr>
          <p:cNvPr id="1834" name="Text 14"/>
          <p:cNvSpPr txBox="1"/>
          <p:nvPr/>
        </p:nvSpPr>
        <p:spPr>
          <a:xfrm>
            <a:off x="8537971" y="5529659"/>
            <a:ext cx="1115530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Результаты:</a:t>
            </a:r>
          </a:p>
        </p:txBody>
      </p:sp>
      <p:sp>
        <p:nvSpPr>
          <p:cNvPr id="1835" name="Text 15"/>
          <p:cNvSpPr txBox="1"/>
          <p:nvPr/>
        </p:nvSpPr>
        <p:spPr>
          <a:xfrm>
            <a:off x="8537971" y="5854501"/>
            <a:ext cx="7307859" cy="1006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Разработана бизнес-модель Остервальдера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Определены ценностные предложения для каждого сегмента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Выбраны оптимальные каналы распределения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Установлены конкурентные цены (в 21-24 раза ниже экономии клиента)</a:t>
            </a:r>
          </a:p>
        </p:txBody>
      </p:sp>
      <p:sp>
        <p:nvSpPr>
          <p:cNvPr id="1836" name="Text 16"/>
          <p:cNvSpPr txBox="1"/>
          <p:nvPr/>
        </p:nvSpPr>
        <p:spPr>
          <a:xfrm>
            <a:off x="15959534" y="2287581"/>
            <a:ext cx="21046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37" name="Shape 17"/>
          <p:cNvSpPr/>
          <p:nvPr/>
        </p:nvSpPr>
        <p:spPr>
          <a:xfrm>
            <a:off x="15959534" y="2606873"/>
            <a:ext cx="7307859" cy="254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38" name="Text 18"/>
          <p:cNvSpPr txBox="1"/>
          <p:nvPr/>
        </p:nvSpPr>
        <p:spPr>
          <a:xfrm>
            <a:off x="15959534" y="2761258"/>
            <a:ext cx="7307859" cy="62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3: РАЗРАБОТАТЬ ИНТЕГРИРОВАННУЮ МАРКЕТИНГОВУЮ ПРОГРАММУ</a:t>
            </a:r>
          </a:p>
        </p:txBody>
      </p:sp>
      <p:sp>
        <p:nvSpPr>
          <p:cNvPr id="1839" name="Text 19"/>
          <p:cNvSpPr txBox="1"/>
          <p:nvPr/>
        </p:nvSpPr>
        <p:spPr>
          <a:xfrm>
            <a:off x="15959534" y="3477021"/>
            <a:ext cx="921409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Действия:</a:t>
            </a:r>
          </a:p>
        </p:txBody>
      </p:sp>
      <p:sp>
        <p:nvSpPr>
          <p:cNvPr id="1840" name="Text 20"/>
          <p:cNvSpPr txBox="1"/>
          <p:nvPr/>
        </p:nvSpPr>
        <p:spPr>
          <a:xfrm>
            <a:off x="15959534" y="3801863"/>
            <a:ext cx="7307859" cy="151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Разработка продукта: MVP v1.0 (финализация, QA, интеграция с 1С)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Маркетинг-кампании: реклама в соцсетях (4000 BYN), email-маркетинг (1000 BYN), PR (1500 BYN)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Контент-маркетинг: блог, видео, YouTube-канал (4000 BYN)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События: вебинары, демо-сессии, участие в выставках (3500 BYN)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Аналитика: настройка GA, Mixpanel, CRM (2500 BYN)</a:t>
            </a:r>
          </a:p>
        </p:txBody>
      </p:sp>
      <p:sp>
        <p:nvSpPr>
          <p:cNvPr id="1841" name="Text 21"/>
          <p:cNvSpPr txBox="1"/>
          <p:nvPr/>
        </p:nvSpPr>
        <p:spPr>
          <a:xfrm>
            <a:off x="15959534" y="5569346"/>
            <a:ext cx="1115530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Результаты:</a:t>
            </a:r>
          </a:p>
        </p:txBody>
      </p:sp>
      <p:sp>
        <p:nvSpPr>
          <p:cNvPr id="1842" name="Text 22"/>
          <p:cNvSpPr txBox="1"/>
          <p:nvPr/>
        </p:nvSpPr>
        <p:spPr>
          <a:xfrm>
            <a:off x="15959534" y="5894188"/>
            <a:ext cx="7307859" cy="12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Разработан календарный план на 6 месяцев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Определен бюджет: 40000 BYN (разработка 40%, маркетинг 21,25%, контент 10%, события 8,75%, аналитика 6,25%, резерв 5%)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Установлены KPI для отслеживания эффективности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Подготовлены маркетинг-материалы и контент</a:t>
            </a:r>
          </a:p>
        </p:txBody>
      </p:sp>
      <p:sp>
        <p:nvSpPr>
          <p:cNvPr id="1843" name="Text 23"/>
          <p:cNvSpPr txBox="1"/>
          <p:nvPr/>
        </p:nvSpPr>
        <p:spPr>
          <a:xfrm>
            <a:off x="1116410" y="7573758"/>
            <a:ext cx="210469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844" name="Shape 24"/>
          <p:cNvSpPr/>
          <p:nvPr/>
        </p:nvSpPr>
        <p:spPr>
          <a:xfrm>
            <a:off x="1116410" y="7893049"/>
            <a:ext cx="11018638" cy="254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45" name="Text 25"/>
          <p:cNvSpPr txBox="1"/>
          <p:nvPr/>
        </p:nvSpPr>
        <p:spPr>
          <a:xfrm>
            <a:off x="1116410" y="8047435"/>
            <a:ext cx="11018638" cy="62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4: НАЛАДИТЬ ПРИБЫЛЬНЫЕ ОТНОШЕНИЯ И ОБЕСПЕЧИТЬ ВЫСОКУЮ СТЕПЕНЬ УДОВЛЕТВОРЕННОСТИ КЛИЕНТОВ</a:t>
            </a:r>
          </a:p>
        </p:txBody>
      </p:sp>
      <p:sp>
        <p:nvSpPr>
          <p:cNvPr id="1846" name="Text 26"/>
          <p:cNvSpPr txBox="1"/>
          <p:nvPr/>
        </p:nvSpPr>
        <p:spPr>
          <a:xfrm>
            <a:off x="1116410" y="8763198"/>
            <a:ext cx="921408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Действия:</a:t>
            </a:r>
          </a:p>
        </p:txBody>
      </p:sp>
      <p:sp>
        <p:nvSpPr>
          <p:cNvPr id="1847" name="Text 27"/>
          <p:cNvSpPr txBox="1"/>
          <p:nvPr/>
        </p:nvSpPr>
        <p:spPr>
          <a:xfrm>
            <a:off x="1116410" y="9088040"/>
            <a:ext cx="11018638" cy="1260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Freemium модель: привлечение 5000 пользователей в Light (бесплатный тариф)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Конверсия: 8% пользователей переходят на Student Pro (5,99 BYN/месяц)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B2B продажи: привлечение 50 клиентов МСБ на Business (49 BYN/месяц)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Удержание: email-маркетинг, push-уведомления, вебинары, программа реферралов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Поддержка: выделенный менеджер для B2B, community в Telegram/Discord</a:t>
            </a:r>
          </a:p>
        </p:txBody>
      </p:sp>
      <p:sp>
        <p:nvSpPr>
          <p:cNvPr id="1848" name="Text 28"/>
          <p:cNvSpPr txBox="1"/>
          <p:nvPr/>
        </p:nvSpPr>
        <p:spPr>
          <a:xfrm>
            <a:off x="1116410" y="10598745"/>
            <a:ext cx="1115530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Результаты:</a:t>
            </a:r>
          </a:p>
        </p:txBody>
      </p:sp>
      <p:sp>
        <p:nvSpPr>
          <p:cNvPr id="1849" name="Text 29"/>
          <p:cNvSpPr txBox="1"/>
          <p:nvPr/>
        </p:nvSpPr>
        <p:spPr>
          <a:xfrm>
            <a:off x="1116410" y="10923587"/>
            <a:ext cx="11018638" cy="1260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Достигнута конверсия 8% (Light → Student Pro)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Привлечено 50 клиентов B2B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Retention Rate ≥40% (пользователи активны на 30-й день)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Churn Rate ≤5% (низкий отток платящих пользователей)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Ежемесячный доход: 4846 BYN (2396 B2C + 2450 B2B)</a:t>
            </a:r>
          </a:p>
        </p:txBody>
      </p:sp>
      <p:sp>
        <p:nvSpPr>
          <p:cNvPr id="1850" name="Text 30"/>
          <p:cNvSpPr txBox="1"/>
          <p:nvPr/>
        </p:nvSpPr>
        <p:spPr>
          <a:xfrm>
            <a:off x="12248753" y="7573758"/>
            <a:ext cx="210469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851" name="Shape 31"/>
          <p:cNvSpPr/>
          <p:nvPr/>
        </p:nvSpPr>
        <p:spPr>
          <a:xfrm>
            <a:off x="12248753" y="7893049"/>
            <a:ext cx="11018638" cy="25401"/>
          </a:xfrm>
          <a:prstGeom prst="rect">
            <a:avLst/>
          </a:prstGeom>
          <a:solidFill>
            <a:srgbClr val="4950BC"/>
          </a:solidFill>
          <a:ln w="12700">
            <a:miter lim="400000"/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2" name="Text 32"/>
          <p:cNvSpPr txBox="1"/>
          <p:nvPr/>
        </p:nvSpPr>
        <p:spPr>
          <a:xfrm>
            <a:off x="12248753" y="8047435"/>
            <a:ext cx="11018638" cy="629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524000">
              <a:lnSpc>
                <a:spcPts val="2500"/>
              </a:lnSpc>
              <a:spcBef>
                <a:spcPts val="0"/>
              </a:spcBef>
              <a:defRPr b="1" sz="2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ЭТАП 5: ПОЛУЧАТЬ СТОИМОСТЬ ОТ КЛИЕНТОВ И ОБЕСПЕЧЕНИЯ ПРИБЫЛИ И СОЗДАНИЯ КЛИЕНТСКОГО КАПИТАЛА</a:t>
            </a:r>
          </a:p>
        </p:txBody>
      </p:sp>
      <p:sp>
        <p:nvSpPr>
          <p:cNvPr id="1853" name="Text 33"/>
          <p:cNvSpPr txBox="1"/>
          <p:nvPr/>
        </p:nvSpPr>
        <p:spPr>
          <a:xfrm>
            <a:off x="12248753" y="8763198"/>
            <a:ext cx="921408" cy="244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Действия:</a:t>
            </a:r>
          </a:p>
        </p:txBody>
      </p:sp>
      <p:sp>
        <p:nvSpPr>
          <p:cNvPr id="1854" name="Text 34"/>
          <p:cNvSpPr txBox="1"/>
          <p:nvPr/>
        </p:nvSpPr>
        <p:spPr>
          <a:xfrm>
            <a:off x="12248753" y="9088040"/>
            <a:ext cx="11018638" cy="176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Ежемесячный доход: 4846 BYN (к концу периода)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Доход за 6 месяцев: 28476 BYN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Прибыль: 28476 - 40000 = -11524 BYN (инвестиционный период)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ROMI: 90% (окупаемость за 4-5 месяцев)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LTV (Lifetime Value): 5,99 BYN × 24 месяца = 143,76 BYN (B2C); 49 BYN × 24 месяца = 1176 BYN (B2B)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CAC (Customer Acquisition Cost): 50 BYN (B2C), 500 BYN (B2B)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LTV/CAC ratio: 2,88 (B2C), 2,35 (B2B) — оба выше 1, значит модель прибыльна</a:t>
            </a:r>
          </a:p>
        </p:txBody>
      </p:sp>
      <p:sp>
        <p:nvSpPr>
          <p:cNvPr id="1855" name="Text 35"/>
          <p:cNvSpPr txBox="1"/>
          <p:nvPr/>
        </p:nvSpPr>
        <p:spPr>
          <a:xfrm>
            <a:off x="12248753" y="11191675"/>
            <a:ext cx="1115530" cy="244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2000"/>
              </a:lnSpc>
              <a:spcBef>
                <a:spcPts val="0"/>
              </a:spcBef>
              <a:defRPr b="1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Результаты:</a:t>
            </a:r>
          </a:p>
        </p:txBody>
      </p:sp>
      <p:sp>
        <p:nvSpPr>
          <p:cNvPr id="1856" name="Text 36"/>
          <p:cNvSpPr txBox="1"/>
          <p:nvPr/>
        </p:nvSpPr>
        <p:spPr>
          <a:xfrm>
            <a:off x="12248753" y="11516517"/>
            <a:ext cx="11018638" cy="1006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Достигнута окупаемость инвестиций за 4-5 месяцев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Установлена прибыльная бизнес-модель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Создана база для масштабирования (расширение на соседние страны, новые функции, партнерства)</a:t>
            </a:r>
          </a:p>
          <a:p>
            <a:pPr marL="533400" indent="-533400" defTabSz="1524000">
              <a:lnSpc>
                <a:spcPts val="2000"/>
              </a:lnSpc>
              <a:spcBef>
                <a:spcPts val="0"/>
              </a:spcBef>
              <a:buSzPct val="100000"/>
              <a:buChar char="•"/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Подготовлены условия для привлечения инвестиций (Series 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39999" y="0"/>
            <a:ext cx="9144001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59" name="Text 1"/>
          <p:cNvSpPr txBox="1"/>
          <p:nvPr/>
        </p:nvSpPr>
        <p:spPr>
          <a:xfrm>
            <a:off x="1095573" y="1007665"/>
            <a:ext cx="11144301" cy="624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5000"/>
              </a:lnSpc>
              <a:spcBef>
                <a:spcPts val="0"/>
              </a:spcBef>
              <a:defRPr b="1" sz="4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РЕЗЮМЕ: Маркетинговый план FinHelper AI</a:t>
            </a:r>
          </a:p>
        </p:txBody>
      </p:sp>
      <p:sp>
        <p:nvSpPr>
          <p:cNvPr id="1860" name="Text 2"/>
          <p:cNvSpPr txBox="1"/>
          <p:nvPr/>
        </p:nvSpPr>
        <p:spPr>
          <a:xfrm>
            <a:off x="1095573" y="1687313"/>
            <a:ext cx="10102690" cy="494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524000">
              <a:lnSpc>
                <a:spcPts val="4000"/>
              </a:lnSpc>
              <a:spcBef>
                <a:spcPts val="0"/>
              </a:spcBef>
              <a:defRPr b="1" sz="3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Полный обзор стратегии вывода продукта на рынок</a:t>
            </a:r>
          </a:p>
        </p:txBody>
      </p:sp>
      <p:sp>
        <p:nvSpPr>
          <p:cNvPr id="1861" name="Shape 3"/>
          <p:cNvSpPr/>
          <p:nvPr/>
        </p:nvSpPr>
        <p:spPr>
          <a:xfrm>
            <a:off x="1095573" y="2360215"/>
            <a:ext cx="13048854" cy="2567385"/>
          </a:xfrm>
          <a:prstGeom prst="roundRect">
            <a:avLst>
              <a:gd name="adj" fmla="val 3329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2" name="Text 4"/>
          <p:cNvSpPr txBox="1"/>
          <p:nvPr/>
        </p:nvSpPr>
        <p:spPr>
          <a:xfrm>
            <a:off x="1311671" y="2576313"/>
            <a:ext cx="4158830" cy="341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2000">
                <a:latin typeface="Inter Bold"/>
                <a:ea typeface="Inter Bold"/>
                <a:cs typeface="Inter Bold"/>
                <a:sym typeface="Inter Bold"/>
              </a:defRPr>
            </a:pPr>
            <a:r>
              <a:t>📊</a:t>
            </a:r>
            <a:r>
              <a:rPr>
                <a:solidFill>
                  <a:srgbClr val="272525"/>
                </a:solidFill>
              </a:rPr>
              <a:t> ФИНАНСОВЫЕ ПОКАЗАТЕЛИ</a:t>
            </a:r>
          </a:p>
        </p:txBody>
      </p:sp>
      <p:sp>
        <p:nvSpPr>
          <p:cNvPr id="1863" name="Text 5"/>
          <p:cNvSpPr txBox="1"/>
          <p:nvPr/>
        </p:nvSpPr>
        <p:spPr>
          <a:xfrm>
            <a:off x="1311672" y="2959893"/>
            <a:ext cx="12616657" cy="1624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Бюджет: 40000 BYN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Доход за 6 месяцев: 28476 BYN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Прибыль: -11524 BYN (инвестиционный период)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ROMI: 90%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Окупаемость: 4-5 месяцев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Ежемесячный доход (к концу): 4846 BYN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LTV/CAC ratio: 2,88 (B2C), 2,35 (B2B)</a:t>
            </a:r>
          </a:p>
        </p:txBody>
      </p:sp>
      <p:sp>
        <p:nvSpPr>
          <p:cNvPr id="1864" name="Shape 6"/>
          <p:cNvSpPr/>
          <p:nvPr/>
        </p:nvSpPr>
        <p:spPr>
          <a:xfrm>
            <a:off x="1095573" y="5037138"/>
            <a:ext cx="13048854" cy="2567386"/>
          </a:xfrm>
          <a:prstGeom prst="roundRect">
            <a:avLst>
              <a:gd name="adj" fmla="val 3329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5" name="Text 7"/>
          <p:cNvSpPr txBox="1"/>
          <p:nvPr/>
        </p:nvSpPr>
        <p:spPr>
          <a:xfrm>
            <a:off x="1311671" y="5253236"/>
            <a:ext cx="2170982" cy="341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2000">
                <a:latin typeface="Inter Bold"/>
                <a:ea typeface="Inter Bold"/>
                <a:cs typeface="Inter Bold"/>
                <a:sym typeface="Inter Bold"/>
              </a:defRPr>
            </a:pPr>
            <a:r>
              <a:t>🎯</a:t>
            </a:r>
            <a:r>
              <a:rPr>
                <a:solidFill>
                  <a:srgbClr val="272525"/>
                </a:solidFill>
              </a:rPr>
              <a:t> ЦЕЛЕВЫЕ KPI</a:t>
            </a:r>
          </a:p>
        </p:txBody>
      </p:sp>
      <p:sp>
        <p:nvSpPr>
          <p:cNvPr id="1866" name="Text 8"/>
          <p:cNvSpPr txBox="1"/>
          <p:nvPr/>
        </p:nvSpPr>
        <p:spPr>
          <a:xfrm>
            <a:off x="1311672" y="5636814"/>
            <a:ext cx="12616657" cy="1624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B2C пользователи: 5000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Платящие пользователи: 400 (8% конверсия)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B2B клиенты: 50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CAC: ≤50 BYN (B2C), ≤500 BYN (B2B)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Retention Rate: ≥40%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Churn Rate: ≤5%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DAU: 1000, WAU: 2500, MAU: 4000</a:t>
            </a:r>
          </a:p>
        </p:txBody>
      </p:sp>
      <p:sp>
        <p:nvSpPr>
          <p:cNvPr id="1867" name="Shape 9"/>
          <p:cNvSpPr/>
          <p:nvPr/>
        </p:nvSpPr>
        <p:spPr>
          <a:xfrm>
            <a:off x="1095573" y="7714060"/>
            <a:ext cx="13048854" cy="2567386"/>
          </a:xfrm>
          <a:prstGeom prst="roundRect">
            <a:avLst>
              <a:gd name="adj" fmla="val 3329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8" name="Text 10"/>
          <p:cNvSpPr txBox="1"/>
          <p:nvPr/>
        </p:nvSpPr>
        <p:spPr>
          <a:xfrm>
            <a:off x="1311671" y="7930158"/>
            <a:ext cx="3264993" cy="341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2000">
                <a:latin typeface="Inter Bold"/>
                <a:ea typeface="Inter Bold"/>
                <a:cs typeface="Inter Bold"/>
                <a:sym typeface="Inter Bold"/>
              </a:defRPr>
            </a:pPr>
            <a:r>
              <a:t>💰</a:t>
            </a:r>
            <a:r>
              <a:rPr>
                <a:solidFill>
                  <a:srgbClr val="272525"/>
                </a:solidFill>
              </a:rPr>
              <a:t> ЦЕНОВАЯ СТРАТЕГИЯ</a:t>
            </a:r>
          </a:p>
        </p:txBody>
      </p:sp>
      <p:sp>
        <p:nvSpPr>
          <p:cNvPr id="1869" name="Text 11"/>
          <p:cNvSpPr txBox="1"/>
          <p:nvPr/>
        </p:nvSpPr>
        <p:spPr>
          <a:xfrm>
            <a:off x="1311672" y="8313737"/>
            <a:ext cx="12616657" cy="1624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Light (Freemium): 0 BYN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Student Pro: 5,99 BYN/месяц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Business: 49 BYN/месяц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Enterprise: индивидуально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Модель: Freemium (B2C) + SaaS (B2B)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Цена в 21-24 раза ниже экономии клиента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Триальный период: 14 дней (B2B)</a:t>
            </a:r>
          </a:p>
        </p:txBody>
      </p:sp>
      <p:sp>
        <p:nvSpPr>
          <p:cNvPr id="1870" name="Shape 12"/>
          <p:cNvSpPr/>
          <p:nvPr/>
        </p:nvSpPr>
        <p:spPr>
          <a:xfrm>
            <a:off x="1095573" y="10390981"/>
            <a:ext cx="13048854" cy="2317156"/>
          </a:xfrm>
          <a:prstGeom prst="roundRect">
            <a:avLst>
              <a:gd name="adj" fmla="val 3688"/>
            </a:avLst>
          </a:prstGeom>
          <a:solidFill>
            <a:srgbClr val="DADBF1"/>
          </a:solidFill>
          <a:ln w="12700">
            <a:solidFill>
              <a:srgbClr val="C0C1D7"/>
            </a:solidFill>
          </a:ln>
        </p:spPr>
        <p:txBody>
          <a:bodyPr lIns="76200" tIns="76200" rIns="76200" bIns="76200"/>
          <a:lstStyle/>
          <a:p>
            <a:pPr defTabSz="1524000">
              <a:lnSpc>
                <a:spcPct val="100000"/>
              </a:lnSpc>
              <a:spcBef>
                <a:spcPts val="0"/>
              </a:spcBef>
              <a:defRPr sz="30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1" name="Text 13"/>
          <p:cNvSpPr txBox="1"/>
          <p:nvPr/>
        </p:nvSpPr>
        <p:spPr>
          <a:xfrm>
            <a:off x="1311671" y="10607079"/>
            <a:ext cx="3228654" cy="341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defTabSz="1524000">
              <a:lnSpc>
                <a:spcPts val="2500"/>
              </a:lnSpc>
              <a:spcBef>
                <a:spcPts val="0"/>
              </a:spcBef>
              <a:defRPr b="1" sz="2000">
                <a:latin typeface="Inter Bold"/>
                <a:ea typeface="Inter Bold"/>
                <a:cs typeface="Inter Bold"/>
                <a:sym typeface="Inter Bold"/>
              </a:defRPr>
            </a:pPr>
            <a:r>
              <a:t>📅</a:t>
            </a:r>
            <a:r>
              <a:rPr>
                <a:solidFill>
                  <a:srgbClr val="272525"/>
                </a:solidFill>
              </a:rPr>
              <a:t> КАЛЕНДАРНЫЙ ПЛАН</a:t>
            </a:r>
          </a:p>
        </p:txBody>
      </p:sp>
      <p:sp>
        <p:nvSpPr>
          <p:cNvPr id="1872" name="Text 14"/>
          <p:cNvSpPr txBox="1"/>
          <p:nvPr/>
        </p:nvSpPr>
        <p:spPr>
          <a:xfrm>
            <a:off x="1311672" y="10990659"/>
            <a:ext cx="12616657" cy="1391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Июль: Финализация MVP, подготовка материалов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Август: Запуск маркетинга, интеграция с 1С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Сентябрь: Запуск бета-версии, начало B2B продаж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Октябрь-Ноябрь: Масштабирование кампаний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Декабрь: Анализ результатов, планирование 2027</a:t>
            </a:r>
          </a:p>
          <a:p>
            <a:pPr defTabSz="1524000">
              <a:lnSpc>
                <a:spcPts val="1800"/>
              </a:lnSpc>
              <a:spcBef>
                <a:spcPts val="0"/>
              </a:spcBef>
              <a:defRPr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Период: 6 месяцев (Июль-Декабрь 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