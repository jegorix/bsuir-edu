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874" y="226"/>
      </p:cViewPr>
      <p:guideLst>
        <p:guide orient="horz" pos="215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15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65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93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82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39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997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163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38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05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F76B1-0965-477A-A95F-4989F714C52B}" type="datetimeFigureOut">
              <a:rPr lang="ru-RU" smtClean="0"/>
              <a:t>17.06.2025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081CA-4262-4FDB-9B9A-852A4CA00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12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Проектное решение систем пожарной и охранной сигнализации здания общественного назначения </a:t>
            </a:r>
            <a:br>
              <a:rPr lang="ru-RU" sz="4400" b="1" dirty="0">
                <a:latin typeface="+mn-lt"/>
              </a:rPr>
            </a:br>
            <a:r>
              <a:rPr lang="ru-RU" sz="4400" b="1" dirty="0">
                <a:latin typeface="+mn-lt"/>
              </a:rPr>
              <a:t>(г. Барановичи)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109F01-225C-40B6-91EF-8AD20BED0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Выполнил студент группы 113301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КАШУЛЬСКИЙ Данила Алексеевич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ru-RU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Дипломный руководитель – доцент кафедры ПИКС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АЛЕФИРЕНКО Виктор Михайлович</a:t>
            </a:r>
          </a:p>
        </p:txBody>
      </p:sp>
    </p:spTree>
    <p:extLst>
      <p:ext uri="{BB962C8B-B14F-4D97-AF65-F5344CB8AC3E}">
        <p14:creationId xmlns:p14="http://schemas.microsoft.com/office/powerpoint/2010/main" val="315004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348509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Цель дипломного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109F01-225C-40B6-91EF-8AD20BED0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86747"/>
            <a:ext cx="9144000" cy="1655762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Разработка комплексной системы пожарной и охранной сигнализации для здания частного медицинского центра</a:t>
            </a:r>
          </a:p>
        </p:txBody>
      </p:sp>
    </p:spTree>
    <p:extLst>
      <p:ext uri="{BB962C8B-B14F-4D97-AF65-F5344CB8AC3E}">
        <p14:creationId xmlns:p14="http://schemas.microsoft.com/office/powerpoint/2010/main" val="222273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840509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Актуальность дипломного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109F01-225C-40B6-91EF-8AD20BED0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2400"/>
            <a:ext cx="9144000" cy="4784435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Система пожарной сигнализации обеспечивает защиту объекта от возгорания и задымления, а также способствует работе системам дымоудаления, оповещения о пожаре и управления эвакуацией.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Система охранной сигнализации позволяет своевременно обнаружить несанкционированное проникновение на объект.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Комплексное взаимодействие этих систем в полной мере позволяет обеспечить защиту здания общественного назначения.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244534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840509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Принцип работы 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109F01-225C-40B6-91EF-8AD20BED0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2400"/>
            <a:ext cx="9144000" cy="4784435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Основной принцип действия системы пожарной сигнализации заключается в идентификации факта возникновения пожара или задымления, передаче информации об этом на пульт централизованного наблюдения МЧС Республики Беларусь.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Система охранной сигнализации определяет случаи несанкционированного проникновения на объект и его определенные помещения и передает информацию на пульт контроля и управления, который расположен на посту охраны.</a:t>
            </a:r>
          </a:p>
        </p:txBody>
      </p:sp>
    </p:spTree>
    <p:extLst>
      <p:ext uri="{BB962C8B-B14F-4D97-AF65-F5344CB8AC3E}">
        <p14:creationId xmlns:p14="http://schemas.microsoft.com/office/powerpoint/2010/main" val="243497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046B9F95-604C-4D1A-8662-14ACDB7FC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25962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9963A1D-8F2D-4C7A-B1DF-CE1F93A45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9710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6C160BC-2069-4E3E-A59A-E60304E86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4165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32080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Структура системы пожарной сигнализации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109F01-225C-40B6-91EF-8AD20BED0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7200"/>
            <a:ext cx="9144000" cy="4724400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Система пожарной сигнализации построена на основе ИСО «Орион» и включает в свой состав пульт контроля и управления С2000М, производимый НВП «Болид».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Также в состав системы входит блок контроля и индикации с клавиатурой С2000-БКИ, который обеспечивает возможность наблюдать за состоянием помещений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39210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390CEB84-F52C-4650-9416-35EAFBC99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4492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6DDC6962-64A1-4851-8DC3-A4AD69E5A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486441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32080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Структура системы охранной сигнализации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109F01-225C-40B6-91EF-8AD20BED0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7200"/>
            <a:ext cx="9144000" cy="4724400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Система охранной сигнализации построена на основе пульта контроля и управления С2000М, производимого НВП «Болид».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ru-RU" sz="2800" dirty="0"/>
              <a:t>Так как устройство С2000М не входит в перечень технических средств охраны, разрешенных к применению ДО МВД Республики Беларусь, извещение о проникновении на объект будет передаваться на пост охраны без поступления на пульт ДО МВД Республики Беларусь.</a:t>
            </a:r>
          </a:p>
        </p:txBody>
      </p:sp>
    </p:spTree>
    <p:extLst>
      <p:ext uri="{BB962C8B-B14F-4D97-AF65-F5344CB8AC3E}">
        <p14:creationId xmlns:p14="http://schemas.microsoft.com/office/powerpoint/2010/main" val="1082332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716B75FD-D983-46C3-919F-137973403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08043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05D235-872D-4445-8753-8FB56078F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CB120A-048B-46CF-8847-5DB82C03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120"/>
            <a:ext cx="12192000" cy="692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31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221602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Оборудование системы пожарной сигнализации</a:t>
            </a:r>
          </a:p>
        </p:txBody>
      </p:sp>
      <p:pic>
        <p:nvPicPr>
          <p:cNvPr id="1034" name="Picture 10" descr="Пульт контроля и управления охранно-пожарный С2000М">
            <a:extLst>
              <a:ext uri="{FF2B5EF4-FFF2-40B4-BE49-F238E27FC236}">
                <a16:creationId xmlns:a16="http://schemas.microsoft.com/office/drawing/2014/main" id="{2EBCDB74-A54E-474C-B27A-AE38C308F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433" y="1766500"/>
            <a:ext cx="2150894" cy="1524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Блок  индикации с клавиатурой С2000-БКИ, С2000-БКИ 2RS485">
            <a:extLst>
              <a:ext uri="{FF2B5EF4-FFF2-40B4-BE49-F238E27FC236}">
                <a16:creationId xmlns:a16="http://schemas.microsoft.com/office/drawing/2014/main" id="{112A3AD2-6FCE-43C9-A7BF-CF84D22A7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70" y="1766500"/>
            <a:ext cx="2150894" cy="1524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 descr="Блок приемно-контрольный охранно-пожарный Сигнал-20П, Сигнал-20П исп.01">
            <a:extLst>
              <a:ext uri="{FF2B5EF4-FFF2-40B4-BE49-F238E27FC236}">
                <a16:creationId xmlns:a16="http://schemas.microsoft.com/office/drawing/2014/main" id="{9180B412-4C2A-40F6-94D4-E2710AD34D7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907" y="1766501"/>
            <a:ext cx="2150893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D244CF-20BD-4A35-BCDF-789F28216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143" y="1766500"/>
            <a:ext cx="2150893" cy="152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1AB41-2FDA-4068-B24B-CFF40C1D4278}"/>
              </a:ext>
            </a:extLst>
          </p:cNvPr>
          <p:cNvSpPr txBox="1"/>
          <p:nvPr/>
        </p:nvSpPr>
        <p:spPr>
          <a:xfrm>
            <a:off x="1428993" y="3329801"/>
            <a:ext cx="232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Пульт контроля и управления С2000М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A1777-60E6-4218-AC2D-C9AC954B7DB7}"/>
              </a:ext>
            </a:extLst>
          </p:cNvPr>
          <p:cNvSpPr txBox="1"/>
          <p:nvPr/>
        </p:nvSpPr>
        <p:spPr>
          <a:xfrm>
            <a:off x="4040859" y="3329799"/>
            <a:ext cx="241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Блок контроля и индикации С2000-БКИ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E2580B-721D-42C7-A9C6-1844739AD89C}"/>
              </a:ext>
            </a:extLst>
          </p:cNvPr>
          <p:cNvSpPr txBox="1"/>
          <p:nvPr/>
        </p:nvSpPr>
        <p:spPr>
          <a:xfrm>
            <a:off x="6711686" y="3329799"/>
            <a:ext cx="241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Блок приемно-контрольный охранно-пожарный Сигнал-20П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C89F42-8380-4BB9-87AC-2A36317AEEB6}"/>
              </a:ext>
            </a:extLst>
          </p:cNvPr>
          <p:cNvSpPr txBox="1"/>
          <p:nvPr/>
        </p:nvSpPr>
        <p:spPr>
          <a:xfrm>
            <a:off x="9455766" y="3329799"/>
            <a:ext cx="241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Блок сигнально-пусковой С2000-СП1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09476-2AF0-4B5C-A150-2F219E396F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113" y="4253129"/>
            <a:ext cx="2150894" cy="19874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E7F1275-922E-4207-A7EC-CCD9AB5D22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350" y="4253129"/>
            <a:ext cx="2150894" cy="19874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33C0228-91F0-4733-9E59-5345C7C94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587" y="4251790"/>
            <a:ext cx="2150893" cy="19874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644BA4-FE8F-4149-A429-77AF80B9A81C}"/>
              </a:ext>
            </a:extLst>
          </p:cNvPr>
          <p:cNvSpPr txBox="1"/>
          <p:nvPr/>
        </p:nvSpPr>
        <p:spPr>
          <a:xfrm>
            <a:off x="2022647" y="6239244"/>
            <a:ext cx="262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пожарный дымовой ИП212-5МУ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4FE16-B409-4B32-BC09-25EF24696819}"/>
              </a:ext>
            </a:extLst>
          </p:cNvPr>
          <p:cNvSpPr txBox="1"/>
          <p:nvPr/>
        </p:nvSpPr>
        <p:spPr>
          <a:xfrm>
            <a:off x="4688451" y="6239244"/>
            <a:ext cx="262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пожарный ручной ИПР 5-2Р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D198D3-84CF-46D7-AF5D-06F77AAF3B4D}"/>
              </a:ext>
            </a:extLst>
          </p:cNvPr>
          <p:cNvSpPr txBox="1"/>
          <p:nvPr/>
        </p:nvSpPr>
        <p:spPr>
          <a:xfrm>
            <a:off x="7350687" y="6239244"/>
            <a:ext cx="262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пожарный тепловой ИП109-05-А2М</a:t>
            </a:r>
          </a:p>
        </p:txBody>
      </p:sp>
    </p:spTree>
    <p:extLst>
      <p:ext uri="{BB962C8B-B14F-4D97-AF65-F5344CB8AC3E}">
        <p14:creationId xmlns:p14="http://schemas.microsoft.com/office/powerpoint/2010/main" val="3167349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221602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Оборудование системы охранной сигнализации</a:t>
            </a:r>
          </a:p>
        </p:txBody>
      </p:sp>
      <p:pic>
        <p:nvPicPr>
          <p:cNvPr id="1034" name="Picture 10" descr="Пульт контроля и управления охранно-пожарный С2000М">
            <a:extLst>
              <a:ext uri="{FF2B5EF4-FFF2-40B4-BE49-F238E27FC236}">
                <a16:creationId xmlns:a16="http://schemas.microsoft.com/office/drawing/2014/main" id="{2EBCDB74-A54E-474C-B27A-AE38C308F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433" y="1766500"/>
            <a:ext cx="2150894" cy="1524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Блок  индикации с клавиатурой С2000-БКИ, С2000-БКИ 2RS485">
            <a:extLst>
              <a:ext uri="{FF2B5EF4-FFF2-40B4-BE49-F238E27FC236}">
                <a16:creationId xmlns:a16="http://schemas.microsoft.com/office/drawing/2014/main" id="{112A3AD2-6FCE-43C9-A7BF-CF84D22A7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70" y="1766500"/>
            <a:ext cx="2150894" cy="1524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1AB41-2FDA-4068-B24B-CFF40C1D4278}"/>
              </a:ext>
            </a:extLst>
          </p:cNvPr>
          <p:cNvSpPr txBox="1"/>
          <p:nvPr/>
        </p:nvSpPr>
        <p:spPr>
          <a:xfrm>
            <a:off x="1428993" y="3329801"/>
            <a:ext cx="232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Пульт контроля и управления С2000М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A1777-60E6-4218-AC2D-C9AC954B7DB7}"/>
              </a:ext>
            </a:extLst>
          </p:cNvPr>
          <p:cNvSpPr txBox="1"/>
          <p:nvPr/>
        </p:nvSpPr>
        <p:spPr>
          <a:xfrm>
            <a:off x="4040859" y="3329799"/>
            <a:ext cx="241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Блок контроля и индикации С2000-БКИ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E2580B-721D-42C7-A9C6-1844739AD89C}"/>
              </a:ext>
            </a:extLst>
          </p:cNvPr>
          <p:cNvSpPr txBox="1"/>
          <p:nvPr/>
        </p:nvSpPr>
        <p:spPr>
          <a:xfrm>
            <a:off x="6711686" y="3329799"/>
            <a:ext cx="241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Блок приемно-контрольный охранно-пожарный С2000-4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C89F42-8380-4BB9-87AC-2A36317AEEB6}"/>
              </a:ext>
            </a:extLst>
          </p:cNvPr>
          <p:cNvSpPr txBox="1"/>
          <p:nvPr/>
        </p:nvSpPr>
        <p:spPr>
          <a:xfrm>
            <a:off x="9459333" y="3329799"/>
            <a:ext cx="241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магнитоконтактный </a:t>
            </a:r>
            <a:r>
              <a:rPr lang="en-US" dirty="0"/>
              <a:t>MPS-20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644BA4-FE8F-4149-A429-77AF80B9A81C}"/>
              </a:ext>
            </a:extLst>
          </p:cNvPr>
          <p:cNvSpPr txBox="1"/>
          <p:nvPr/>
        </p:nvSpPr>
        <p:spPr>
          <a:xfrm>
            <a:off x="1075851" y="6245886"/>
            <a:ext cx="3040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магнитоконтактный </a:t>
            </a:r>
            <a:r>
              <a:rPr lang="en-US" dirty="0"/>
              <a:t>MPS-45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4FE16-B409-4B32-BC09-25EF24696819}"/>
              </a:ext>
            </a:extLst>
          </p:cNvPr>
          <p:cNvSpPr txBox="1"/>
          <p:nvPr/>
        </p:nvSpPr>
        <p:spPr>
          <a:xfrm>
            <a:off x="3946771" y="6245886"/>
            <a:ext cx="262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поверхностный ИНС-106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D198D3-84CF-46D7-AF5D-06F77AAF3B4D}"/>
              </a:ext>
            </a:extLst>
          </p:cNvPr>
          <p:cNvSpPr txBox="1"/>
          <p:nvPr/>
        </p:nvSpPr>
        <p:spPr>
          <a:xfrm>
            <a:off x="6609007" y="6245886"/>
            <a:ext cx="262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объемный ИНС-105</a:t>
            </a:r>
          </a:p>
        </p:txBody>
      </p:sp>
      <p:pic>
        <p:nvPicPr>
          <p:cNvPr id="19" name="Рисунок 18" descr="Блок приемно-контрольный охранно-пожарный С2000-4">
            <a:extLst>
              <a:ext uri="{FF2B5EF4-FFF2-40B4-BE49-F238E27FC236}">
                <a16:creationId xmlns:a16="http://schemas.microsoft.com/office/drawing/2014/main" id="{DB04D24B-DDD8-4B32-8649-623D03121E7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337" y="1766500"/>
            <a:ext cx="1955800" cy="15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9F1F7A-BAC4-43FE-8819-01909FF0DF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910" y="1766500"/>
            <a:ext cx="2150893" cy="152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F9D107-E5EC-4C97-8C87-6A6A98A021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433" y="4259771"/>
            <a:ext cx="2150894" cy="19861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7801473-0400-46E3-80CC-D171A10B6F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669" y="4259770"/>
            <a:ext cx="2150895" cy="1986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34D2AAE-FF66-4065-92FC-7456E452AC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38" y="4253128"/>
            <a:ext cx="1955800" cy="1992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E9C2854-2F50-4531-903A-EB968D1F4C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051" y="4253127"/>
            <a:ext cx="1376610" cy="19927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BAF00E2-AACF-443B-90C7-B15414117D92}"/>
              </a:ext>
            </a:extLst>
          </p:cNvPr>
          <p:cNvSpPr txBox="1"/>
          <p:nvPr/>
        </p:nvSpPr>
        <p:spPr>
          <a:xfrm>
            <a:off x="9356654" y="6245886"/>
            <a:ext cx="2622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Извещатель звуковой </a:t>
            </a:r>
            <a:r>
              <a:rPr lang="en-US" dirty="0"/>
              <a:t>GBD-R-1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833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81864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Расчет емкости аккумуляторной батареи для системы пожарной сигнализации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F08561-51AD-43CF-BDA5-625FA1B33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97" y="2781673"/>
            <a:ext cx="5314003" cy="26336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89432C-3295-4E2D-9E4E-23DA704AE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81673"/>
            <a:ext cx="5314003" cy="263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86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81864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Расчет емкости аккумуляторной батареи для системы охранной сигнализации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F329FB-9B5F-4E51-99DD-D86A995F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2669647"/>
            <a:ext cx="756390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87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32080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Источник резервного питания системы пожарной сигнализации</a:t>
            </a:r>
          </a:p>
        </p:txBody>
      </p:sp>
      <p:pic>
        <p:nvPicPr>
          <p:cNvPr id="5" name="Рисунок 4" descr="ИРПА 124/2-6 источник питания">
            <a:extLst>
              <a:ext uri="{FF2B5EF4-FFF2-40B4-BE49-F238E27FC236}">
                <a16:creationId xmlns:a16="http://schemas.microsoft.com/office/drawing/2014/main" id="{D92BF293-68C8-4D1E-8D5D-BE9BF6CEC0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760" y="3840480"/>
            <a:ext cx="2437765" cy="2733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D3FF00-A5EE-40D7-BA3D-F330DBA3B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57" y="3840480"/>
            <a:ext cx="2437765" cy="2733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6A9C4C-D15D-4A3F-8D96-BF733437FB4E}"/>
              </a:ext>
            </a:extLst>
          </p:cNvPr>
          <p:cNvSpPr txBox="1"/>
          <p:nvPr/>
        </p:nvSpPr>
        <p:spPr>
          <a:xfrm>
            <a:off x="1524000" y="172720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обеспечения бесперебойной работы в случае отключения сети 220В, для первого и второго этажа выбраны источники резервного питания ИРПА-124 с двумя аккумуляторными батареями емкостью 40 А/ч, а также РИП-24 с одной аккумуляторной батареей емкостью 26 А/ч.</a:t>
            </a:r>
          </a:p>
        </p:txBody>
      </p:sp>
    </p:spTree>
    <p:extLst>
      <p:ext uri="{BB962C8B-B14F-4D97-AF65-F5344CB8AC3E}">
        <p14:creationId xmlns:p14="http://schemas.microsoft.com/office/powerpoint/2010/main" val="216160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32080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Источник резервного питания системы охранной сигнализации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A9C4C-D15D-4A3F-8D96-BF733437FB4E}"/>
              </a:ext>
            </a:extLst>
          </p:cNvPr>
          <p:cNvSpPr txBox="1"/>
          <p:nvPr/>
        </p:nvSpPr>
        <p:spPr>
          <a:xfrm>
            <a:off x="1524000" y="17272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обеспечения бесперебойной работы в случае отключения сети 220В выбраны два источника резервного питания РИП-12, которые оснащаются двумя аккумуляторными батареями емкостью по 26 А/ч каждый.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AF8744-35B2-48DA-91B7-0FA71707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24" y="3413125"/>
            <a:ext cx="2423351" cy="3161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0758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1320800"/>
          </a:xfrm>
        </p:spPr>
        <p:txBody>
          <a:bodyPr anchor="t">
            <a:noAutofit/>
          </a:bodyPr>
          <a:lstStyle/>
          <a:p>
            <a:pPr algn="l"/>
            <a:r>
              <a:rPr lang="ru-RU" sz="4400" b="1" dirty="0">
                <a:latin typeface="+mn-lt"/>
              </a:rPr>
              <a:t>Заключение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A9C4C-D15D-4A3F-8D96-BF733437FB4E}"/>
              </a:ext>
            </a:extLst>
          </p:cNvPr>
          <p:cNvSpPr txBox="1"/>
          <p:nvPr/>
        </p:nvSpPr>
        <p:spPr>
          <a:xfrm>
            <a:off x="1524000" y="1727200"/>
            <a:ext cx="9144000" cy="329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В ходе дипломного проектирования было разработано проектное решение систем пожарной и охранной сигнализации здания медицинского центра. Данные системы отвечают всем требованиям действующих технических нормативных правовых актов. Разработанный проект можно в дальнейшем использовать для внедрения на рассматриваемый объект.</a:t>
            </a:r>
          </a:p>
        </p:txBody>
      </p:sp>
    </p:spTree>
    <p:extLst>
      <p:ext uri="{BB962C8B-B14F-4D97-AF65-F5344CB8AC3E}">
        <p14:creationId xmlns:p14="http://schemas.microsoft.com/office/powerpoint/2010/main" val="1037571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50CA0-EA50-4F16-8683-4358CDC91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7640" y="2448560"/>
            <a:ext cx="6776720" cy="1320800"/>
          </a:xfrm>
        </p:spPr>
        <p:txBody>
          <a:bodyPr anchor="t">
            <a:noAutofit/>
          </a:bodyPr>
          <a:lstStyle/>
          <a:p>
            <a:r>
              <a:rPr lang="ru-RU" sz="4400" b="1" dirty="0">
                <a:latin typeface="+mn-lt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914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484</Words>
  <Application>Microsoft Office PowerPoint</Application>
  <PresentationFormat>Широкоэкранный</PresentationFormat>
  <Paragraphs>47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Проектное решение систем пожарной и охранной сигнализации здания общественного назначения  (г. Барановичи)</vt:lpstr>
      <vt:lpstr>Цель дипломного проекта</vt:lpstr>
      <vt:lpstr>Актуальность дипломного проекта</vt:lpstr>
      <vt:lpstr>Принцип работы системы</vt:lpstr>
      <vt:lpstr>Презентация PowerPoint</vt:lpstr>
      <vt:lpstr>Презентация PowerPoint</vt:lpstr>
      <vt:lpstr>Презентация PowerPoint</vt:lpstr>
      <vt:lpstr>Структура системы пожарной сигнализации</vt:lpstr>
      <vt:lpstr>Презентация PowerPoint</vt:lpstr>
      <vt:lpstr>Презентация PowerPoint</vt:lpstr>
      <vt:lpstr>Структура системы охранной сигнализации</vt:lpstr>
      <vt:lpstr>Презентация PowerPoint</vt:lpstr>
      <vt:lpstr>Презентация PowerPoint</vt:lpstr>
      <vt:lpstr>Оборудование системы пожарной сигнализации</vt:lpstr>
      <vt:lpstr>Оборудование системы охранной сигнализации</vt:lpstr>
      <vt:lpstr>Расчет емкости аккумуляторной батареи для системы пожарной сигнализации</vt:lpstr>
      <vt:lpstr>Расчет емкости аккумуляторной батареи для системы охранной сигнализации</vt:lpstr>
      <vt:lpstr>Источник резервного питания системы пожарной сигнализации</vt:lpstr>
      <vt:lpstr>Источник резервного питания системы охранной сигнализации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Проектное решение систем пожарной и охранной сигнализации общественного</dc:title>
  <dc:creator>Кашульский Данила Алексеевич</dc:creator>
  <cp:lastModifiedBy>Кашульский Данила Алексеевич</cp:lastModifiedBy>
  <cp:revision>19</cp:revision>
  <dcterms:created xsi:type="dcterms:W3CDTF">2025-06-17T19:04:07Z</dcterms:created>
  <dcterms:modified xsi:type="dcterms:W3CDTF">2025-06-17T22:13:05Z</dcterms:modified>
</cp:coreProperties>
</file>